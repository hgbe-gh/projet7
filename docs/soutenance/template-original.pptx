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89d0789564e34" /><Relationship Type="http://schemas.openxmlformats.org/officeDocument/2006/relationships/extended-properties" Target="/docProps/app.xml" Id="Rb8884f12dff74c01" /><Relationship Type="http://schemas.openxmlformats.org/officeDocument/2006/relationships/officeDocument" Target="/ppt/presentation.xml" Id="Rfa63ec0ee0b8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8aa1cd4554700"/>
  </p:sldMasterIdLst>
  <p:notesMasterIdLst>
    <p:notesMasterId xmlns:r="http://schemas.openxmlformats.org/officeDocument/2006/relationships" r:id="R59cce3e572b841a8"/>
  </p:notesMasterIdLst>
  <p:sldIdLst>
    <p:sldId xmlns:r="http://schemas.openxmlformats.org/officeDocument/2006/relationships" id="256" r:id="Re5fa92205d264e71"/>
    <p:sldId xmlns:r="http://schemas.openxmlformats.org/officeDocument/2006/relationships" id="257" r:id="R66eb26869bdd4645"/>
    <p:sldId xmlns:r="http://schemas.openxmlformats.org/officeDocument/2006/relationships" id="258" r:id="R928df20b26e040ea"/>
    <p:sldId xmlns:r="http://schemas.openxmlformats.org/officeDocument/2006/relationships" id="259" r:id="R5690949696d547c8"/>
    <p:sldId xmlns:r="http://schemas.openxmlformats.org/officeDocument/2006/relationships" id="260" r:id="Rc54beb7c8fdb421f"/>
    <p:sldId xmlns:r="http://schemas.openxmlformats.org/officeDocument/2006/relationships" id="261" r:id="R41aee7bf2ff74463"/>
    <p:sldId xmlns:r="http://schemas.openxmlformats.org/officeDocument/2006/relationships" id="262" r:id="R36ddfbaae8714f6a"/>
    <p:sldId xmlns:r="http://schemas.openxmlformats.org/officeDocument/2006/relationships" id="263" r:id="R942d3b425cbf4216"/>
    <p:sldId xmlns:r="http://schemas.openxmlformats.org/officeDocument/2006/relationships" id="264" r:id="Rf64e3be2e0604c09"/>
    <p:sldId xmlns:r="http://schemas.openxmlformats.org/officeDocument/2006/relationships" id="265" r:id="Rd14b6d38c7524333"/>
    <p:sldId xmlns:r="http://schemas.openxmlformats.org/officeDocument/2006/relationships" id="266" r:id="R90a47959bbcf4fc7"/>
    <p:sldId xmlns:r="http://schemas.openxmlformats.org/officeDocument/2006/relationships" id="267" r:id="R4e9613a3d2ca46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d4811868d42ef" /><Relationship Type="http://schemas.openxmlformats.org/officeDocument/2006/relationships/slideMaster" Target="/ppt/slideMasters/slideMaster1.xml" Id="R9d28aa1cd4554700" /><Relationship Type="http://schemas.openxmlformats.org/officeDocument/2006/relationships/notesMaster" Target="/ppt/notesMasters/notesMaster1.xml" Id="R59cce3e572b841a8" /><Relationship Type="http://schemas.openxmlformats.org/officeDocument/2006/relationships/presProps" Target="/ppt/presProps.xml" Id="R0adc7a1799bb4b36" /><Relationship Type="http://schemas.openxmlformats.org/officeDocument/2006/relationships/tableStyles" Target="/ppt/tableStyles.xml" Id="Rffcd022681df45e6" /><Relationship Type="http://schemas.openxmlformats.org/officeDocument/2006/relationships/slide" Target="/ppt/slides/slide1.xml" Id="Re5fa92205d264e71" /><Relationship Type="http://schemas.openxmlformats.org/officeDocument/2006/relationships/slide" Target="/ppt/slides/slide2.xml" Id="R66eb26869bdd4645" /><Relationship Type="http://schemas.openxmlformats.org/officeDocument/2006/relationships/slide" Target="/ppt/slides/slide3.xml" Id="R928df20b26e040ea" /><Relationship Type="http://schemas.openxmlformats.org/officeDocument/2006/relationships/slide" Target="/ppt/slides/slide4.xml" Id="R5690949696d547c8" /><Relationship Type="http://schemas.openxmlformats.org/officeDocument/2006/relationships/slide" Target="/ppt/slides/slide5.xml" Id="Rc54beb7c8fdb421f" /><Relationship Type="http://schemas.openxmlformats.org/officeDocument/2006/relationships/slide" Target="/ppt/slides/slide6.xml" Id="R41aee7bf2ff74463" /><Relationship Type="http://schemas.openxmlformats.org/officeDocument/2006/relationships/slide" Target="/ppt/slides/slide7.xml" Id="R36ddfbaae8714f6a" /><Relationship Type="http://schemas.openxmlformats.org/officeDocument/2006/relationships/slide" Target="/ppt/slides/slide8.xml" Id="R942d3b425cbf4216" /><Relationship Type="http://schemas.openxmlformats.org/officeDocument/2006/relationships/slide" Target="/ppt/slides/slide9.xml" Id="Rf64e3be2e0604c09" /><Relationship Type="http://schemas.openxmlformats.org/officeDocument/2006/relationships/slide" Target="/ppt/slides/slide10.xml" Id="Rd14b6d38c7524333" /><Relationship Type="http://schemas.openxmlformats.org/officeDocument/2006/relationships/slide" Target="/ppt/slides/slide11.xml" Id="R90a47959bbcf4fc7" /><Relationship Type="http://schemas.openxmlformats.org/officeDocument/2006/relationships/slide" Target="/ppt/slides/slide12.xml" Id="R4e9613a3d2ca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200dd7e2f7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a22b0090a42af" /><Relationship Type="http://schemas.openxmlformats.org/officeDocument/2006/relationships/notesMaster" Target="/ppt/notesMasters/notesMaster1.xml" Id="Rac2953c34e8c45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edb8e45fcc49a2" /><Relationship Type="http://schemas.openxmlformats.org/officeDocument/2006/relationships/notesMaster" Target="/ppt/notesMasters/notesMaster1.xml" Id="Re415573a4507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a1e75160dc404b" /><Relationship Type="http://schemas.openxmlformats.org/officeDocument/2006/relationships/notesMaster" Target="/ppt/notesMasters/notesMaster1.xml" Id="Rb0df58c9eb404d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9d42b6dc84ea2" /><Relationship Type="http://schemas.openxmlformats.org/officeDocument/2006/relationships/notesMaster" Target="/ppt/notesMasters/notesMaster1.xml" Id="R3bb6b42cc6e9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c0d882b6b49b2" /><Relationship Type="http://schemas.openxmlformats.org/officeDocument/2006/relationships/notesMaster" Target="/ppt/notesMasters/notesMaster1.xml" Id="Rec0822339558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1dcc00c15f449f" /><Relationship Type="http://schemas.openxmlformats.org/officeDocument/2006/relationships/notesMaster" Target="/ppt/notesMasters/notesMaster1.xml" Id="R12c4e57ebc9d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94eca962b54404" /><Relationship Type="http://schemas.openxmlformats.org/officeDocument/2006/relationships/notesMaster" Target="/ppt/notesMasters/notesMaster1.xml" Id="Rac363e625a7547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6da4a00cb043b4" /><Relationship Type="http://schemas.openxmlformats.org/officeDocument/2006/relationships/notesMaster" Target="/ppt/notesMasters/notesMaster1.xml" Id="Rf7603fb6c34248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6e2566180a4e20" /><Relationship Type="http://schemas.openxmlformats.org/officeDocument/2006/relationships/notesMaster" Target="/ppt/notesMasters/notesMaster1.xml" Id="Rc4b28e4e126645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570ccd0f4b4399" /><Relationship Type="http://schemas.openxmlformats.org/officeDocument/2006/relationships/notesMaster" Target="/ppt/notesMasters/notesMaster1.xml" Id="R6adbbfbc466a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513d883ad443ac" /><Relationship Type="http://schemas.openxmlformats.org/officeDocument/2006/relationships/notesMaster" Target="/ppt/notesMasters/notesMaster1.xml" Id="R8e77ae9ef38e43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be156ad81d49e2" /><Relationship Type="http://schemas.openxmlformats.org/officeDocument/2006/relationships/notesMaster" Target="/ppt/notesMasters/notesMaster1.xml" Id="R933e659852ad47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50 secondes.</a:t>
            </a:r>
          </a:p>
          <a:p xmlns:a="http://schemas.openxmlformats.org/drawingml/2006/main">
            <a:r>
              <a:t>Bonjour Jérémy. Mon objectif est de démontrer qu’un assistant peut recommander des événements réels sans en inventer.</a:t>
            </a:r>
          </a:p>
          <a:p xmlns:a="http://schemas.openxmlformats.org/drawingml/2006/main">
            <a:r>
              <a:t>Le POC part de 7 586 événements, les transforme en 14 903 passages FAISS, puis les expose dans une API Docker testée 59 fois.</a:t>
            </a:r>
          </a:p>
          <a:p xmlns:a="http://schemas.openxmlformats.org/drawingml/2006/main">
            <a:r>
              <a:t>La décision attendue est un pilote mesuré, pas une production immédiate.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60 secondes.</a:t>
            </a:r>
          </a:p>
          <a:p xmlns:a="http://schemas.openxmlformats.org/drawingml/2006/main">
            <a:r>
              <a:t>Une recherche par mots-clés est rigide, tandis qu’un LLM seul peut inventer.</a:t>
            </a:r>
          </a:p>
          <a:p xmlns:a="http://schemas.openxmlformats.org/drawingml/2006/main">
            <a:r>
              <a:t>Le RAG recherche d’abord dans les événements réels puis Mistral reformule uniquement ce que les sources fournissent.</a:t>
            </a:r>
          </a:p>
          <a:p xmlns:a="http://schemas.openxmlformats.org/drawingml/2006/main">
            <a:r>
              <a:t>Les liens retournés rendent la recommandation vérifiable.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70 secondes.</a:t>
            </a:r>
          </a:p>
          <a:p xmlns:a="http://schemas.openxmlformats.org/drawingml/2006/main">
            <a:r>
              <a:t>OpenAgenda est riche mais hétérogène : HTML, valeurs absentes, dates variées et doublons.</a:t>
            </a:r>
          </a:p>
          <a:p xmlns:a="http://schemas.openxmlformats.org/drawingml/2006/main">
            <a:r>
              <a:t>Je filtre Paris et les événements récents, nettoie les textes, normalise les champs et déduplique par event_uid.</a:t>
            </a:r>
          </a:p>
          <a:p xmlns:a="http://schemas.openxmlformats.org/drawingml/2006/main">
            <a:r>
              <a:t>Le parquet obtenu est un snapshot reproductible, et la conservation des métadonnées garantit la traçabilité.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70 secondes.</a:t>
            </a:r>
          </a:p>
          <a:p xmlns:a="http://schemas.openxmlformats.org/drawingml/2006/main">
            <a:r>
              <a:t>CHIMERE a une description de 10 273 caractères : elle est trop longue pour une recherche précise.</a:t>
            </a:r>
          </a:p>
          <a:p xmlns:a="http://schemas.openxmlformats.org/drawingml/2006/main">
            <a:r>
              <a:t>Je la découpe en chunks de 1 000 caractères avec 200 de chevauchement, puis mistral-embed produit des vecteurs de 1 024 dimensions.</a:t>
            </a:r>
          </a:p>
          <a:p xmlns:a="http://schemas.openxmlformats.org/drawingml/2006/main">
            <a:r>
              <a:t>FAISS stocke 14 903 passages avec date, lieu et URL pour retrouver le bon contexte.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65 secondes.</a:t>
            </a:r>
          </a:p>
          <a:p xmlns:a="http://schemas.openxmlformats.org/drawingml/2006/main">
            <a:r>
              <a:t>La question est vectorisée et FAISS retourne les quatre passages les plus proches.</a:t>
            </a:r>
          </a:p>
          <a:p xmlns:a="http://schemas.openxmlformats.org/drawingml/2006/main">
            <a:r>
              <a:t>Le prompt contient la question, le contexte et une règle centrale : répondre uniquement avec les sources, sans invention.</a:t>
            </a:r>
          </a:p>
          <a:p xmlns:a="http://schemas.openxmlformats.org/drawingml/2006/main">
            <a:r>
              <a:t>mistral-embed sert à la recherche ; mistral-small-latest sert à la génération. La température à 0,1 stabilise le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55 secondes.</a:t>
            </a:r>
          </a:p>
          <a:p xmlns:a="http://schemas.openxmlformats.org/drawingml/2006/main">
            <a:r>
              <a:t>La collecte, le nettoyage et l’indexation sont réalisés hors ligne et peuvent être reconstruits par scripts.</a:t>
            </a:r>
          </a:p>
          <a:p xmlns:a="http://schemas.openxmlformats.org/drawingml/2006/main">
            <a:r>
              <a:t>En ligne, l’API charge l’index persistant, retrouve le contexte, construit le prompt et génère une réponse.</a:t>
            </a:r>
          </a:p>
          <a:p xmlns:a="http://schemas.openxmlformats.org/drawingml/2006/main">
            <a:r>
              <a:t>Cette séparation rend chaque brique testable et évite de reconstruire FAISS à chaque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50 secondes.</a:t>
            </a:r>
          </a:p>
          <a:p xmlns:a="http://schemas.openxmlformats.org/drawingml/2006/main">
            <a:r>
              <a:t>FastAPI fournit le contrat de service : health vérifie que l’index est prêt, ask reçoit une question et retourne la réponse avec ses sources.</a:t>
            </a:r>
          </a:p>
          <a:p xmlns:a="http://schemas.openxmlformats.org/drawingml/2006/main">
            <a:r>
              <a:t>Docker Compose rend ce runtime local reproductible. La documentation Swagger visible ici est une vraie capture de l’API locale.</a:t>
            </a:r>
          </a:p>
          <a:p xmlns:a="http://schemas.openxmlformats.org/drawingml/2006/main">
            <a:r>
              <a:t>Je passe maintenant à la démonstration de deux comportements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25 secondes sur la slide, puis 2 minutes au terminal.</a:t>
            </a:r>
          </a:p>
          <a:p xmlns:a="http://schemas.openxmlformats.org/drawingml/2006/main">
            <a:r>
              <a:t>Je vérifie d’abord health, puis Concert Fishers à Paris : réponse, date, lieu, URL et quatre sources.</a:t>
            </a:r>
          </a:p>
          <a:p xmlns:a="http://schemas.openxmlformats.org/drawingml/2006/main">
            <a:r>
              <a:t>Ensuite je demande des expositions à Lyon. Comme le corpus couvre Paris, le comportement attendu est prudent : aucune invention.</a:t>
            </a:r>
          </a:p>
          <a:p xmlns:a="http://schemas.openxmlformats.org/drawingml/2006/main">
            <a:r>
              <a:t>Commande : bash scripts/demo_api_5min.sh.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75 secondes.</a:t>
            </a:r>
          </a:p>
          <a:p xmlns:a="http://schemas.openxmlformats.org/drawingml/2006/main">
            <a:r>
              <a:t>Les 59 tests détectent les régressions techniques : ingestion, normalisation, index, RAG, API et évaluation.</a:t>
            </a:r>
          </a:p>
          <a:p xmlns:a="http://schemas.openxmlformats.org/drawingml/2006/main">
            <a:r>
              <a:t>Ils ne remplacent pas l’évaluation de qualité : ils vérifient que le contrat reste intact après un changement.</a:t>
            </a:r>
          </a:p>
          <a:p xmlns:a="http://schemas.openxmlformats.org/drawingml/2006/main">
            <a:r>
              <a:t>La CI/CD est une recommandation explicite : elle n’est pas livrée dans ce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80 secondes.</a:t>
            </a:r>
          </a:p>
          <a:p xmlns:a="http://schemas.openxmlformats.org/drawingml/2006/main">
            <a:r>
              <a:t>RAGAS compare question, contextes, réponse générée et réponse de référence. Il distingue retrieval et génération.</a:t>
            </a:r>
          </a:p>
          <a:p xmlns:a="http://schemas.openxmlformats.org/drawingml/2006/main">
            <a:r>
              <a:t>La fidélité, la pertinence et la précision du contexte sont prometteuses sur trois cas.</a:t>
            </a:r>
          </a:p>
          <a:p xmlns:a="http://schemas.openxmlformats.org/drawingml/2006/main">
            <a:r>
              <a:t>La correction à 0,683 est la priorité : je dois structurer la réponse et élargir le benchmark, pas changer de modèle à l’aveugle.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60 secondes.</a:t>
            </a:r>
          </a:p>
          <a:p xmlns:a="http://schemas.openxmlformats.org/drawingml/2006/main">
            <a:r>
              <a:t>Je présente les limites par familles et toujours avec leur action corrective.</a:t>
            </a:r>
          </a:p>
          <a:p xmlns:a="http://schemas.openxmlformats.org/drawingml/2006/main">
            <a:r>
              <a:t>Le risque métier principal est une réponse plausible mais incomplète : les sources, la prudence du prompt et un futur seuil métier réduisent ce risque.</a:t>
            </a:r>
          </a:p>
          <a:p xmlns:a="http://schemas.openxmlformats.org/drawingml/2006/main">
            <a:r>
              <a:t>Docker prouve la reproductibilité locale, pas l’industrialisation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55 secondes, puis 40 secondes pour rapport et dépôt.</a:t>
            </a:r>
          </a:p>
          <a:p xmlns:a="http://schemas.openxmlformats.org/drawingml/2006/main">
            <a:r>
              <a:t>Le POC couvre les données, l’index FAISS, Mistral, l’API Docker, les tests et la première évaluation RAGAS.</a:t>
            </a:r>
          </a:p>
          <a:p xmlns:a="http://schemas.openxmlformats.org/drawingml/2006/main">
            <a:r>
              <a:t>Je recommande un pilote multi-villes mesuré, avec plus de données et de cas annotés avant toute industrialisation large.</a:t>
            </a:r>
          </a:p>
          <a:p xmlns:a="http://schemas.openxmlformats.org/drawingml/2006/main">
            <a:r>
              <a:t>Merci. Je suis prêt à répondre aux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8ca175a07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efb17ffce442b" /><Relationship Type="http://schemas.openxmlformats.org/officeDocument/2006/relationships/slideLayout" Target="/ppt/slideLayouts/slideLayout1.xml" Id="R4b2a58f99e3d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a58f99e3d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ee9010b7443f3" /><Relationship Type="http://schemas.openxmlformats.org/officeDocument/2006/relationships/notesSlide" Target="/ppt/notesSlides/notesSlide1.xml" Id="R8fae28e11724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5e6e596d14c2b" /><Relationship Type="http://schemas.openxmlformats.org/officeDocument/2006/relationships/notesSlide" Target="/ppt/notesSlides/notesSlide2.xml" Id="R72bc6532e2e0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763bbdb67471e" /><Relationship Type="http://schemas.openxmlformats.org/officeDocument/2006/relationships/notesSlide" Target="/ppt/notesSlides/notesSlide3.xml" Id="Rffc8be1629544f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1865d86eb410f" /><Relationship Type="http://schemas.openxmlformats.org/officeDocument/2006/relationships/notesSlide" Target="/ppt/notesSlides/notesSlide4.xml" Id="Rc3677a05db4040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01104c25b49bd" /><Relationship Type="http://schemas.openxmlformats.org/officeDocument/2006/relationships/image" Target="/ppt/media/image.png" Id="R8a4f7ad15dce4b78" /><Relationship Type="http://schemas.openxmlformats.org/officeDocument/2006/relationships/hyperlink" Target="https://hgbe-gh-openclassrooms-projet5.hf.space/docs" TargetMode="External" Id="Re7c3e85aead7478d" /><Relationship Type="http://schemas.openxmlformats.org/officeDocument/2006/relationships/hyperlink" Target="https://hgbe-gh-openclassrooms-projet5.hf.space/health" TargetMode="External" Id="R9a98781d82164731" /><Relationship Type="http://schemas.openxmlformats.org/officeDocument/2006/relationships/notesSlide" Target="/ppt/notesSlides/notesSlide5.xml" Id="Rf411d361ae9144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704e9c41b4b7c" /><Relationship Type="http://schemas.openxmlformats.org/officeDocument/2006/relationships/notesSlide" Target="/ppt/notesSlides/notesSlide6.xml" Id="R04cd0832dd1e4b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13cdd18ca43d2" /><Relationship Type="http://schemas.openxmlformats.org/officeDocument/2006/relationships/image" Target="/ppt/media/image.png" Id="Rb2bf81d97d554e36" /><Relationship Type="http://schemas.openxmlformats.org/officeDocument/2006/relationships/hyperlink" Target="https://hgbe-gh-openclassrooms-projet5.hf.space/docs" TargetMode="External" Id="R9164e0d304a645e8" /><Relationship Type="http://schemas.openxmlformats.org/officeDocument/2006/relationships/hyperlink" Target="https://hgbe-gh-openclassrooms-projet5.hf.space/health" TargetMode="External" Id="Rc50b38bdfe9c4b81" /><Relationship Type="http://schemas.openxmlformats.org/officeDocument/2006/relationships/notesSlide" Target="/ppt/notesSlides/notesSlide7.xml" Id="R36cf2a0a2bbb48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abe45276c463d" /><Relationship Type="http://schemas.openxmlformats.org/officeDocument/2006/relationships/hyperlink" Target="https://hgbe-gh-openclassrooms-projet5.hf.space/docs" TargetMode="External" Id="R4cd1dc434d974f03" /><Relationship Type="http://schemas.openxmlformats.org/officeDocument/2006/relationships/hyperlink" Target="https://hgbe-gh-openclassrooms-projet5.hf.space/health" TargetMode="External" Id="Rd882f9aaefc24a5f" /><Relationship Type="http://schemas.openxmlformats.org/officeDocument/2006/relationships/hyperlink" Target="https://github.com/hgbe-GH/openclassrooms-projet5/actions/runs/30814421390" TargetMode="External" Id="R92baa6082739419f" /><Relationship Type="http://schemas.openxmlformats.org/officeDocument/2006/relationships/hyperlink" Target="https://github.com/hgbe-GH/openclassrooms-projet5" TargetMode="External" Id="R42a1db2c723e4e28" /><Relationship Type="http://schemas.openxmlformats.org/officeDocument/2006/relationships/notesSlide" Target="/ppt/notesSlides/notesSlide8.xml" Id="Rfe3aa738d8e149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70adc019487e" /><Relationship Type="http://schemas.openxmlformats.org/officeDocument/2006/relationships/notesSlide" Target="/ppt/notesSlides/notesSlide9.xml" Id="Rcd76644f73a845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860a336f441c" /><Relationship Type="http://schemas.openxmlformats.org/officeDocument/2006/relationships/notesSlide" Target="/ppt/notesSlides/notesSlide10.xml" Id="R91be7a4fe74d4e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2c08b29e146bb" /><Relationship Type="http://schemas.openxmlformats.org/officeDocument/2006/relationships/notesSlide" Target="/ppt/notesSlides/notesSlide11.xml" Id="R3f4650299f8545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ebd76aa9a41dd" /><Relationship Type="http://schemas.openxmlformats.org/officeDocument/2006/relationships/notesSlide" Target="/ppt/notesSlides/notesSlide12.xml" Id="R7eb00a61f5d543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42339-7B07-4DCF-B587-ED5D929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B1A11-27B1-4544-82FF-4A9E525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9552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DBD28-CDDD-4793-893D-6F7F4539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666750"/>
            <a:ext cx="44748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CF5E5-FBBF-45A8-9EB5-3124092C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666750"/>
            <a:ext cx="4143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05292-04E4-4A8B-862A-FB88FFF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MISSION PULS-EVENTS  •  PROJET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5EB4D-9038-48CE-B32E-C32FDAE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4198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Un assistant RAG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pour recommander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sans inventer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9524-CAED-444B-B497-42C42D5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OpenAgenda · FAISS · Mistral · FastAPI ·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A1E5E-573F-4C03-BD1F-77DB499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924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POC DÉMONTRABLE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271D8-5509-42C2-B3FA-9BC7846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Hugo Gaube  •  Data Scientist freelance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FF538-5767-49B3-9978-19A899F1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Soutenance — reprise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79AB3-EB64-4F47-ADC0-4F3BF4C3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295650" cy="45148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07DE1-C884-44D2-A5D9-964D34E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90675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DONNÉES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4F7F3-FE23-4675-B0AB-2307DE4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0E6CF-C58E-4184-893C-5D5367C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83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7 586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ADAB1-1D80-4DDC-99DA-CD20270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86100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6C1E3-F398-4F6A-AF03-E17B3B2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2098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67059-CCBF-4080-93CC-E64210D6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147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PASSAGES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E0378-697F-4BF2-A759-F2F1851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14 903 · FAISS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C0CAD-F90C-4D96-BF80-183F7DB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B2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29E40-5CA6-4F9B-9E95-EDAA5B4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API + 59 TESTS</a:t>
            </a:r>
          </a:p>
        </p:txBody>
      </p:sp>
    </p:spTree>
    <p:extLst>
      <p:ext uri="{BB962C8B-B14F-4D97-AF65-F5344CB8AC3E}">
        <p14:creationId xmlns:p14="http://schemas.microsoft.com/office/powerpoint/2010/main" val="1898747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FE70E-E595-4F3C-A9D2-F3D83691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C092F-2E19-452B-9ED9-19C017E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DC2FB-2FF7-4211-9899-2B3D19B6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3F7C-252D-4088-ACD4-68B2C82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LE BESOIN PULS-EVENTS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01E50-EC1B-45B1-A366-FC8F80C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Une question devient une recommandation sourcée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E024-F5A8-42E8-8E79-8556446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6644-1B1D-4886-9C36-16556E6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4292-1DA1-4296-BACC-CF2C4E2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49D5A-7192-44A9-9EBB-7EA22C5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1CD5-ECB9-4CF4-AC85-4CC03C0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« Que faire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ce week-end ? 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12A90-2ED5-490A-A5A5-71FDBEA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B9BD-43DA-4C2E-B425-036E4C4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BF44-03A7-4685-8734-B0CA011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898E-91E6-451A-9962-7D4576D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1DF00-D210-48F9-A024-AD5111D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Recherche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48A8E-5717-4AED-8A2C-A5ACA5E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FAISS trouve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les passages utiles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1FCB-6094-47D0-A024-E493C76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40A7E-AB55-4652-903A-9395CE0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616C2-0181-4F5D-A322-BFEB96C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A9C6E-48DF-4DBD-880C-DCA43CD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624F4-FE49-4F0D-9158-47E72EEC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Contexte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7CF10-34BA-4691-B76D-DEE6678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titre · date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lieu ·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9C5A4-E5D9-4F0E-9641-C4886A6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DDB49-9397-49F6-8DD8-A419D0F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05314-8623-4E9A-AB74-B6BF41F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A288F-25F6-4B25-9571-98D241A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36441-28D8-46F3-99BF-57612A5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Mistral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B777-8460-44C6-A9B7-699DF9E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répond à partir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des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C5E62-83EF-4B18-B21C-B65D0DD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A76AC-3BCF-4AD3-8C5A-93CDFEB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B2728-D41D-4F7F-867C-D92E0DD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A535F-D5B2-4B8E-8774-C3A4BBA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F4029-8314-4750-8B99-B54501A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Vérifier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7E3E9-E945-4263-8A82-9B9227B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liens retournés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à l’utilisateur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06123-EED1-45CF-B507-6C167CF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28A6E-7B26-469D-AF63-146253D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12FC89-9895-4649-83FE-C7F9886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Le RAG unit compréhension du langage et preuves consultables.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D5D45-3687-4757-87D7-EDF2FD7A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2431D-9C3E-411A-9FEB-480427A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3316DE-19A4-43DA-A8F8-508780E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411485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5A711-1D8F-4C6C-A1F7-2489FC3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E4BC1-3D1E-4C2C-AE44-D28351B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701FF-C2B3-4924-BD43-9DDB3A1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DD8AD-10D7-42EE-86C4-313B238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QUALITÉ DES 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539D5-4C50-4357-A176-82505B1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Le nettoyage transforme OpenAgenda en corpus exploitable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0E9C3-016B-4749-A61A-DC2CDE8E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C600C-C643-4AFB-B6CF-28A1CB2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1CFAC-DDFA-4348-B70E-6E03EBD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7A45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1">
                <a:solidFill>
                  <a:srgbClr val="FF7A45"/>
                </a:solidFill>
                <a:latin typeface="Noto Sans Mono"/>
                <a:ea typeface="Noto Sans Mono"/>
                <a:cs typeface="Noto Sans Mono"/>
              </a:rPr>
              <a:t>openagenda/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F187F-5B89-49BC-ACE4-8719D2A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3243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raw/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  events.json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8ED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350" b="0">
                <a:solidFill>
                  <a:srgbClr val="E8EDF7"/>
                </a:solidFill>
                <a:latin typeface="Noto Sans Mono"/>
                <a:ea typeface="Noto Sans Mono"/>
                <a:cs typeface="Noto Sans Mono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clean/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  html supprimé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  dates normalisées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  doublons retirés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8ED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350" b="0">
                <a:solidFill>
                  <a:srgbClr val="E8EDF7"/>
                </a:solidFill>
                <a:latin typeface="Noto Sans Mono"/>
                <a:ea typeface="Noto Sans Mono"/>
                <a:cs typeface="Noto Sans Mono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processed/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  events.parquet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D63A5-A81F-4AC9-997D-4C39B1F1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2400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1DC4A-53AD-4617-BC07-F7316EE4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BEED3-5789-4D3F-9197-50C2F4C5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Périmètre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4DE5E-AC51-4B9C-8511-054BA98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Paris · &lt; 1 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4CE9E-DD0F-4193-AD0D-7482D80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400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9F349-F94E-4D68-B83F-4DDF63A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9D8E6-1812-42CE-8CD9-196005E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Texte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EBD06-1975-4225-A481-178CFA9A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HTML + espaces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7C5D3-25D1-4EB6-A579-34C45CE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2400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3CA9E-A494-48A4-B0B7-76F58CE6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FC5AF-9507-49D4-BA00-F903CC38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Identité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81772-4BF6-46DD-A557-DCA259A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event_uid unique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71376-2F17-4BF7-9104-669E17FC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2400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1A8F2-FDF7-4EFF-B6D4-CA6D585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623A4-724B-43BA-9468-87B16B5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Résultat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E8788-820D-421D-A39F-506E49F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7 586 fiches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BCBCC-840C-4A76-830A-DC9F00D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006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EE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50E38-494F-4D30-B8D5-EFAE837F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PRINCIPE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16B4C-A5D2-476C-B0FD-571CE41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Je conserve titre, description, date, lieu et URL : chaque réponse peut revenir à sa source.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3EACA-2C31-4D5C-A908-31AC4938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203D4-0749-4688-9CA1-CF90AE6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5D176C-16B3-49F5-9E5D-2A286FB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505188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FE70E-E595-4F3C-A9D2-F3D83691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C092F-2E19-452B-9ED9-19C017E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DC2FB-2FF7-4211-9899-2B3D19B6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3F7C-252D-4088-ACD4-68B2C82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ZOOM CONCRET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01E50-EC1B-45B1-A366-FC8F80C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CHIMERE devient 14 903 passages recherchables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E024-F5A8-42E8-8E79-8556446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6644-1B1D-4886-9C36-16556E6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4292-1DA1-4296-BACC-CF2C4E2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49D5A-7192-44A9-9EBB-7EA22C5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CHIMERE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1CD5-ECB9-4CF4-AC85-4CC03C0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10 273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caractères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12A90-2ED5-490A-A5A5-71FDBEA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B9BD-43DA-4C2E-B425-036E4C4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BF44-03A7-4685-8734-B0CA011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898E-91E6-451A-9962-7D4576D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1DF00-D210-48F9-A024-AD5111D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Découper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48A8E-5717-4AED-8A2C-A5ACA5E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chunks de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1 000 caractères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1FCB-6094-47D0-A024-E493C76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40A7E-AB55-4652-903A-9395CE0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616C2-0181-4F5D-A322-BFEB96C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A9C6E-48DF-4DBD-880C-DCA43CD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624F4-FE49-4F0D-9158-47E72EEC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Conserver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7CF10-34BA-4691-B76D-DEE6678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200 caractères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de chevauchement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9C5A4-E5D9-4F0E-9641-C4886A6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DDB49-9397-49F6-8DD8-A419D0F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05314-8623-4E9A-AB74-B6BF41F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A288F-25F6-4B25-9571-98D241A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36441-28D8-46F3-99BF-57612A5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Vectoriser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B777-8460-44C6-A9B7-699DF9E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mistral-embed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1 024 dimensions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C5E62-83EF-4B18-B21C-B65D0DD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A76AC-3BCF-4AD3-8C5A-93CDFEB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B2728-D41D-4F7F-867C-D92E0DD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A535F-D5B2-4B8E-8774-C3A4BBA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F4029-8314-4750-8B99-B54501A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Retrouver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7E3E9-E945-4263-8A82-9B9227B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FAISS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+ métadonnées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06123-EED1-45CF-B507-6C167CF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28A6E-7B26-469D-AF63-146253D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12FC89-9895-4649-83FE-C7F9886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Le chevauchement protège les informations placées entre deux passages.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D5D45-3687-4757-87D7-EDF2FD7A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2431D-9C3E-411A-9FEB-480427A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3316DE-19A4-43DA-A8F8-508780E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411485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3A931-C19F-45B8-B8EF-8EF019F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F97DA-D80B-46DE-832C-7431631F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7D02D-FF39-4961-994C-C0BF436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5C0F-8A68-4438-A2DF-EACDBCB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CONTRÔLE DE LA RÉPONSE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5B4C7-4C0C-4974-A25C-2B1D261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Le prompt impose une réponse fondée sur les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64D0F-B6C9-4F18-8429-EEE903B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3913-DB2F-4AC9-95EC-1FBD4C4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0957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DD255-BE19-4AF6-9FF2-88D7546A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CONTRAT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4C2E9-2AC2-48AE-A002-E90EEA4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 réponse doit rester en français, utiliser le contexte retrouvé, ne pas inventer et dire « Je ne sais pas » lorsque le contexte manque.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DAC37-E344-4835-84F3-9C7319E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628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E3BB-23B4-4E75-A03F-266A9DD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43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mistral-embed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CCED0-EDCB-4598-B762-B468EE6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628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CONTEXTE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E4BA5-3AF5-4A19-829C-0E4C2029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00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top_k = 4 + métadonnées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92CEB-7C11-4902-B6CE-FD629129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628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GÉNÉRATION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090C2-08CA-4976-BBF6-543BE4E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57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mistral-small-latest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8A9C5-B90F-4EF3-A3DB-BB06EDD9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33575"/>
            <a:ext cx="6572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f7ad15dce4b78"/>
          <a:stretch xmlns:a="http://schemas.openxmlformats.org/drawingml/2006/main"/>
        </p:blipFill>
        <p:spPr>
          <a:xfrm xmlns:a="http://schemas.openxmlformats.org/drawingml/2006/main">
            <a:off x="5560695" y="2085975"/>
            <a:ext cx="5471160" cy="3419475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CC4DD-C8FD-41C5-B953-B780B8C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9525">
            <a:solidFill>
              <a:srgbClr val="6C4C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e7c3e85aead7478d"/>
              </a:rPr>
              <a:t>TEMPÉRATURE 0,1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34DAC-18D3-470A-93E8-36E0A1F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67400"/>
            <a:ext cx="2000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9a98781d82164731"/>
              </a:rPr>
              <a:t>SOURCES DISTINCTES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CE78E-8FE9-4E0A-866F-C725AE4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34075"/>
            <a:ext cx="626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L’embedding retrouve ; le modèle de chat reformule. Les rôles sont séparés pour pouvoir les évaluer.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DD707-B146-44A8-BA8C-61218DF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B7550-1B4B-421B-900C-8732FF4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8B756-AC23-4573-84A6-9E316DE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784639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FE70E-E595-4F3C-A9D2-F3D83691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C092F-2E19-452B-9ED9-19C017E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DC2FB-2FF7-4211-9899-2B3D19B6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3F7C-252D-4088-ACD4-68B2C82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01E50-EC1B-45B1-A366-FC8F80C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La chaîne RAG sépare préparation et réponse en ligne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E024-F5A8-42E8-8E79-8556446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6644-1B1D-4886-9C36-16556E6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4292-1DA1-4296-BACC-CF2C4E2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49D5A-7192-44A9-9EBB-7EA22C5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Collecter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1CD5-ECB9-4CF4-AC85-4CC03C0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OpenAgenda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12A90-2ED5-490A-A5A5-71FDBEA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B9BD-43DA-4C2E-B425-036E4C4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BF44-03A7-4685-8734-B0CA011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898E-91E6-451A-9962-7D4576D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1DF00-D210-48F9-A024-AD5111D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Nettoyer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48A8E-5717-4AED-8A2C-A5ACA5E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normaliser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1FCB-6094-47D0-A024-E493C76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40A7E-AB55-4652-903A-9395CE0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616C2-0181-4F5D-A322-BFEB96C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A9C6E-48DF-4DBD-880C-DCA43CD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624F4-FE49-4F0D-9158-47E72EEC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Indexer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7CF10-34BA-4691-B76D-DEE6678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chunks + FAISS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9C5A4-E5D9-4F0E-9641-C4886A6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DDB49-9397-49F6-8DD8-A419D0F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05314-8623-4E9A-AB74-B6BF41F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A288F-25F6-4B25-9571-98D241A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36441-28D8-46F3-99BF-57612A5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Rechercher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B777-8460-44C6-A9B7-699DF9E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top_k =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C5E62-83EF-4B18-B21C-B65D0DD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A76AC-3BCF-4AD3-8C5A-93CDFEB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B2728-D41D-4F7F-867C-D92E0DD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962150" cy="297180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A535F-D5B2-4B8E-8774-C3A4BBA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F4029-8314-4750-8B99-B54501A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Répondre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7E3E9-E945-4263-8A82-9B9227B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Mistral + sources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06123-EED1-45CF-B507-6C167CF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28A6E-7B26-469D-AF63-146253D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57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12FC89-9895-4649-83FE-C7F9886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Hors ligne : données → index.  En ligne : question → réponse sourcée.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D5D45-3687-4757-87D7-EDF2FD7A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2431D-9C3E-411A-9FEB-480427A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3316DE-19A4-43DA-A8F8-508780E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411485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3A931-C19F-45B8-B8EF-8EF019F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F97DA-D80B-46DE-832C-7431631F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7D02D-FF39-4961-994C-C0BF436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5C0F-8A68-4438-A2DF-EACDBCB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API DÉPLOYÉE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5B4C7-4C0C-4974-A25C-2B1D261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FastAPI expose le RAG comme un service testable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64D0F-B6C9-4F18-8429-EEE903B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3913-DB2F-4AC9-95EC-1FBD4C4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0957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DD255-BE19-4AF6-9FF2-88D7546A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CONTRAT OPENAPI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4C2E9-2AC2-48AE-A002-E90EEA4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L’API est documentée dans Swagger. La capture à droite vient de l’instance locale réellement lancée.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DAC37-E344-4835-84F3-9C7319E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E3BB-23B4-4E75-A03F-266A9DD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43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/health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CCED0-EDCB-4598-B762-B468EE6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E4BA5-3AF5-4A19-829C-0E4C2029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00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/ask +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92CEB-7C11-4902-B6CE-FD629129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6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771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090C2-08CA-4976-BBF6-543BE4E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57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/rebuild protégé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8A9C5-B90F-4EF3-A3DB-BB06EDD9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33575"/>
            <a:ext cx="6572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f81d97d554e36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0695" y="2085975"/>
            <a:ext cx="5471160" cy="3419475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CC4DD-C8FD-41C5-B953-B780B8C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9525">
            <a:solidFill>
              <a:srgbClr val="6C4C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9164e0d304a645e8"/>
              </a:rPr>
              <a:t>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34DAC-18D3-470A-93E8-36E0A1F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67400"/>
            <a:ext cx="2000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c50b38bdfe9c4b81"/>
              </a:rPr>
              <a:t>SWAGGER /docs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CE78E-8FE9-4E0A-866F-C725AE4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34075"/>
            <a:ext cx="626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L’index est chargé au démarrage : l’usage courant ne relance ni l’ingestion ni l’indexation.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DD707-B146-44A8-BA8C-61218DF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B7550-1B4B-421B-900C-8732FF4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8B756-AC23-4573-84A6-9E316DE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784639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8A7CB-C6F1-4A65-B4C2-5704A6B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766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607E-5989-4F75-A88A-BD6A4DEF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56" y="438150"/>
            <a:ext cx="3806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1F135-B32B-4DFA-8CAE-C723112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8150"/>
            <a:ext cx="3524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C15CD-4148-4D23-9A64-7F327BA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DÉMONSTRATION CONTRÔLÉE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18BD5-DD95-46A2-B499-D83F217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 démo vérifie une valeur et une limite métier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622C5-A087-4D7C-942B-371FDEE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336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3A4A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EFF6D-7ACC-444E-AA1E-16C8A57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93623-E6D7-473B-A8CC-B13D1F7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91188-ED23-42DB-B8DA-860BF6EB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index chargé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service prêt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C697E-D433-4A44-B109-10A5B8D3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5336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3A4A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88A80-BA23-49CC-A337-0438655A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A1D0F-37A0-4B15-862F-0D673A4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PARIS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D5011-C6F5-4ADF-9784-6CA6F66F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Concert Fishers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+ 4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2ACB4-A017-4131-AA3D-F266149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5336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3A4A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4561-6B70-4685-8444-2B88E7B2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7DA6B-21FE-4564-B4B6-F01B0D72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LYON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D2F24-A262-4594-8F71-9A1A3D85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corpus Paris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« Je ne sais pas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C952E-73EF-4F5C-8A30-CFE15D59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5336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3A4A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AF2E3-0947-43BE-BB7B-7E79978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B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F70BC-CB57-483E-B045-FBD0DB92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8198A-C23E-4EC7-AA89-8238AEF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démo complète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≈ 3 secondes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D13D4-F881-4F90-BDBE-353AF21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00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9525">
            <a:solidFill>
              <a:srgbClr val="6C4C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4cd1dc434d974f03"/>
              </a:rPr>
              <a:t>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64FE0-7128-4A02-9E72-C59A5BA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4825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2435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d882f9aaefc24a5f"/>
              </a:rPr>
              <a:t>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752A1-F1F3-4A3C-880B-3504E3F1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2000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FB274"/>
          </a:solidFill>
          <a:ln xmlns:a="http://schemas.openxmlformats.org/drawingml/2006/main" w="9525">
            <a:solidFill>
              <a:srgbClr val="2FB2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92baa6082739419f"/>
              </a:rPr>
              <a:t>PRUDENCE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022C1-07CE-4EE1-962F-CC43D85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3558"/>
          </a:solidFill>
          <a:ln xmlns:a="http://schemas.openxmlformats.org/drawingml/2006/main" w="9525">
            <a:solidFill>
              <a:srgbClr val="2435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42a1db2c723e4e28"/>
              </a:rPr>
              <a:t>DOCKER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F6829-5041-44FA-B8A1-F50715A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48250"/>
            <a:ext cx="26479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FF0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4A2B0-7F5C-401A-9971-C36F7BD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Retour attendu → tests et évaluation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7BF56-1BE6-4E90-9A0D-4217CE04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Je montre volontairement un cas Paris sourcé et un cas Lyon hors périmètre : pas seulement un exemple favorable.</a:t>
            </a:r>
          </a:p>
        </p:txBody>
      </p:sp>
    </p:spTree>
    <p:extLst>
      <p:ext uri="{BB962C8B-B14F-4D97-AF65-F5344CB8AC3E}">
        <p14:creationId xmlns:p14="http://schemas.microsoft.com/office/powerpoint/2010/main" val="114150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FFF29-02D1-44DB-B15E-3C219737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D06A-63EF-4FBA-9F5E-F8831BDB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4B2B8-434C-493C-9F7A-C18E896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D973C-965A-4F43-9271-DB3D063C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STRATÉGIE DE QUALITÉ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85DE1-943E-4F5C-BCAF-995AC98E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59 tests protègent les comportements critiques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9C4B8-BF29-4540-BF40-F82765D9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98E8B-388B-4CB0-9A68-EBBF6F2E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477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CFA5F-2434-44F1-A050-8A45EFA1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2F78A-6FCC-4950-9E61-C75B6CD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14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pagination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nettoyage · filtres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9DC9F-9108-46A8-B56D-359C4115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1EBA1-B08F-43F8-8C6F-ED37B9A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6477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CF8F3-1951-4FF2-8234-7F746E0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E86F8-0B25-489A-A8B9-06F09F4B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81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chunks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FAISS · métadonnées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BD5F0-852F-4F3E-BF57-CFC896DD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8CF74-2375-40FE-AAF5-1E7068E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477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E5DCB-1BD9-4FC5-846A-48B15FB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274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B7B87-87D2-4E19-9F7E-51B91F9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48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health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ask · erreurs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30378-BC1D-410F-A821-DB41242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F6D8A-7023-442D-AF47-C8A8C201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477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3DD06-CDEB-4086-A627-D5BC3259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B0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ÉVALUATION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A0F9D-C269-493E-85EB-19D88B4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149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jeu annoté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RAGAS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6D60-B96A-4415-94C0-FCCCCAF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235D7-E697-4A6C-A839-FEF16F66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4095750" cy="328612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2024F-53A5-4504-BD85-D03C7A31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C7D63-D9B1-47B6-9766-7B443DD6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C1996-836C-4F8F-889C-6014D4D1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91025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EA3A5-C9B7-4F9F-B60D-DFF708C8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91025"/>
            <a:ext cx="28670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357B7-948C-4557-B089-4A21D30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0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34C"/>
                </a:solidFill>
                <a:latin typeface="Noto Sans Mono"/>
                <a:ea typeface="Noto Sans Mono"/>
                <a:cs typeface="Noto Sans Mono"/>
              </a:defRPr>
            </a:pPr>
            <a:r>
              <a:rPr sz="900" b="1">
                <a:solidFill>
                  <a:srgbClr val="17234C"/>
                </a:solidFill>
                <a:latin typeface="Noto Sans Mono"/>
                <a:ea typeface="Noto Sans Mono"/>
                <a:cs typeface="Noto Sans Mono"/>
              </a:rPr>
              <a:t>LIVRÉ · pytest passe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71EF3-E5E7-4EA9-B059-BD83188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EE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5B64F-F80E-44C5-A3DC-37E19A18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CI/CD proposée : à chaque push, tests → image Docker → healthcheck → rapport. Elle n’est pas implémentée dans le POC.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319EA-8E7A-4C5F-9990-9FC2A4C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EFEAD-D965-4881-924F-F1C9913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570D3-6C97-4F39-901A-3D58368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764077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34156-CD1C-4E7B-AECE-AF8BD01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F622F-53E9-417B-80CE-33E2A5E4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6663-505C-4C83-98C2-141B439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07B8A-99CB-4F46-8426-BDF991FE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ÉVALUATION RAGAS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251EB-1FC7-434F-BF54-D7C25C3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RAGAS me dit où améliorer la réponse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38E2A-3319-4DA1-A7B0-B942558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B6776-A6A7-4B1F-8472-2CDF495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038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42654-B2B3-4B68-B874-5EEAE128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877FA-6689-49E6-A80F-DEDF8A2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0,900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99D37-5156-49E1-8D61-D9BEDC6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fidélité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0ADF8-87A4-4882-9F0B-8E3F98B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2038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9C8CA-5ACD-4674-AEB6-AD95F07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9493C-55DE-45DE-B1F2-72CE25AC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0,846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C865D-1A1A-44AF-A053-9F58CB6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pertinence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37480-163C-46C5-8F15-2E0B6DB8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2038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2FC29-310A-458E-AD49-78F8A389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C560-A606-46A9-B4C8-D350A53B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1,000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ED187-9E1C-4C26-B72A-E385CAC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contexte utile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66719-B82B-4D91-8F32-CADED2E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5341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A4918-10A3-4B96-9D03-D3725FDB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Entrées RAGAS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6D46A-0AE8-48A8-801F-CE427DC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82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3 cas factuels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62708A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62708A"/>
                </a:solidFill>
                <a:latin typeface="Noto Sans"/>
                <a:ea typeface="Noto Sans"/>
                <a:cs typeface="Noto Sans"/>
              </a:rPr>
              <a:t/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question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+ contextes récupérés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+ réponse générée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+ référence humaine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009CC-3C57-4803-BA04-230471E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33BF82"/>
                </a:solidFill>
                <a:latin typeface="Montserrat"/>
                <a:ea typeface="Montserrat"/>
                <a:cs typeface="Montserrat"/>
              </a:rPr>
              <a:t>BON CONTEXTE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57C91-BAC9-4CD1-B41A-AA44C44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2038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RÉPONSE ANCRÉE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244EC-6D87-418A-BB7A-B0A67C3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97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3 CAS · SIGNAL INITIAL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77CE7-6C53-49BC-BCE2-33870E34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409575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207B0-4E43-45DA-9E6E-5E00596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PRIORITÉ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22B25-B695-492A-8F99-B8C82FD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38450"/>
            <a:ext cx="3371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0,683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3539F5-68E6-4CD5-81AD-11204456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correction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84A95-8AFC-48B9-A4E1-CB85AAA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310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F429C-DB31-414E-A435-59F4C9C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9C2F7-E679-484A-AAB6-8FBA01B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6720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3FA05-E596-4A5A-A09C-3C297782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9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975" b="1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→ structurer la réponse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975" b="1">
                <a:solidFill>
                  <a:srgbClr val="FFFFFF"/>
                </a:solidFill>
                <a:latin typeface="Noto Sans Mono"/>
                <a:ea typeface="Noto Sans Mono"/>
                <a:cs typeface="Noto Sans Mono"/>
              </a:rPr>
              <a:t>→ élargir le benchmark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576E6-F7A0-4AB2-ADA0-C18581A7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2800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PAS UNE PERFORMANCE GÉNÉRALE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30AAD-3B8E-468D-9B16-6B5CE652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149FC8-143A-49A2-983F-0E73B8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9C2D2-A68D-4518-9D05-B5964B9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016592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2AE98-6F84-44BC-AEF6-94F3361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21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C6DE8-E8BC-41D7-A298-6E964A6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16" y="438150"/>
            <a:ext cx="3291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BBB18-4384-4816-B575-F0F9952A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0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C2AE5-A915-4A74-97A2-97DBAFB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LIMITES ET SUITE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726A3-6712-4EE2-B19B-BE01B0B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Les limites sont connues, donc pilotables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CF83-5612-44E7-9CFC-7D48D92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AF4B9-1172-416D-8643-DAA81AC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52800" cy="337185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CDB16-CE54-47D0-82ED-49C4AA0A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DONNÉES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89801-853B-4488-AF31-8934786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Paris uniquement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snapshot figé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13440-1BD0-40DA-9B19-102209E3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DFFC3-7A6D-47AE-8060-64110A3A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PROCHAINE ÉTAPE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0AA9B-B5A8-429A-A4B4-02E7E27A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collecte planifiée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+ multi-villes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C1E56-F4A9-4C73-BB9B-38E0C89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3352800" cy="337185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887CF-6601-4072-9FFB-62C7D1D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RECHERCHE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148D3-37CD-4256-AF80-F0F944A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chunks et top_k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à calibrer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B9C4E-B2BE-47B2-8EE3-BE230A79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8A3EE-1B65-4600-99F2-9DB0CC74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PROCHAINE ÉTAPE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225BC-C8F3-4F5D-B2E5-6062133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910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benchmark large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+ seuil métier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41203-4F7F-4165-8A5E-62251B7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352800" cy="337185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D3045-8CD9-4482-83CD-2DDD7358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EXPLOITATION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B3343-7321-4699-9BD9-5AB2EA76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FAISS local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instance unique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7ED06-BDEB-4445-86CF-42B390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0ED5F-70E1-4D32-A55B-6EC3A4F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6847FF"/>
                </a:solidFill>
                <a:latin typeface="Montserrat"/>
                <a:ea typeface="Montserrat"/>
                <a:cs typeface="Montserrat"/>
              </a:rPr>
              <a:t>PROCHAINE ÉTAPE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040EC-FF7B-4491-B79F-BF2DD2E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910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logs · sécurité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charge · alertes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BA9EF-4277-4655-9CEC-1F57A89A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91200"/>
            <a:ext cx="7315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BCD00-E69F-4BF0-BC09-F66F5FE8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0550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Le POC prouve la faisabilité. Ces trois chantiers conditionnent un déploiement élargi.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7A1B1-CF9B-4774-8B4E-8F16314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C1770-29F0-4AE5-99A6-B89B6E0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PROJET 7  •  PULS-EVENTS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3508A-FAE1-42AC-A5C0-6E030DA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HUGO GAUBE</a:t>
            </a:r>
          </a:p>
        </p:txBody>
      </p:sp>
    </p:spTree>
    <p:extLst>
      <p:ext uri="{BB962C8B-B14F-4D97-AF65-F5344CB8AC3E}">
        <p14:creationId xmlns:p14="http://schemas.microsoft.com/office/powerpoint/2010/main" val="15605947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DC87F-1928-4F6A-B5B5-BE8A6903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0467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F9A6-071A-41A6-999D-9FFD9A2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72" y="457200"/>
            <a:ext cx="45262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8D588-EA10-4383-9934-656A466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77BBC-917C-4CF2-AD7D-4B130B3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CONCLUSION POUR JÉRÉMY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B0AD8-9AF5-4FCF-86FB-0BED45F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 POC est démontrable.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 suite est mesurée.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CE0D-3F1D-42E3-A7CE-1EE554C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D726C-406D-4511-BEF5-194C16CA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FDA2-9E12-4332-86B3-B26FE5E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Données réelles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CB68-B297-45D2-80AD-A9EB8FD8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806A-889E-42E6-83BE-4D6C474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93168-16EF-4D04-B261-74C60403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RAG +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74869-E621-42D7-B2E2-2E21226D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F40C-0632-4B92-8C00-3685254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66186-AEB9-4084-ABE6-0293084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59 tests + RAGAS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D8D1C-51E0-4BFC-B394-BCF8391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AD70D-F844-4759-8861-26EE2F7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609FE-59EE-4FA4-BEC8-1F6B43F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Docker + démo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7518F-66B7-4678-AFD3-61F61AD9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797DA-EECB-4634-9E64-9B87B7ED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862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33BF82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6DEC2-ECC2-49DC-920A-31D2808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Sources vérifiables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2A0E3-891C-4380-AFCA-4E33B8E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19200"/>
            <a:ext cx="3600450" cy="39433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07552-565D-441F-A762-0C0E2B5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7A45"/>
                </a:solidFill>
                <a:latin typeface="Montserrat"/>
                <a:ea typeface="Montserrat"/>
                <a:cs typeface="Montserrat"/>
              </a:rPr>
              <a:t>DÉCISION PROPOSÉE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6B615-A681-4FD7-9724-27379ABB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9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Valider un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950" b="1">
                <a:solidFill>
                  <a:srgbClr val="17234C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17234C"/>
                </a:solidFill>
                <a:latin typeface="Montserrat"/>
                <a:ea typeface="Montserrat"/>
                <a:cs typeface="Montserrat"/>
              </a:rPr>
              <a:t>pilote multi-villes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79DA3-32D3-4435-97D7-53CD565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1. élargir les données et le jeu annoté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2. ajouter des garde-fous métier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234C"/>
                </a:solidFill>
                <a:latin typeface="Noto Sans"/>
                <a:ea typeface="Noto Sans"/>
                <a:cs typeface="Noto Sans"/>
              </a:rPr>
              <a:t>3. industrialiser si la valeur est confirmée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4AFA4-1AB8-4EE2-AA7B-63F6443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05350"/>
            <a:ext cx="2114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QUESTIONS 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57C2E-AB27-4EBE-9B2F-CD33DCF6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Rapport, scripts et dépôt disponibles pour la discussion technique</a:t>
            </a:r>
          </a:p>
        </p:txBody>
      </p:sp>
    </p:spTree>
    <p:extLst>
      <p:ext uri="{BB962C8B-B14F-4D97-AF65-F5344CB8AC3E}">
        <p14:creationId xmlns:p14="http://schemas.microsoft.com/office/powerpoint/2010/main" val="940665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2026-10-01T08:00:22.5150000Z</dcterms:created>
  <dcterms:modified xsi:type="dcterms:W3CDTF">2026-10-01T08:00:22.5150000Z</dcterms:modified>
</coreProperties>
</file>