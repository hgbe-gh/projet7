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700124483024433" /><Relationship Type="http://schemas.openxmlformats.org/officeDocument/2006/relationships/extended-properties" Target="/docProps/app.xml" Id="R97d8b02b57f44b00" /><Relationship Type="http://schemas.openxmlformats.org/officeDocument/2006/relationships/officeDocument" Target="/ppt/presentation.xml" Id="R8ce4eb936ffe4d2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688ddbb532749f9"/>
  </p:sldMasterIdLst>
  <p:notesMasterIdLst>
    <p:notesMasterId xmlns:r="http://schemas.openxmlformats.org/officeDocument/2006/relationships" r:id="Rf6be637c86cb49b7"/>
  </p:notesMasterIdLst>
  <p:sldIdLst>
    <p:sldId xmlns:r="http://schemas.openxmlformats.org/officeDocument/2006/relationships" id="256" r:id="R4092ff671edb4fc5"/>
    <p:sldId xmlns:r="http://schemas.openxmlformats.org/officeDocument/2006/relationships" id="257" r:id="R3fc22591307a4a55"/>
    <p:sldId xmlns:r="http://schemas.openxmlformats.org/officeDocument/2006/relationships" id="258" r:id="Rb90b1f65a2d54eb6"/>
    <p:sldId xmlns:r="http://schemas.openxmlformats.org/officeDocument/2006/relationships" id="259" r:id="R4fa7950f34314645"/>
    <p:sldId xmlns:r="http://schemas.openxmlformats.org/officeDocument/2006/relationships" id="260" r:id="R5fdfd3428762487d"/>
    <p:sldId xmlns:r="http://schemas.openxmlformats.org/officeDocument/2006/relationships" id="261" r:id="R0efed5a1cc674674"/>
    <p:sldId xmlns:r="http://schemas.openxmlformats.org/officeDocument/2006/relationships" id="262" r:id="R68468d6a5ba34195"/>
    <p:sldId xmlns:r="http://schemas.openxmlformats.org/officeDocument/2006/relationships" id="263" r:id="R868cb1140b8343d2"/>
    <p:sldId xmlns:r="http://schemas.openxmlformats.org/officeDocument/2006/relationships" id="264" r:id="Rac87da97d3804ae9"/>
    <p:sldId xmlns:r="http://schemas.openxmlformats.org/officeDocument/2006/relationships" id="265" r:id="R60c29bfcb674465d"/>
    <p:sldId xmlns:r="http://schemas.openxmlformats.org/officeDocument/2006/relationships" id="266" r:id="R8ef310d7a21e4cbd"/>
    <p:sldId xmlns:r="http://schemas.openxmlformats.org/officeDocument/2006/relationships" id="267" r:id="R961f0348b8bf409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e66d9bb7fb141c4" /><Relationship Type="http://schemas.openxmlformats.org/officeDocument/2006/relationships/slideMaster" Target="/ppt/slideMasters/slideMaster1.xml" Id="Rd688ddbb532749f9" /><Relationship Type="http://schemas.openxmlformats.org/officeDocument/2006/relationships/notesMaster" Target="/ppt/notesMasters/notesMaster1.xml" Id="Rf6be637c86cb49b7" /><Relationship Type="http://schemas.openxmlformats.org/officeDocument/2006/relationships/presProps" Target="/ppt/presProps.xml" Id="R630a984b5abd433a" /><Relationship Type="http://schemas.openxmlformats.org/officeDocument/2006/relationships/tableStyles" Target="/ppt/tableStyles.xml" Id="Rb595f85d6c364e72" /><Relationship Type="http://schemas.openxmlformats.org/officeDocument/2006/relationships/slide" Target="/ppt/slides/slide1.xml" Id="R4092ff671edb4fc5" /><Relationship Type="http://schemas.openxmlformats.org/officeDocument/2006/relationships/slide" Target="/ppt/slides/slide2.xml" Id="R3fc22591307a4a55" /><Relationship Type="http://schemas.openxmlformats.org/officeDocument/2006/relationships/slide" Target="/ppt/slides/slide3.xml" Id="Rb90b1f65a2d54eb6" /><Relationship Type="http://schemas.openxmlformats.org/officeDocument/2006/relationships/slide" Target="/ppt/slides/slide4.xml" Id="R4fa7950f34314645" /><Relationship Type="http://schemas.openxmlformats.org/officeDocument/2006/relationships/slide" Target="/ppt/slides/slide5.xml" Id="R5fdfd3428762487d" /><Relationship Type="http://schemas.openxmlformats.org/officeDocument/2006/relationships/slide" Target="/ppt/slides/slide6.xml" Id="R0efed5a1cc674674" /><Relationship Type="http://schemas.openxmlformats.org/officeDocument/2006/relationships/slide" Target="/ppt/slides/slide7.xml" Id="R68468d6a5ba34195" /><Relationship Type="http://schemas.openxmlformats.org/officeDocument/2006/relationships/slide" Target="/ppt/slides/slide8.xml" Id="R868cb1140b8343d2" /><Relationship Type="http://schemas.openxmlformats.org/officeDocument/2006/relationships/slide" Target="/ppt/slides/slide9.xml" Id="Rac87da97d3804ae9" /><Relationship Type="http://schemas.openxmlformats.org/officeDocument/2006/relationships/slide" Target="/ppt/slides/slide10.xml" Id="R60c29bfcb674465d" /><Relationship Type="http://schemas.openxmlformats.org/officeDocument/2006/relationships/slide" Target="/ppt/slides/slide11.xml" Id="R8ef310d7a21e4cbd" /><Relationship Type="http://schemas.openxmlformats.org/officeDocument/2006/relationships/slide" Target="/ppt/slides/slide12.xml" Id="R961f0348b8bf409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d5a4136f35a480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a8e9a1a44f64c93" /><Relationship Type="http://schemas.openxmlformats.org/officeDocument/2006/relationships/notesMaster" Target="/ppt/notesMasters/notesMaster1.xml" Id="R069279e5291a484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a16575b13224e7e" /><Relationship Type="http://schemas.openxmlformats.org/officeDocument/2006/relationships/notesMaster" Target="/ppt/notesMasters/notesMaster1.xml" Id="R133d27351bc04c9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236743c0b2b4885" /><Relationship Type="http://schemas.openxmlformats.org/officeDocument/2006/relationships/notesMaster" Target="/ppt/notesMasters/notesMaster1.xml" Id="Rce92c7302b17418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973b55485754f41" /><Relationship Type="http://schemas.openxmlformats.org/officeDocument/2006/relationships/notesMaster" Target="/ppt/notesMasters/notesMaster1.xml" Id="R3f1d5ded6d724a5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f113b2a075d4601" /><Relationship Type="http://schemas.openxmlformats.org/officeDocument/2006/relationships/notesMaster" Target="/ppt/notesMasters/notesMaster1.xml" Id="Rb0f05923c29a44d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c2f5ee24d604ab6" /><Relationship Type="http://schemas.openxmlformats.org/officeDocument/2006/relationships/notesMaster" Target="/ppt/notesMasters/notesMaster1.xml" Id="R74565e86c0ca4ef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943febc474a407b" /><Relationship Type="http://schemas.openxmlformats.org/officeDocument/2006/relationships/notesMaster" Target="/ppt/notesMasters/notesMaster1.xml" Id="Rd7dd0c3c5cfe40c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ffb69204eab4247" /><Relationship Type="http://schemas.openxmlformats.org/officeDocument/2006/relationships/notesMaster" Target="/ppt/notesMasters/notesMaster1.xml" Id="Rda81c4a929054b0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5ce1ca61f78458e" /><Relationship Type="http://schemas.openxmlformats.org/officeDocument/2006/relationships/notesMaster" Target="/ppt/notesMasters/notesMaster1.xml" Id="R7092fc1f8ece44c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3ef1875a11047c7" /><Relationship Type="http://schemas.openxmlformats.org/officeDocument/2006/relationships/notesMaster" Target="/ppt/notesMasters/notesMaster1.xml" Id="Rbac9c253348847b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e32d8ffd49e4d3b" /><Relationship Type="http://schemas.openxmlformats.org/officeDocument/2006/relationships/notesMaster" Target="/ppt/notesMasters/notesMaster1.xml" Id="Rc241527aa6b347d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bc35ee8e347403d" /><Relationship Type="http://schemas.openxmlformats.org/officeDocument/2006/relationships/notesMaster" Target="/ppt/notesMasters/notesMaster1.xml" Id="Re22bf22b0e0944d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Durée cible : 50 secondes.</a:t>
            </a:r>
          </a:p>
          <a:p xmlns:a="http://schemas.openxmlformats.org/drawingml/2006/main">
            <a:r>
              <a:t>Bonjour Jérémy. Mon objectif est de démontrer qu’un assistant peut recommander des événements réels sans en inventer.</a:t>
            </a:r>
          </a:p>
          <a:p xmlns:a="http://schemas.openxmlformats.org/drawingml/2006/main">
            <a:r>
              <a:t>Le POC part de 7 586 événements, les transforme en 14 903 passages FAISS, puis les expose dans une API Docker testée 59 fois.</a:t>
            </a:r>
          </a:p>
          <a:p xmlns:a="http://schemas.openxmlformats.org/drawingml/2006/main">
            <a:r>
              <a:t>La décision attendue est un pilote mesuré, pas une production immédiate.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Durée cible : 60 secondes.</a:t>
            </a:r>
          </a:p>
          <a:p xmlns:a="http://schemas.openxmlformats.org/drawingml/2006/main">
            <a:r>
              <a:t>Une recherche par mots-clés est rigide, tandis qu’un LLM seul peut inventer.</a:t>
            </a:r>
          </a:p>
          <a:p xmlns:a="http://schemas.openxmlformats.org/drawingml/2006/main">
            <a:r>
              <a:t>Le RAG recherche d’abord dans les événements réels puis Mistral reformule uniquement ce que les sources fournissent.</a:t>
            </a:r>
          </a:p>
          <a:p xmlns:a="http://schemas.openxmlformats.org/drawingml/2006/main">
            <a:r>
              <a:t>Les liens retournés rendent la recommandation vérifiable.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Durée cible : 70 secondes.</a:t>
            </a:r>
          </a:p>
          <a:p xmlns:a="http://schemas.openxmlformats.org/drawingml/2006/main">
            <a:r>
              <a:t>OpenAgenda est riche mais hétérogène : HTML, valeurs absentes, dates variées et doublons.</a:t>
            </a:r>
          </a:p>
          <a:p xmlns:a="http://schemas.openxmlformats.org/drawingml/2006/main">
            <a:r>
              <a:t>Je filtre Paris et les événements récents, nettoie les textes, normalise les champs et déduplique par event_uid.</a:t>
            </a:r>
          </a:p>
          <a:p xmlns:a="http://schemas.openxmlformats.org/drawingml/2006/main">
            <a:r>
              <a:t>Le parquet obtenu est un snapshot reproductible, et la conservation des métadonnées garantit la traçabilité.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Durée cible : 70 secondes.</a:t>
            </a:r>
          </a:p>
          <a:p xmlns:a="http://schemas.openxmlformats.org/drawingml/2006/main">
            <a:r>
              <a:t>CHIMERE a une description de 10 273 caractères : elle est trop longue pour une recherche précise.</a:t>
            </a:r>
          </a:p>
          <a:p xmlns:a="http://schemas.openxmlformats.org/drawingml/2006/main">
            <a:r>
              <a:t>Je la découpe en chunks de 1 000 caractères avec 200 de chevauchement, puis mistral-embed produit des vecteurs de 1 024 dimensions.</a:t>
            </a:r>
          </a:p>
          <a:p xmlns:a="http://schemas.openxmlformats.org/drawingml/2006/main">
            <a:r>
              <a:t>FAISS stocke 14 903 passages avec date, lieu et URL pour retrouver le bon contexte.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Durée cible : 65 secondes.</a:t>
            </a:r>
          </a:p>
          <a:p xmlns:a="http://schemas.openxmlformats.org/drawingml/2006/main">
            <a:r>
              <a:t>La question est vectorisée et FAISS retourne les quatre passages les plus proches.</a:t>
            </a:r>
          </a:p>
          <a:p xmlns:a="http://schemas.openxmlformats.org/drawingml/2006/main">
            <a:r>
              <a:t>Le prompt contient la question, le contexte et une règle centrale : répondre uniquement avec les sources, sans invention.</a:t>
            </a:r>
          </a:p>
          <a:p xmlns:a="http://schemas.openxmlformats.org/drawingml/2006/main">
            <a:r>
              <a:t>mistral-embed sert à la recherche ; mistral-small-latest sert à la génération. La température à 0,1 stabilise le POC.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Durée cible : 55 secondes.</a:t>
            </a:r>
          </a:p>
          <a:p xmlns:a="http://schemas.openxmlformats.org/drawingml/2006/main">
            <a:r>
              <a:t>La collecte, le nettoyage et l’indexation sont réalisés hors ligne et peuvent être reconstruits par scripts.</a:t>
            </a:r>
          </a:p>
          <a:p xmlns:a="http://schemas.openxmlformats.org/drawingml/2006/main">
            <a:r>
              <a:t>En ligne, l’API charge l’index persistant, retrouve le contexte, construit le prompt et génère une réponse.</a:t>
            </a:r>
          </a:p>
          <a:p xmlns:a="http://schemas.openxmlformats.org/drawingml/2006/main">
            <a:r>
              <a:t>Cette séparation rend chaque brique testable et évite de reconstruire FAISS à chaque question.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Durée cible : 50 secondes.</a:t>
            </a:r>
          </a:p>
          <a:p xmlns:a="http://schemas.openxmlformats.org/drawingml/2006/main">
            <a:r>
              <a:t>FastAPI fournit le contrat de service : health vérifie que l’index est prêt, ask reçoit une question et retourne la réponse avec ses sources.</a:t>
            </a:r>
          </a:p>
          <a:p xmlns:a="http://schemas.openxmlformats.org/drawingml/2006/main">
            <a:r>
              <a:t>Docker Compose rend ce runtime local reproductible. La documentation Swagger visible ici est une vraie capture de l’API locale.</a:t>
            </a:r>
          </a:p>
          <a:p xmlns:a="http://schemas.openxmlformats.org/drawingml/2006/main">
            <a:r>
              <a:t>Je passe maintenant à la démonstration de deux comportements métier.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Durée cible : 25 secondes sur la slide, puis 2 minutes au terminal.</a:t>
            </a:r>
          </a:p>
          <a:p xmlns:a="http://schemas.openxmlformats.org/drawingml/2006/main">
            <a:r>
              <a:t>Je vérifie d’abord health, puis Concert Fishers à Paris : réponse, date, lieu, URL et quatre sources.</a:t>
            </a:r>
          </a:p>
          <a:p xmlns:a="http://schemas.openxmlformats.org/drawingml/2006/main">
            <a:r>
              <a:t>Ensuite je demande des expositions à Lyon. Comme le corpus couvre Paris, le comportement attendu est prudent : aucune invention.</a:t>
            </a:r>
          </a:p>
          <a:p xmlns:a="http://schemas.openxmlformats.org/drawingml/2006/main">
            <a:r>
              <a:t>Commande : bash scripts/demo_api_5min.sh.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Durée cible : 75 secondes.</a:t>
            </a:r>
          </a:p>
          <a:p xmlns:a="http://schemas.openxmlformats.org/drawingml/2006/main">
            <a:r>
              <a:t>Les 59 tests détectent les régressions techniques : ingestion, normalisation, index, RAG, API et évaluation.</a:t>
            </a:r>
          </a:p>
          <a:p xmlns:a="http://schemas.openxmlformats.org/drawingml/2006/main">
            <a:r>
              <a:t>Ils ne remplacent pas l’évaluation de qualité : ils vérifient que le contrat reste intact après un changement.</a:t>
            </a:r>
          </a:p>
          <a:p xmlns:a="http://schemas.openxmlformats.org/drawingml/2006/main">
            <a:r>
              <a:t>La CI/CD est une recommandation explicite : elle n’est pas livrée dans ce POC.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Durée cible : 80 secondes.</a:t>
            </a:r>
          </a:p>
          <a:p xmlns:a="http://schemas.openxmlformats.org/drawingml/2006/main">
            <a:r>
              <a:t>RAGAS compare question, contextes, réponse générée et réponse de référence. Il distingue retrieval et génération.</a:t>
            </a:r>
          </a:p>
          <a:p xmlns:a="http://schemas.openxmlformats.org/drawingml/2006/main">
            <a:r>
              <a:t>La fidélité, la pertinence et la précision du contexte sont prometteuses sur trois cas.</a:t>
            </a:r>
          </a:p>
          <a:p xmlns:a="http://schemas.openxmlformats.org/drawingml/2006/main">
            <a:r>
              <a:t>La correction à 0,683 est la priorité : je dois structurer la réponse et élargir le benchmark, pas changer de modèle à l’aveugle.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Durée cible : 60 secondes.</a:t>
            </a:r>
          </a:p>
          <a:p xmlns:a="http://schemas.openxmlformats.org/drawingml/2006/main">
            <a:r>
              <a:t>Je présente les limites par familles et toujours avec leur action corrective.</a:t>
            </a:r>
          </a:p>
          <a:p xmlns:a="http://schemas.openxmlformats.org/drawingml/2006/main">
            <a:r>
              <a:t>Le risque métier principal est une réponse plausible mais incomplète : les sources, la prudence du prompt et un futur seuil métier réduisent ce risque.</a:t>
            </a:r>
          </a:p>
          <a:p xmlns:a="http://schemas.openxmlformats.org/drawingml/2006/main">
            <a:r>
              <a:t>Docker prouve la reproductibilité locale, pas l’industrialisation complète.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Durée cible : 55 secondes, puis 40 secondes pour rapport et dépôt.</a:t>
            </a:r>
          </a:p>
          <a:p xmlns:a="http://schemas.openxmlformats.org/drawingml/2006/main">
            <a:r>
              <a:t>Le POC couvre les données, l’index FAISS, Mistral, l’API Docker, les tests et la première évaluation RAGAS.</a:t>
            </a:r>
          </a:p>
          <a:p xmlns:a="http://schemas.openxmlformats.org/drawingml/2006/main">
            <a:r>
              <a:t>Je recommande un pilote multi-villes mesuré, avec plus de données et de cas annotés avant toute industrialisation large.</a:t>
            </a:r>
          </a:p>
          <a:p xmlns:a="http://schemas.openxmlformats.org/drawingml/2006/main">
            <a:r>
              <a:t>Merci. Je suis prêt à répondre aux questions.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68731dfcfc465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76f9bf2203d4bef" /><Relationship Type="http://schemas.openxmlformats.org/officeDocument/2006/relationships/slideLayout" Target="/ppt/slideLayouts/slideLayout1.xml" Id="Rb71b4a76308a4c5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71b4a76308a4c5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bbafc969b94271" /><Relationship Type="http://schemas.openxmlformats.org/officeDocument/2006/relationships/notesSlide" Target="/ppt/notesSlides/notesSlide1.xml" Id="Rd444930fc09646d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b3fecebcab4bc7" /><Relationship Type="http://schemas.openxmlformats.org/officeDocument/2006/relationships/notesSlide" Target="/ppt/notesSlides/notesSlide2.xml" Id="R2234c290b8b041b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4902c0f16b44ee" /><Relationship Type="http://schemas.openxmlformats.org/officeDocument/2006/relationships/notesSlide" Target="/ppt/notesSlides/notesSlide3.xml" Id="Rcd37dc024c5e487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b3bc5b5b1847b2" /><Relationship Type="http://schemas.openxmlformats.org/officeDocument/2006/relationships/notesSlide" Target="/ppt/notesSlides/notesSlide4.xml" Id="Rab6182c8d42f4d7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76ff85553e436c" /><Relationship Type="http://schemas.openxmlformats.org/officeDocument/2006/relationships/image" Target="/ppt/media/image.png" Id="Rb62e64b6584c411a" /><Relationship Type="http://schemas.openxmlformats.org/officeDocument/2006/relationships/hyperlink" Target="https://hgbe-gh-openclassrooms-projet5.hf.space/docs" TargetMode="External" Id="R4060e70668244060" /><Relationship Type="http://schemas.openxmlformats.org/officeDocument/2006/relationships/hyperlink" Target="https://hgbe-gh-openclassrooms-projet5.hf.space/health" TargetMode="External" Id="Rb16ddbfed0564566" /><Relationship Type="http://schemas.openxmlformats.org/officeDocument/2006/relationships/notesSlide" Target="/ppt/notesSlides/notesSlide5.xml" Id="Reb3a3f6cb7e646b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7fb7e698144285" /><Relationship Type="http://schemas.openxmlformats.org/officeDocument/2006/relationships/notesSlide" Target="/ppt/notesSlides/notesSlide6.xml" Id="Rf376d309530440d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3fc318131e4a28" /><Relationship Type="http://schemas.openxmlformats.org/officeDocument/2006/relationships/image" Target="/ppt/media/image.png" Id="R400fbf218463405b" /><Relationship Type="http://schemas.openxmlformats.org/officeDocument/2006/relationships/hyperlink" Target="https://hgbe-gh-openclassrooms-projet5.hf.space/docs" TargetMode="External" Id="R1186b270f0794084" /><Relationship Type="http://schemas.openxmlformats.org/officeDocument/2006/relationships/hyperlink" Target="https://hgbe-gh-openclassrooms-projet5.hf.space/health" TargetMode="External" Id="R759438e076d242c5" /><Relationship Type="http://schemas.openxmlformats.org/officeDocument/2006/relationships/notesSlide" Target="/ppt/notesSlides/notesSlide7.xml" Id="R05029d5d8e0646f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8d06adab994b14" /><Relationship Type="http://schemas.openxmlformats.org/officeDocument/2006/relationships/hyperlink" Target="https://hgbe-gh-openclassrooms-projet5.hf.space/docs" TargetMode="External" Id="R1002320bc2b04cd8" /><Relationship Type="http://schemas.openxmlformats.org/officeDocument/2006/relationships/hyperlink" Target="https://hgbe-gh-openclassrooms-projet5.hf.space/health" TargetMode="External" Id="R9697debca81842ce" /><Relationship Type="http://schemas.openxmlformats.org/officeDocument/2006/relationships/hyperlink" Target="https://github.com/hgbe-GH/openclassrooms-projet5/actions/runs/30814421390" TargetMode="External" Id="R6267e6adce514204" /><Relationship Type="http://schemas.openxmlformats.org/officeDocument/2006/relationships/hyperlink" Target="https://github.com/hgbe-GH/openclassrooms-projet5" TargetMode="External" Id="Ra0d036a237fd45c1" /><Relationship Type="http://schemas.openxmlformats.org/officeDocument/2006/relationships/notesSlide" Target="/ppt/notesSlides/notesSlide8.xml" Id="Rf8cd338f326c487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3c444334b04372" /><Relationship Type="http://schemas.openxmlformats.org/officeDocument/2006/relationships/notesSlide" Target="/ppt/notesSlides/notesSlide9.xml" Id="Rbc723b5c5c71424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31340b16a24707" /><Relationship Type="http://schemas.openxmlformats.org/officeDocument/2006/relationships/notesSlide" Target="/ppt/notesSlides/notesSlide10.xml" Id="R349f062405ac413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d9c4960656452a" /><Relationship Type="http://schemas.openxmlformats.org/officeDocument/2006/relationships/notesSlide" Target="/ppt/notesSlides/notesSlide11.xml" Id="R0af0265523e5452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b0dd8bbf3841fd" /><Relationship Type="http://schemas.openxmlformats.org/officeDocument/2006/relationships/notesSlide" Target="/ppt/notesSlides/notesSlide12.xml" Id="R12c5835e9d7944a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0142339-7B07-4DCF-B587-ED5D929F2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C4C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8B1A11-27B1-4544-82FF-4A9E52533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795528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C4C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7DBD28-CDDD-4793-893D-6F7F4539A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666750"/>
            <a:ext cx="44748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7CF5E5-FBBF-45A8-9EB5-3124092CA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8813" y="666750"/>
            <a:ext cx="414338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B2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505292-04E4-4A8B-862A-FB88FFF31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MISSION PULS-EVENTS  •  PROJET 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A5EB4D-9038-48CE-B32E-C32FDAE77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43050"/>
            <a:ext cx="641985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85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285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Un assistant RAG</a:t>
            </a:r>
          </a:p>
          <a:p xmlns:a="http://schemas.openxmlformats.org/drawingml/2006/main">
            <a:pPr algn="l">
              <a:lnSpc>
                <a:spcPct val="94000"/>
              </a:lnSpc>
              <a:buNone/>
              <a:defRPr sz="285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285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pour recommander</a:t>
            </a:r>
          </a:p>
          <a:p xmlns:a="http://schemas.openxmlformats.org/drawingml/2006/main">
            <a:pPr algn="l">
              <a:lnSpc>
                <a:spcPct val="94000"/>
              </a:lnSpc>
              <a:buNone/>
              <a:defRPr sz="285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285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sans inventer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989524-CAED-444B-B497-42C42D56E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43300"/>
            <a:ext cx="6477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125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OpenAgenda · FAISS · Mistral · FastAPI · Docker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BA1E5E-573F-4C03-BD1F-77DB49919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10100"/>
            <a:ext cx="19240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8F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33BF82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33BF82"/>
                </a:solidFill>
                <a:latin typeface="Montserrat"/>
                <a:ea typeface="Montserrat"/>
                <a:cs typeface="Montserrat"/>
              </a:rPr>
              <a:t>POC DÉMONTRABLE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A271D8-5509-42C2-B3FA-9BC7846A0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816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90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Hugo Gaube  •  Data Scientist freelance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AFF538-5767-49B3-9978-19A899F12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435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900" b="0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Soutenance — reprise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079AB3-EB64-4F47-ADC0-4F3BF4C38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104900"/>
            <a:ext cx="3295650" cy="4514850"/>
          </a:xfrm>
          <a:prstGeom xmlns:a="http://schemas.openxmlformats.org/drawingml/2006/main" prst="roundRect">
            <a:avLst>
              <a:gd name="adj" fmla="val 7514"/>
            </a:avLst>
          </a:prstGeom>
          <a:solidFill xmlns:a="http://schemas.openxmlformats.org/drawingml/2006/main">
            <a:srgbClr val="14213D"/>
          </a:solidFill>
          <a:ln xmlns:a="http://schemas.openxmlformats.org/drawingml/2006/main" w="9525">
            <a:solidFill>
              <a:srgbClr val="14213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E07DE1-C884-44D2-A5D9-964D34E01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590675"/>
            <a:ext cx="2114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97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DONNÉES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94F7F3-FE23-4675-B0AB-2307DE4EF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114550"/>
            <a:ext cx="838200" cy="838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C4C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40E6CF-C58E-4184-893C-5D5367C7F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266950"/>
            <a:ext cx="8382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8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7 586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8ADAB1-1D80-4DDC-99DA-CD20270EB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086100"/>
            <a:ext cx="0" cy="581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F8A3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B6C1E3-F398-4F6A-AF03-E17B3B283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733800"/>
            <a:ext cx="2209800" cy="80010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F67059-CCBF-4080-93CC-E64210D61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914775"/>
            <a:ext cx="1828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97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PASSAGES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2E0378-697F-4BF2-A759-F2F1851A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210050"/>
            <a:ext cx="1828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0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900" b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14 903 · FAISS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4C0CAD-F90C-4D96-BF80-183F7DBD8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629150"/>
            <a:ext cx="0" cy="3524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FB27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029E40-5CA6-4F9B-9E95-EDAA5B4C9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5067300"/>
            <a:ext cx="2114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API + 59 TESTS</a:t>
            </a:r>
          </a:p>
        </p:txBody>
      </p:sp>
    </p:spTree>
    <p:extLst>
      <p:ext uri="{BB962C8B-B14F-4D97-AF65-F5344CB8AC3E}">
        <p14:creationId xmlns:p14="http://schemas.microsoft.com/office/powerpoint/2010/main" val="189874749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64FE70E-E595-4F3C-A9D2-F3D836918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585216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C4C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9C092F-2E19-452B-9ED9-19C017E19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4816" y="438150"/>
            <a:ext cx="329184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6DC2FB-2FF7-4211-9899-2B3D19B69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"/>
            <a:ext cx="304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B2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F73F7C-252D-4088-ACD4-68B2C8210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LE BESOIN PULS-EVENTS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301E50-EC1B-45B1-A366-FC8F80CF9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62025"/>
            <a:ext cx="10782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240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Une question devient une recommandation sourcée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EFE024-F5A8-42E8-8E79-85564467D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45720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C66644-1B1D-4886-9C36-16556E6D2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962150" cy="297180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2B4292-1DA1-4296-BACC-CF2C4E263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81250"/>
            <a:ext cx="5143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A49D5A-7192-44A9-9EBB-7EA22C5C3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90850"/>
            <a:ext cx="1581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1275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Question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001CD5-ECB9-4CF4-AC85-4CC03C08A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38550"/>
            <a:ext cx="15811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« Que faire</a:t>
            </a:r>
          </a:p>
          <a:p xmlns:a="http://schemas.openxmlformats.org/drawingml/2006/main">
            <a:pPr algn="l">
              <a:buNone/>
              <a:def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ce week-end ? »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F12A90-2ED5-490A-A5A5-71FDBEA8A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006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F8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A3B9BD-43DA-4C2E-B425-036E4C474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5775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33BF82"/>
                </a:solidFill>
                <a:latin typeface="Montserrat"/>
                <a:ea typeface="Montserrat"/>
                <a:cs typeface="Montserrat"/>
              </a:defRPr>
            </a:pPr>
            <a:r>
              <a:rPr sz="1350" b="1">
                <a:solidFill>
                  <a:srgbClr val="33BF82"/>
                </a:solidFill>
                <a:latin typeface="Montserrat"/>
                <a:ea typeface="Montserrat"/>
                <a:cs typeface="Montserrat"/>
              </a:rPr>
              <a:t>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09BF44-03A7-4685-8734-B0CA011AC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171700"/>
            <a:ext cx="1962150" cy="297180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4B898E-91E6-451A-9962-7D4576D55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381250"/>
            <a:ext cx="5143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11DF00-D210-48F9-A024-AD5111D6C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990850"/>
            <a:ext cx="1581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1275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Recherche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A48A8E-5717-4AED-8A2C-A5ACA5E66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638550"/>
            <a:ext cx="15811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FAISS trouve</a:t>
            </a:r>
          </a:p>
          <a:p xmlns:a="http://schemas.openxmlformats.org/drawingml/2006/main">
            <a:pPr algn="l">
              <a:buNone/>
              <a:def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les passages utiles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FF1FCB-6094-47D0-A024-E493C7667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8006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F8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340A7E-AB55-4652-903A-9395CE07E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85775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33BF82"/>
                </a:solidFill>
                <a:latin typeface="Montserrat"/>
                <a:ea typeface="Montserrat"/>
                <a:cs typeface="Montserrat"/>
              </a:defRPr>
            </a:pPr>
            <a:r>
              <a:rPr sz="1350" b="1">
                <a:solidFill>
                  <a:srgbClr val="33BF82"/>
                </a:solidFill>
                <a:latin typeface="Montserrat"/>
                <a:ea typeface="Montserrat"/>
                <a:cs typeface="Montserrat"/>
              </a:rPr>
              <a:t>✓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81616C2-0181-4F5D-A322-BFEB96CE7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171700"/>
            <a:ext cx="1962150" cy="297180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9A9C6E-48DF-4DBD-880C-DCA43CD39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381250"/>
            <a:ext cx="5143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A624F4-FE49-4F0D-9158-47E72EECA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990850"/>
            <a:ext cx="1581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1275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Contexte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57CF10-34BA-4691-B76D-DEE6678FB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638550"/>
            <a:ext cx="15811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titre · date</a:t>
            </a:r>
          </a:p>
          <a:p xmlns:a="http://schemas.openxmlformats.org/drawingml/2006/main">
            <a:pPr algn="l">
              <a:buNone/>
              <a:def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lieu · URL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5B9C5A4-E5D9-4F0E-9641-C4886A632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006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F8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7DDB49-9397-49F6-8DD8-A419D0F10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5775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33BF82"/>
                </a:solidFill>
                <a:latin typeface="Montserrat"/>
                <a:ea typeface="Montserrat"/>
                <a:cs typeface="Montserrat"/>
              </a:defRPr>
            </a:pPr>
            <a:r>
              <a:rPr sz="1350" b="1">
                <a:solidFill>
                  <a:srgbClr val="33BF82"/>
                </a:solidFill>
                <a:latin typeface="Montserrat"/>
                <a:ea typeface="Montserrat"/>
                <a:cs typeface="Montserrat"/>
              </a:rPr>
              <a:t>✓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1B05314-8623-4E9A-AB74-B6BF41FA8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171700"/>
            <a:ext cx="1962150" cy="297180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4BA288F-25F6-4B25-9571-98D241AAA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381250"/>
            <a:ext cx="5143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04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1E36441-28D8-46F3-99BF-57612A580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990850"/>
            <a:ext cx="1581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1275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Mistral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CBBB777-8460-44C6-A9B7-699DF9E99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638550"/>
            <a:ext cx="15811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répond à partir</a:t>
            </a:r>
          </a:p>
          <a:p xmlns:a="http://schemas.openxmlformats.org/drawingml/2006/main">
            <a:pPr algn="l">
              <a:buNone/>
              <a:def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des sources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3BC5E62-83EF-4B18-B21C-B65D0DD54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8006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F8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EDA76AC-3BCF-4AD3-8C5A-93CDFEB1F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85775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33BF82"/>
                </a:solidFill>
                <a:latin typeface="Montserrat"/>
                <a:ea typeface="Montserrat"/>
                <a:cs typeface="Montserrat"/>
              </a:defRPr>
            </a:pPr>
            <a:r>
              <a:rPr sz="1350" b="1">
                <a:solidFill>
                  <a:srgbClr val="33BF82"/>
                </a:solidFill>
                <a:latin typeface="Montserrat"/>
                <a:ea typeface="Montserrat"/>
                <a:cs typeface="Montserrat"/>
              </a:rPr>
              <a:t>✓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ABB2728-D41D-4F7F-867C-D92E0DD44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171700"/>
            <a:ext cx="1962150" cy="297180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14213D"/>
          </a:solidFill>
          <a:ln xmlns:a="http://schemas.openxmlformats.org/drawingml/2006/main" w="9525">
            <a:solidFill>
              <a:srgbClr val="14213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3FA535F-D5B2-4B8E-8774-C3A4BBA93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381250"/>
            <a:ext cx="5143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8A3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7A45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FF7A45"/>
                </a:solidFill>
                <a:latin typeface="Montserrat"/>
                <a:ea typeface="Montserrat"/>
                <a:cs typeface="Montserrat"/>
              </a:rPr>
              <a:t>05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EAF4029-8314-4750-8B99-B54501AB0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990850"/>
            <a:ext cx="1581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1275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Vérifier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A77E3E9-E945-4263-8A82-9B9227BF2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638550"/>
            <a:ext cx="15811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liens retournés</a:t>
            </a:r>
          </a:p>
          <a:p xmlns:a="http://schemas.openxmlformats.org/drawingml/2006/main">
            <a:pPr algn="l">
              <a:buNone/>
              <a:def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à l’utilisateur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9406123-EED1-45CF-B507-6C167CF55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8006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B2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7B28A6E-7B26-469D-AF63-146253D38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85775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33BF82"/>
                </a:solidFill>
                <a:latin typeface="Montserrat"/>
                <a:ea typeface="Montserrat"/>
                <a:cs typeface="Montserrat"/>
              </a:defRPr>
            </a:pPr>
            <a:r>
              <a:rPr sz="1350" b="1">
                <a:solidFill>
                  <a:srgbClr val="33BF82"/>
                </a:solidFill>
                <a:latin typeface="Montserrat"/>
                <a:ea typeface="Montserrat"/>
                <a:cs typeface="Montserrat"/>
              </a:rPr>
              <a:t>✓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812FC89-9895-4649-83FE-C7F988674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Le RAG unit compréhension du langage et preuves consultables.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6ED5D45-3687-4757-87D7-EDF2FD7A2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CD2431D-9C3E-411A-9FEB-480427AD2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PROJET 7  •  PULS-EVENTS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93316DE-19A4-43DA-A8F8-508780E6D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1962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HUGO GAUBE</a:t>
            </a:r>
          </a:p>
        </p:txBody>
      </p:sp>
    </p:spTree>
    <p:extLst>
      <p:ext uri="{BB962C8B-B14F-4D97-AF65-F5344CB8AC3E}">
        <p14:creationId xmlns:p14="http://schemas.microsoft.com/office/powerpoint/2010/main" val="141148533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BD5A711-1D8F-4C6C-A1F7-2489FC365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585216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C4C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6E4BC1-3D1E-4C2C-AE44-D28351B13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4816" y="438150"/>
            <a:ext cx="329184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5701FF-C2B3-4924-BD43-9DDB3A127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"/>
            <a:ext cx="304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B2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BDD8AD-10D7-42EE-86C4-313B2382C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QUALITÉ DES DONNÉES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C539D5-4C50-4357-A176-82505B1CA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62025"/>
            <a:ext cx="10782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225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Le nettoyage transforme OpenAgenda en corpus exploitable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D0E9C3-016B-4749-A61A-DC2CDE8E3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45720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BC600C-C643-4AFB-B6CF-28A1CB239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4953000" cy="3752850"/>
          </a:xfrm>
          <a:prstGeom xmlns:a="http://schemas.openxmlformats.org/drawingml/2006/main" prst="roundRect">
            <a:avLst>
              <a:gd name="adj" fmla="val 4569"/>
            </a:avLst>
          </a:prstGeom>
          <a:solidFill xmlns:a="http://schemas.openxmlformats.org/drawingml/2006/main">
            <a:srgbClr val="14213D"/>
          </a:solidFill>
          <a:ln xmlns:a="http://schemas.openxmlformats.org/drawingml/2006/main" w="9525">
            <a:solidFill>
              <a:srgbClr val="14213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71CFAC-DDFA-4348-B70E-6E03EBDAD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90750"/>
            <a:ext cx="432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7A45"/>
                </a:solidFill>
                <a:latin typeface="Noto Sans Mono"/>
                <a:ea typeface="Noto Sans Mono"/>
                <a:cs typeface="Noto Sans Mono"/>
              </a:defRPr>
            </a:pPr>
            <a:r>
              <a:rPr sz="1200" b="1">
                <a:solidFill>
                  <a:srgbClr val="FF7A45"/>
                </a:solidFill>
                <a:latin typeface="Noto Sans Mono"/>
                <a:ea typeface="Noto Sans Mono"/>
                <a:cs typeface="Noto Sans Mono"/>
              </a:rPr>
              <a:t>openagenda/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1F187F-5B89-49BC-ACE4-8719D2A0C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47950"/>
            <a:ext cx="43243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FFFFFF"/>
                </a:solidFill>
                <a:latin typeface="Noto Sans Mono"/>
                <a:ea typeface="Noto Sans Mono"/>
                <a:cs typeface="Noto Sans Mono"/>
              </a:defRPr>
            </a:pPr>
            <a:r>
              <a:rPr sz="1125" b="0">
                <a:solidFill>
                  <a:srgbClr val="FFFFFF"/>
                </a:solidFill>
                <a:latin typeface="Noto Sans Mono"/>
                <a:ea typeface="Noto Sans Mono"/>
                <a:cs typeface="Noto Sans Mono"/>
              </a:rPr>
              <a:t>raw/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FFFFFF"/>
                </a:solidFill>
                <a:latin typeface="Noto Sans Mono"/>
                <a:ea typeface="Noto Sans Mono"/>
                <a:cs typeface="Noto Sans Mono"/>
              </a:defRPr>
            </a:pPr>
            <a:r>
              <a:rPr sz="1125" b="0">
                <a:solidFill>
                  <a:srgbClr val="FFFFFF"/>
                </a:solidFill>
                <a:latin typeface="Noto Sans Mono"/>
                <a:ea typeface="Noto Sans Mono"/>
                <a:cs typeface="Noto Sans Mono"/>
              </a:rPr>
              <a:t>  events.json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E8EDF7"/>
                </a:solidFill>
                <a:latin typeface="Noto Sans Mono"/>
                <a:ea typeface="Noto Sans Mono"/>
                <a:cs typeface="Noto Sans Mono"/>
              </a:defRPr>
            </a:pPr>
            <a:r>
              <a:rPr sz="1350" b="0">
                <a:solidFill>
                  <a:srgbClr val="E8EDF7"/>
                </a:solidFill>
                <a:latin typeface="Noto Sans Mono"/>
                <a:ea typeface="Noto Sans Mono"/>
                <a:cs typeface="Noto Sans Mono"/>
              </a:rPr>
              <a:t/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FFFFFF"/>
                </a:solidFill>
                <a:latin typeface="Noto Sans Mono"/>
                <a:ea typeface="Noto Sans Mono"/>
                <a:cs typeface="Noto Sans Mono"/>
              </a:defRPr>
            </a:pPr>
            <a:r>
              <a:rPr sz="1125" b="0">
                <a:solidFill>
                  <a:srgbClr val="FFFFFF"/>
                </a:solidFill>
                <a:latin typeface="Noto Sans Mono"/>
                <a:ea typeface="Noto Sans Mono"/>
                <a:cs typeface="Noto Sans Mono"/>
              </a:rPr>
              <a:t>clean/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FFFFFF"/>
                </a:solidFill>
                <a:latin typeface="Noto Sans Mono"/>
                <a:ea typeface="Noto Sans Mono"/>
                <a:cs typeface="Noto Sans Mono"/>
              </a:defRPr>
            </a:pPr>
            <a:r>
              <a:rPr sz="1125" b="0">
                <a:solidFill>
                  <a:srgbClr val="FFFFFF"/>
                </a:solidFill>
                <a:latin typeface="Noto Sans Mono"/>
                <a:ea typeface="Noto Sans Mono"/>
                <a:cs typeface="Noto Sans Mono"/>
              </a:rPr>
              <a:t>  html supprimé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FFFFFF"/>
                </a:solidFill>
                <a:latin typeface="Noto Sans Mono"/>
                <a:ea typeface="Noto Sans Mono"/>
                <a:cs typeface="Noto Sans Mono"/>
              </a:defRPr>
            </a:pPr>
            <a:r>
              <a:rPr sz="1125" b="0">
                <a:solidFill>
                  <a:srgbClr val="FFFFFF"/>
                </a:solidFill>
                <a:latin typeface="Noto Sans Mono"/>
                <a:ea typeface="Noto Sans Mono"/>
                <a:cs typeface="Noto Sans Mono"/>
              </a:rPr>
              <a:t>  dates normalisées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FFFFFF"/>
                </a:solidFill>
                <a:latin typeface="Noto Sans Mono"/>
                <a:ea typeface="Noto Sans Mono"/>
                <a:cs typeface="Noto Sans Mono"/>
              </a:defRPr>
            </a:pPr>
            <a:r>
              <a:rPr sz="1125" b="0">
                <a:solidFill>
                  <a:srgbClr val="FFFFFF"/>
                </a:solidFill>
                <a:latin typeface="Noto Sans Mono"/>
                <a:ea typeface="Noto Sans Mono"/>
                <a:cs typeface="Noto Sans Mono"/>
              </a:rPr>
              <a:t>  doublons retirés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E8EDF7"/>
                </a:solidFill>
                <a:latin typeface="Noto Sans Mono"/>
                <a:ea typeface="Noto Sans Mono"/>
                <a:cs typeface="Noto Sans Mono"/>
              </a:defRPr>
            </a:pPr>
            <a:r>
              <a:rPr sz="1350" b="0">
                <a:solidFill>
                  <a:srgbClr val="E8EDF7"/>
                </a:solidFill>
                <a:latin typeface="Noto Sans Mono"/>
                <a:ea typeface="Noto Sans Mono"/>
                <a:cs typeface="Noto Sans Mono"/>
              </a:rPr>
              <a:t/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FFFFFF"/>
                </a:solidFill>
                <a:latin typeface="Noto Sans Mono"/>
                <a:ea typeface="Noto Sans Mono"/>
                <a:cs typeface="Noto Sans Mono"/>
              </a:defRPr>
            </a:pPr>
            <a:r>
              <a:rPr sz="1125" b="0">
                <a:solidFill>
                  <a:srgbClr val="FFFFFF"/>
                </a:solidFill>
                <a:latin typeface="Noto Sans Mono"/>
                <a:ea typeface="Noto Sans Mono"/>
                <a:cs typeface="Noto Sans Mono"/>
              </a:rPr>
              <a:t>processed/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FFFFFF"/>
                </a:solidFill>
                <a:latin typeface="Noto Sans Mono"/>
                <a:ea typeface="Noto Sans Mono"/>
                <a:cs typeface="Noto Sans Mono"/>
              </a:defRPr>
            </a:pPr>
            <a:r>
              <a:rPr sz="1125" b="0">
                <a:solidFill>
                  <a:srgbClr val="FFFFFF"/>
                </a:solidFill>
                <a:latin typeface="Noto Sans Mono"/>
                <a:ea typeface="Noto Sans Mono"/>
                <a:cs typeface="Noto Sans Mono"/>
              </a:rPr>
              <a:t>  events.parquet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AD63A5-A81F-4AC9-997D-4C39B1F18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038350"/>
            <a:ext cx="240030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71DC4A-53AD-4617-BC07-F7316EE49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03835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C4C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3BEED3-5789-4D3F-9197-50C2F4C5E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90750"/>
            <a:ext cx="2019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1125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Périmètre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F4DE5E-AC51-4B9C-8511-054BA9885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67000"/>
            <a:ext cx="2019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Paris · &lt; 1 an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E4CE9E-DD0F-4193-AD0D-7482D80FA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038350"/>
            <a:ext cx="240030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89F349-F94E-4D68-B83F-4DDF63ABC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03835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09D8E6-1812-42CE-8CD9-196005E24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90750"/>
            <a:ext cx="2019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1125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Texte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CEBD06-1975-4225-A481-178CFA9AE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67000"/>
            <a:ext cx="2019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HTML + espaces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47C5D3-25D1-4EB6-A579-34C45CEBD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371850"/>
            <a:ext cx="240030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F3CA9E-A494-48A4-B0B7-76F58CE67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37185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B2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7FC5AF-9507-49D4-BA00-F903CC385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524250"/>
            <a:ext cx="2019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1125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Identité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381772-4BF6-46DD-A557-DCA259AC3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00500"/>
            <a:ext cx="2019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event_uid unique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271376-2F17-4BF7-9104-669E17FCC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371850"/>
            <a:ext cx="240030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71A8F2-FDF7-4EFF-B6D4-CA6D5852E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37185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C4C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A4623A4-724B-43BA-9468-87B16B551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524250"/>
            <a:ext cx="2019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1125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Résultat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5BE8788-820D-421D-A39F-506E49FD4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00500"/>
            <a:ext cx="2019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7 586 fiches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D9BCBCC-840C-4A76-830A-DC9F00DC7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800600"/>
            <a:ext cx="5067300" cy="895350"/>
          </a:xfrm>
          <a:prstGeom xmlns:a="http://schemas.openxmlformats.org/drawingml/2006/main" prst="roundRect">
            <a:avLst>
              <a:gd name="adj" fmla="val 17021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9525">
            <a:solidFill>
              <a:srgbClr val="EEEAF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D050E38-494F-4D30-B8D5-EFAE837F9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972050"/>
            <a:ext cx="1752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PRINCIPE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0316B4C-A5D2-476C-B0FD-571CE415E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38750"/>
            <a:ext cx="457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Je conserve titre, description, date, lieu et URL : chaque réponse peut revenir à sa source.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0B3EACA-2C31-4D5C-A908-31AC4938C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7203D4-0749-4688-9CA1-CF90AE66F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PROJET 7  •  PULS-EVENTS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45D176C-16B3-49F5-9E5D-2A286FB92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1962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HUGO GAUBE</a:t>
            </a:r>
          </a:p>
        </p:txBody>
      </p:sp>
    </p:spTree>
    <p:extLst>
      <p:ext uri="{BB962C8B-B14F-4D97-AF65-F5344CB8AC3E}">
        <p14:creationId xmlns:p14="http://schemas.microsoft.com/office/powerpoint/2010/main" val="50518846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64FE70E-E595-4F3C-A9D2-F3D836918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585216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C4C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9C092F-2E19-452B-9ED9-19C017E19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4816" y="438150"/>
            <a:ext cx="329184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6DC2FB-2FF7-4211-9899-2B3D19B69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"/>
            <a:ext cx="304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B2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F73F7C-252D-4088-ACD4-68B2C8210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ZOOM CONCRET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301E50-EC1B-45B1-A366-FC8F80CF9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62025"/>
            <a:ext cx="10782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2325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CHIMERE devient 14 903 passages recherchables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EFE024-F5A8-42E8-8E79-85564467D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45720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C66644-1B1D-4886-9C36-16556E6D2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962150" cy="297180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2B4292-1DA1-4296-BACC-CF2C4E263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81250"/>
            <a:ext cx="5143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A49D5A-7192-44A9-9EBB-7EA22C5C3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90850"/>
            <a:ext cx="1581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1275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CHIMERE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001CD5-ECB9-4CF4-AC85-4CC03C08A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38550"/>
            <a:ext cx="15811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125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10 273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125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caractères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F12A90-2ED5-490A-A5A5-71FDBEA8A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006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F8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A3B9BD-43DA-4C2E-B425-036E4C474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5775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15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09BF44-03A7-4685-8734-B0CA011AC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171700"/>
            <a:ext cx="1962150" cy="297180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4B898E-91E6-451A-9962-7D4576D55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381250"/>
            <a:ext cx="5143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11DF00-D210-48F9-A024-AD5111D6C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990850"/>
            <a:ext cx="1581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1275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Découper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A48A8E-5717-4AED-8A2C-A5ACA5E66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638550"/>
            <a:ext cx="15811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chunks de</a:t>
            </a:r>
          </a:p>
          <a:p xmlns:a="http://schemas.openxmlformats.org/drawingml/2006/main">
            <a:pPr algn="l">
              <a:buNone/>
              <a:def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1 000 caractères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FF1FCB-6094-47D0-A024-E493C7667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8006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F8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340A7E-AB55-4652-903A-9395CE07E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85775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15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↓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81616C2-0181-4F5D-A322-BFEB96CE7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171700"/>
            <a:ext cx="1962150" cy="297180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9A9C6E-48DF-4DBD-880C-DCA43CD39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381250"/>
            <a:ext cx="5143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A624F4-FE49-4F0D-9158-47E72EECA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990850"/>
            <a:ext cx="1581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1275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Conserver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57CF10-34BA-4691-B76D-DEE6678FB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638550"/>
            <a:ext cx="15811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200 caractères</a:t>
            </a:r>
          </a:p>
          <a:p xmlns:a="http://schemas.openxmlformats.org/drawingml/2006/main">
            <a:pPr algn="l">
              <a:buNone/>
              <a:def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de chevauchement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5B9C5A4-E5D9-4F0E-9641-C4886A632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006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F8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7DDB49-9397-49F6-8DD8-A419D0F10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5775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15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↓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1B05314-8623-4E9A-AB74-B6BF41FA8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171700"/>
            <a:ext cx="1962150" cy="297180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4BA288F-25F6-4B25-9571-98D241AAA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381250"/>
            <a:ext cx="5143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04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1E36441-28D8-46F3-99BF-57612A580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990850"/>
            <a:ext cx="1581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1275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Vectoriser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CBBB777-8460-44C6-A9B7-699DF9E99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638550"/>
            <a:ext cx="15811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mistral-embed</a:t>
            </a:r>
          </a:p>
          <a:p xmlns:a="http://schemas.openxmlformats.org/drawingml/2006/main">
            <a:pPr algn="l">
              <a:buNone/>
              <a:def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1 024 dimensions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3BC5E62-83EF-4B18-B21C-B65D0DD54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8006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F8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EDA76AC-3BCF-4AD3-8C5A-93CDFEB1F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85775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15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↓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ABB2728-D41D-4F7F-867C-D92E0DD44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171700"/>
            <a:ext cx="1962150" cy="297180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14213D"/>
          </a:solidFill>
          <a:ln xmlns:a="http://schemas.openxmlformats.org/drawingml/2006/main" w="9525">
            <a:solidFill>
              <a:srgbClr val="14213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3FA535F-D5B2-4B8E-8774-C3A4BBA93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381250"/>
            <a:ext cx="5143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8A3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7A45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FF7A45"/>
                </a:solidFill>
                <a:latin typeface="Montserrat"/>
                <a:ea typeface="Montserrat"/>
                <a:cs typeface="Montserrat"/>
              </a:rPr>
              <a:t>05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EAF4029-8314-4750-8B99-B54501AB0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990850"/>
            <a:ext cx="1581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1275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Retrouver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A77E3E9-E945-4263-8A82-9B9227BF2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638550"/>
            <a:ext cx="15811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FAISS</a:t>
            </a:r>
          </a:p>
          <a:p xmlns:a="http://schemas.openxmlformats.org/drawingml/2006/main">
            <a:pPr algn="l">
              <a:buNone/>
              <a:def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+ métadonnées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9406123-EED1-45CF-B507-6C167CF55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8006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B2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7B28A6E-7B26-469D-AF63-146253D38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85775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33BF82"/>
                </a:solidFill>
                <a:latin typeface="Montserrat"/>
                <a:ea typeface="Montserrat"/>
                <a:cs typeface="Montserrat"/>
              </a:defRPr>
            </a:pPr>
            <a:r>
              <a:rPr sz="1350" b="1">
                <a:solidFill>
                  <a:srgbClr val="33BF82"/>
                </a:solidFill>
                <a:latin typeface="Montserrat"/>
                <a:ea typeface="Montserrat"/>
                <a:cs typeface="Montserrat"/>
              </a:rPr>
              <a:t>✓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812FC89-9895-4649-83FE-C7F988674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Le chevauchement protège les informations placées entre deux passages.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6ED5D45-3687-4757-87D7-EDF2FD7A2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CD2431D-9C3E-411A-9FEB-480427AD2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PROJET 7  •  PULS-EVENTS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93316DE-19A4-43DA-A8F8-508780E6D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1962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HUGO GAUBE</a:t>
            </a:r>
          </a:p>
        </p:txBody>
      </p:sp>
    </p:spTree>
    <p:extLst>
      <p:ext uri="{BB962C8B-B14F-4D97-AF65-F5344CB8AC3E}">
        <p14:creationId xmlns:p14="http://schemas.microsoft.com/office/powerpoint/2010/main" val="141148533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083A931-C19F-45B8-B8EF-8EF019F11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585216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C4C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EF97DA-D80B-46DE-832C-7431631FB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4816" y="438150"/>
            <a:ext cx="329184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97D02D-FF39-4961-994C-C0BF436B9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"/>
            <a:ext cx="304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B2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085C0F-8A68-4438-A2DF-EACDBCB77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CONTRÔLE DE LA RÉPONSE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D5B4C7-4C0C-4974-A25C-2B1D26118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62025"/>
            <a:ext cx="10782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225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Le prompt impose une réponse fondée sur les sources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164D0F-B6C9-4F18-8429-EEE903BD0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45720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253913-DB2F-4AC9-95EC-1FBD4C4F7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33575"/>
            <a:ext cx="4095750" cy="37147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14213D"/>
          </a:solidFill>
          <a:ln xmlns:a="http://schemas.openxmlformats.org/drawingml/2006/main" w="9525">
            <a:solidFill>
              <a:srgbClr val="14213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4DD255-BE19-4AF6-9FF2-88D7546A5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90750"/>
            <a:ext cx="20955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C4CF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CONTRAT RAG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74C2E9-2AC2-48AE-A002-E90EEA4BB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333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10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05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La réponse doit rester en français, utiliser le contexte retrouvé, ne pas inventer et dire « Je ne sais pas » lorsque le contexte manque.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DDAC37-E344-4835-84F3-9C7319E34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95750"/>
            <a:ext cx="6096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8A3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62854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7A45"/>
                </a:solidFill>
                <a:latin typeface="Montserrat"/>
                <a:ea typeface="Montserrat"/>
                <a:cs typeface="Montserrat"/>
              </a:defRPr>
            </a:pPr>
            <a:r>
              <a:rPr sz="1125" b="1">
                <a:solidFill>
                  <a:srgbClr val="FF7A45"/>
                </a:solidFill>
                <a:latin typeface="Montserrat"/>
                <a:ea typeface="Montserrat"/>
                <a:cs typeface="Montserrat"/>
              </a:rPr>
              <a:t>RETRIEVAL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73E3BB-23B4-4E75-A03F-266A9DDA6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143375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mistral-embed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2CCED0-EDCB-4598-B762-B468EE68C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52950"/>
            <a:ext cx="6096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355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62854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7A45"/>
                </a:solidFill>
                <a:latin typeface="Montserrat"/>
                <a:ea typeface="Montserrat"/>
                <a:cs typeface="Montserrat"/>
              </a:defRPr>
            </a:pPr>
            <a:r>
              <a:rPr sz="1125" b="1">
                <a:solidFill>
                  <a:srgbClr val="FF7A45"/>
                </a:solidFill>
                <a:latin typeface="Montserrat"/>
                <a:ea typeface="Montserrat"/>
                <a:cs typeface="Montserrat"/>
              </a:rPr>
              <a:t>CONTEXTE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4E4BA5-3AF5-4A19-829C-0E4C2029E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600575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top_k = 4 + métadonnées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292CEB-7C11-4902-B6CE-FD629129F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10150"/>
            <a:ext cx="6096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355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62854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33BF82"/>
                </a:solidFill>
                <a:latin typeface="Montserrat"/>
                <a:ea typeface="Montserrat"/>
                <a:cs typeface="Montserrat"/>
              </a:defRPr>
            </a:pPr>
            <a:r>
              <a:rPr sz="1125" b="1">
                <a:solidFill>
                  <a:srgbClr val="33BF82"/>
                </a:solidFill>
                <a:latin typeface="Montserrat"/>
                <a:ea typeface="Montserrat"/>
                <a:cs typeface="Montserrat"/>
              </a:rPr>
              <a:t>GÉNÉRATION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2090C2-08CA-4976-BBF6-543BE4E88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057775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mistral-small-latest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B8A9C5-B90F-4EF3-A3DB-BB06EDD9A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933575"/>
            <a:ext cx="6572250" cy="37147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2e64b6584c411a"/>
          <a:stretch xmlns:a="http://schemas.openxmlformats.org/drawingml/2006/main"/>
        </p:blipFill>
        <p:spPr>
          <a:xfrm xmlns:a="http://schemas.openxmlformats.org/drawingml/2006/main">
            <a:off x="5560695" y="2085975"/>
            <a:ext cx="5471160" cy="3419475"/>
          </a:xfrm>
          <a:prstGeom xmlns:a="http://schemas.openxmlformats.org/drawingml/2006/main" prst="round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7CC4DD-C8FD-41C5-B953-B780B8C80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219075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6C4CF1"/>
          </a:solidFill>
          <a:ln xmlns:a="http://schemas.openxmlformats.org/drawingml/2006/main" w="9525">
            <a:solidFill>
              <a:srgbClr val="6C4C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  <a:latin typeface="Montserrat"/>
                <a:ea typeface="Montserrat"/>
                <a:cs typeface="Montserrat"/>
                <a:hlinkClick xmlns:r="http://schemas.openxmlformats.org/officeDocument/2006/relationships" r:id="R4060e70668244060"/>
              </a:rPr>
              <a:t>TEMPÉRATURE 0,1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D34DAC-18D3-470A-93E8-36E0A1F46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867400"/>
            <a:ext cx="200025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14213D"/>
          </a:solidFill>
          <a:ln xmlns:a="http://schemas.openxmlformats.org/drawingml/2006/main" w="9525">
            <a:solidFill>
              <a:srgbClr val="14213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  <a:latin typeface="Montserrat"/>
                <a:ea typeface="Montserrat"/>
                <a:cs typeface="Montserrat"/>
                <a:hlinkClick xmlns:r="http://schemas.openxmlformats.org/officeDocument/2006/relationships" r:id="Rb16ddbfed0564566"/>
              </a:rPr>
              <a:t>SOURCES DISTINCTES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ACE78E-8FE9-4E0A-866F-C725AE49F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5934075"/>
            <a:ext cx="6267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L’embedding retrouve ; le modèle de chat reformule. Les rôles sont séparés pour pouvoir les évaluer.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F4DD707-B146-44A8-BA8C-61218DF73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FB7550-1B4B-421B-900C-8732FF478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PROJET 7  •  PULS-EVENTS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B8B756-AC23-4573-84A6-9E316DE7C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1962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HUGO GAUBE</a:t>
            </a:r>
          </a:p>
        </p:txBody>
      </p:sp>
    </p:spTree>
    <p:extLst>
      <p:ext uri="{BB962C8B-B14F-4D97-AF65-F5344CB8AC3E}">
        <p14:creationId xmlns:p14="http://schemas.microsoft.com/office/powerpoint/2010/main" val="178463926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64FE70E-E595-4F3C-A9D2-F3D836918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585216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C4C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9C092F-2E19-452B-9ED9-19C017E19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4816" y="438150"/>
            <a:ext cx="329184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6DC2FB-2FF7-4211-9899-2B3D19B69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"/>
            <a:ext cx="304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B2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F73F7C-252D-4088-ACD4-68B2C8210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ARCHITECTURE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301E50-EC1B-45B1-A366-FC8F80CF9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62025"/>
            <a:ext cx="10782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2325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La chaîne RAG sépare préparation et réponse en ligne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EFE024-F5A8-42E8-8E79-85564467D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45720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C66644-1B1D-4886-9C36-16556E6D2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962150" cy="297180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2B4292-1DA1-4296-BACC-CF2C4E263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81250"/>
            <a:ext cx="5143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A49D5A-7192-44A9-9EBB-7EA22C5C3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90850"/>
            <a:ext cx="1581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1275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Collecter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001CD5-ECB9-4CF4-AC85-4CC03C08A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38550"/>
            <a:ext cx="15811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OpenAgenda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F12A90-2ED5-490A-A5A5-71FDBEA8A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006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F8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A3B9BD-43DA-4C2E-B425-036E4C474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5775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33BF82"/>
                </a:solidFill>
                <a:latin typeface="Montserrat"/>
                <a:ea typeface="Montserrat"/>
                <a:cs typeface="Montserrat"/>
              </a:defRPr>
            </a:pPr>
            <a:r>
              <a:rPr sz="1350" b="1">
                <a:solidFill>
                  <a:srgbClr val="33BF82"/>
                </a:solidFill>
                <a:latin typeface="Montserrat"/>
                <a:ea typeface="Montserrat"/>
                <a:cs typeface="Montserrat"/>
              </a:rPr>
              <a:t>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09BF44-03A7-4685-8734-B0CA011AC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171700"/>
            <a:ext cx="1962150" cy="297180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4B898E-91E6-451A-9962-7D4576D55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381250"/>
            <a:ext cx="5143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11DF00-D210-48F9-A024-AD5111D6C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990850"/>
            <a:ext cx="1581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1275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Nettoyer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A48A8E-5717-4AED-8A2C-A5ACA5E66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638550"/>
            <a:ext cx="15811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normaliser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FF1FCB-6094-47D0-A024-E493C7667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8006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F8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340A7E-AB55-4652-903A-9395CE07E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85775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33BF82"/>
                </a:solidFill>
                <a:latin typeface="Montserrat"/>
                <a:ea typeface="Montserrat"/>
                <a:cs typeface="Montserrat"/>
              </a:defRPr>
            </a:pPr>
            <a:r>
              <a:rPr sz="1350" b="1">
                <a:solidFill>
                  <a:srgbClr val="33BF82"/>
                </a:solidFill>
                <a:latin typeface="Montserrat"/>
                <a:ea typeface="Montserrat"/>
                <a:cs typeface="Montserrat"/>
              </a:rPr>
              <a:t>✓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81616C2-0181-4F5D-A322-BFEB96CE7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171700"/>
            <a:ext cx="1962150" cy="297180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9A9C6E-48DF-4DBD-880C-DCA43CD39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381250"/>
            <a:ext cx="5143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A624F4-FE49-4F0D-9158-47E72EECA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990850"/>
            <a:ext cx="1581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1275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Indexer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57CF10-34BA-4691-B76D-DEE6678FB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638550"/>
            <a:ext cx="15811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chunks + FAISS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5B9C5A4-E5D9-4F0E-9641-C4886A632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006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F8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7DDB49-9397-49F6-8DD8-A419D0F10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5775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33BF82"/>
                </a:solidFill>
                <a:latin typeface="Montserrat"/>
                <a:ea typeface="Montserrat"/>
                <a:cs typeface="Montserrat"/>
              </a:defRPr>
            </a:pPr>
            <a:r>
              <a:rPr sz="1350" b="1">
                <a:solidFill>
                  <a:srgbClr val="33BF82"/>
                </a:solidFill>
                <a:latin typeface="Montserrat"/>
                <a:ea typeface="Montserrat"/>
                <a:cs typeface="Montserrat"/>
              </a:rPr>
              <a:t>✓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1B05314-8623-4E9A-AB74-B6BF41FA8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171700"/>
            <a:ext cx="1962150" cy="297180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4BA288F-25F6-4B25-9571-98D241AAA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381250"/>
            <a:ext cx="5143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7A45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FF7A45"/>
                </a:solidFill>
                <a:latin typeface="Montserrat"/>
                <a:ea typeface="Montserrat"/>
                <a:cs typeface="Montserrat"/>
              </a:rPr>
              <a:t>04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1E36441-28D8-46F3-99BF-57612A580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990850"/>
            <a:ext cx="1581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1275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Rechercher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CBBB777-8460-44C6-A9B7-699DF9E99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638550"/>
            <a:ext cx="15811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top_k = 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3BC5E62-83EF-4B18-B21C-B65D0DD54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8006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F8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EDA76AC-3BCF-4AD3-8C5A-93CDFEB1F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85775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33BF82"/>
                </a:solidFill>
                <a:latin typeface="Montserrat"/>
                <a:ea typeface="Montserrat"/>
                <a:cs typeface="Montserrat"/>
              </a:defRPr>
            </a:pPr>
            <a:r>
              <a:rPr sz="1350" b="1">
                <a:solidFill>
                  <a:srgbClr val="33BF82"/>
                </a:solidFill>
                <a:latin typeface="Montserrat"/>
                <a:ea typeface="Montserrat"/>
                <a:cs typeface="Montserrat"/>
              </a:rPr>
              <a:t>✓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ABB2728-D41D-4F7F-867C-D92E0DD44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171700"/>
            <a:ext cx="1962150" cy="297180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14213D"/>
          </a:solidFill>
          <a:ln xmlns:a="http://schemas.openxmlformats.org/drawingml/2006/main" w="9525">
            <a:solidFill>
              <a:srgbClr val="14213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3FA535F-D5B2-4B8E-8774-C3A4BBA93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381250"/>
            <a:ext cx="5143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8A3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05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EAF4029-8314-4750-8B99-B54501AB0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990850"/>
            <a:ext cx="1581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1275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Répondre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A77E3E9-E945-4263-8A82-9B9227BF2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638550"/>
            <a:ext cx="15811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Mistral + sources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9406123-EED1-45CF-B507-6C167CF55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8006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B2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7B28A6E-7B26-469D-AF63-146253D38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85775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33BF82"/>
                </a:solidFill>
                <a:latin typeface="Montserrat"/>
                <a:ea typeface="Montserrat"/>
                <a:cs typeface="Montserrat"/>
              </a:defRPr>
            </a:pPr>
            <a:r>
              <a:rPr sz="1350" b="1">
                <a:solidFill>
                  <a:srgbClr val="33BF82"/>
                </a:solidFill>
                <a:latin typeface="Montserrat"/>
                <a:ea typeface="Montserrat"/>
                <a:cs typeface="Montserrat"/>
              </a:rPr>
              <a:t>✓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812FC89-9895-4649-83FE-C7F988674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Hors ligne : données → index.  En ligne : question → réponse sourcée.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6ED5D45-3687-4757-87D7-EDF2FD7A2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CD2431D-9C3E-411A-9FEB-480427AD2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PROJET 7  •  PULS-EVENTS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93316DE-19A4-43DA-A8F8-508780E6D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1962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HUGO GAUBE</a:t>
            </a:r>
          </a:p>
        </p:txBody>
      </p:sp>
    </p:spTree>
    <p:extLst>
      <p:ext uri="{BB962C8B-B14F-4D97-AF65-F5344CB8AC3E}">
        <p14:creationId xmlns:p14="http://schemas.microsoft.com/office/powerpoint/2010/main" val="141148533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083A931-C19F-45B8-B8EF-8EF019F11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585216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C4C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EF97DA-D80B-46DE-832C-7431631FB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4816" y="438150"/>
            <a:ext cx="329184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97D02D-FF39-4961-994C-C0BF436B9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"/>
            <a:ext cx="304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B2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085C0F-8A68-4438-A2DF-EACDBCB77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API DÉPLOYÉE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D5B4C7-4C0C-4974-A25C-2B1D26118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62025"/>
            <a:ext cx="10782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225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FastAPI expose le RAG comme un service testable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164D0F-B6C9-4F18-8429-EEE903BD0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45720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253913-DB2F-4AC9-95EC-1FBD4C4F7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33575"/>
            <a:ext cx="4095750" cy="37147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14213D"/>
          </a:solidFill>
          <a:ln xmlns:a="http://schemas.openxmlformats.org/drawingml/2006/main" w="9525">
            <a:solidFill>
              <a:srgbClr val="14213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4DD255-BE19-4AF6-9FF2-88D7546A5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90750"/>
            <a:ext cx="20955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C4CF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CONTRAT OPENAPI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74C2E9-2AC2-48AE-A002-E90EEA4BB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333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10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05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L’API est documentée dans Swagger. La capture à droite vient de l’instance locale réellement lancée.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DDAC37-E344-4835-84F3-9C7319E34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95750"/>
            <a:ext cx="6096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8A3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7A45"/>
                </a:solidFill>
                <a:latin typeface="Montserrat"/>
                <a:ea typeface="Montserrat"/>
                <a:cs typeface="Montserrat"/>
              </a:defRPr>
            </a:pPr>
            <a:r>
              <a:rPr sz="1125" b="1">
                <a:solidFill>
                  <a:srgbClr val="FF7A45"/>
                </a:solidFill>
                <a:latin typeface="Montserrat"/>
                <a:ea typeface="Montserrat"/>
                <a:cs typeface="Montserrat"/>
              </a:rPr>
              <a:t>GET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73E3BB-23B4-4E75-A03F-266A9DDA6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143375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/health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2CCED0-EDCB-4598-B762-B468EE68C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52950"/>
            <a:ext cx="6096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355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7A45"/>
                </a:solidFill>
                <a:latin typeface="Montserrat"/>
                <a:ea typeface="Montserrat"/>
                <a:cs typeface="Montserrat"/>
              </a:defRPr>
            </a:pPr>
            <a:r>
              <a:rPr sz="1125" b="1">
                <a:solidFill>
                  <a:srgbClr val="FF7A45"/>
                </a:solidFill>
                <a:latin typeface="Montserrat"/>
                <a:ea typeface="Montserrat"/>
                <a:cs typeface="Montserrat"/>
              </a:rPr>
              <a:t>POST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4E4BA5-3AF5-4A19-829C-0E4C2029E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600575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/ask + question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292CEB-7C11-4902-B6CE-FD629129F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10150"/>
            <a:ext cx="6096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355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7719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33BF82"/>
                </a:solidFill>
                <a:latin typeface="Montserrat"/>
                <a:ea typeface="Montserrat"/>
                <a:cs typeface="Montserrat"/>
              </a:defRPr>
            </a:pPr>
            <a:r>
              <a:rPr sz="1125" b="1">
                <a:solidFill>
                  <a:srgbClr val="33BF82"/>
                </a:solidFill>
                <a:latin typeface="Montserrat"/>
                <a:ea typeface="Montserrat"/>
                <a:cs typeface="Montserrat"/>
              </a:rPr>
              <a:t>ADMIN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2090C2-08CA-4976-BBF6-543BE4E88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057775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/rebuild protégé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B8A9C5-B90F-4EF3-A3DB-BB06EDD9A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933575"/>
            <a:ext cx="6572250" cy="37147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0fbf218463405b"/>
          <a:srcRect xmlns:a="http://schemas.openxmlformats.org/drawingml/2006/main" l="5000" t="0" r="500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60695" y="2085975"/>
            <a:ext cx="5471160" cy="3419475"/>
          </a:xfrm>
          <a:prstGeom xmlns:a="http://schemas.openxmlformats.org/drawingml/2006/main" prst="round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7CC4DD-C8FD-41C5-B953-B780B8C80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219075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6C4CF1"/>
          </a:solidFill>
          <a:ln xmlns:a="http://schemas.openxmlformats.org/drawingml/2006/main" w="9525">
            <a:solidFill>
              <a:srgbClr val="6C4C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  <a:latin typeface="Montserrat"/>
                <a:ea typeface="Montserrat"/>
                <a:cs typeface="Montserrat"/>
                <a:hlinkClick xmlns:r="http://schemas.openxmlformats.org/officeDocument/2006/relationships" r:id="R1186b270f0794084"/>
              </a:rPr>
              <a:t>DOCKER COMPOSE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D34DAC-18D3-470A-93E8-36E0A1F46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867400"/>
            <a:ext cx="200025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14213D"/>
          </a:solidFill>
          <a:ln xmlns:a="http://schemas.openxmlformats.org/drawingml/2006/main" w="9525">
            <a:solidFill>
              <a:srgbClr val="14213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  <a:latin typeface="Montserrat"/>
                <a:ea typeface="Montserrat"/>
                <a:cs typeface="Montserrat"/>
                <a:hlinkClick xmlns:r="http://schemas.openxmlformats.org/officeDocument/2006/relationships" r:id="R759438e076d242c5"/>
              </a:rPr>
              <a:t>SWAGGER /docs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ACE78E-8FE9-4E0A-866F-C725AE49F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5934075"/>
            <a:ext cx="6267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L’index est chargé au démarrage : l’usage courant ne relance ni l’ingestion ni l’indexation.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F4DD707-B146-44A8-BA8C-61218DF73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FB7550-1B4B-421B-900C-8732FF478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PROJET 7  •  PULS-EVENTS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B8B756-AC23-4573-84A6-9E316DE7C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1962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HUGO GAUBE</a:t>
            </a:r>
          </a:p>
        </p:txBody>
      </p:sp>
    </p:spTree>
    <p:extLst>
      <p:ext uri="{BB962C8B-B14F-4D97-AF65-F5344CB8AC3E}">
        <p14:creationId xmlns:p14="http://schemas.microsoft.com/office/powerpoint/2010/main" val="178463926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4213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5C8A7CB-C6F1-4A65-B4C2-5704A6BD6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676656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C4C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35607E-5989-4F75-A88A-BD6A4DEF7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6256" y="438150"/>
            <a:ext cx="380619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D1F135-B32B-4DFA-8CAE-C72311296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38150"/>
            <a:ext cx="3524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B2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2C15CD-4148-4D23-9A64-7F327BAFB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7A45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FF7A45"/>
                </a:solidFill>
                <a:latin typeface="Montserrat"/>
                <a:ea typeface="Montserrat"/>
                <a:cs typeface="Montserrat"/>
              </a:rPr>
              <a:t>DÉMONSTRATION CONTRÔLÉE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E18BD5-DD95-46A2-B499-D83F217E8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990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225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La démo vérifie une valeur et une limite métier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D622C5-A087-4D7C-942B-371FDEE41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2533650" cy="2343150"/>
          </a:xfrm>
          <a:prstGeom xmlns:a="http://schemas.openxmlformats.org/drawingml/2006/main" prst="roundRect">
            <a:avLst>
              <a:gd name="adj" fmla="val 8130"/>
            </a:avLst>
          </a:prstGeom>
          <a:solidFill xmlns:a="http://schemas.openxmlformats.org/drawingml/2006/main">
            <a:srgbClr val="243558"/>
          </a:solidFill>
          <a:ln xmlns:a="http://schemas.openxmlformats.org/drawingml/2006/main" w="9525">
            <a:solidFill>
              <a:srgbClr val="3A4A6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2EFF6D-7ACC-444E-AA1E-16C8A573E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57450"/>
            <a:ext cx="5143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8A3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7A45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FF7A45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193623-E6D7-473B-A8CC-B13D1F76F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289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12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HEALTH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B91188-ED23-42DB-B8DA-860BF6EB9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8140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index chargé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service prêt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CC697E-D433-4A44-B109-10A5B8D3C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247900"/>
            <a:ext cx="2533650" cy="2343150"/>
          </a:xfrm>
          <a:prstGeom xmlns:a="http://schemas.openxmlformats.org/drawingml/2006/main" prst="roundRect">
            <a:avLst>
              <a:gd name="adj" fmla="val 8130"/>
            </a:avLst>
          </a:prstGeom>
          <a:solidFill xmlns:a="http://schemas.openxmlformats.org/drawingml/2006/main">
            <a:srgbClr val="243558"/>
          </a:solidFill>
          <a:ln xmlns:a="http://schemas.openxmlformats.org/drawingml/2006/main" w="9525">
            <a:solidFill>
              <a:srgbClr val="3A4A6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C88A80-BA23-49CC-A337-0438655AD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457450"/>
            <a:ext cx="5143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C4CF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2A1D0F-37A0-4B15-862F-0D673A46E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0289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12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PARIS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AD5011-C6F5-4ADF-9784-6CA6F66F3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58140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Concert Fishers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+ 4 sources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92ACB4-A017-4131-AA3D-F26614916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247900"/>
            <a:ext cx="2533650" cy="2343150"/>
          </a:xfrm>
          <a:prstGeom xmlns:a="http://schemas.openxmlformats.org/drawingml/2006/main" prst="roundRect">
            <a:avLst>
              <a:gd name="adj" fmla="val 8130"/>
            </a:avLst>
          </a:prstGeom>
          <a:solidFill xmlns:a="http://schemas.openxmlformats.org/drawingml/2006/main">
            <a:srgbClr val="243558"/>
          </a:solidFill>
          <a:ln xmlns:a="http://schemas.openxmlformats.org/drawingml/2006/main" w="9525">
            <a:solidFill>
              <a:srgbClr val="3A4A6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514561-6B70-4685-8444-2B88E7B2B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57450"/>
            <a:ext cx="5143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B27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33BF82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33BF82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B7DA6B-21FE-4564-B4B6-F01B0D72C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0289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12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LYON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AD2F24-A262-4594-8F71-9A1A3D85C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58140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corpus Paris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« Je ne sais pas »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3C952E-73EF-4F5C-8A30-CFE15D59B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247900"/>
            <a:ext cx="2533650" cy="2343150"/>
          </a:xfrm>
          <a:prstGeom xmlns:a="http://schemas.openxmlformats.org/drawingml/2006/main" prst="roundRect">
            <a:avLst>
              <a:gd name="adj" fmla="val 8130"/>
            </a:avLst>
          </a:prstGeom>
          <a:solidFill xmlns:a="http://schemas.openxmlformats.org/drawingml/2006/main">
            <a:srgbClr val="243558"/>
          </a:solidFill>
          <a:ln xmlns:a="http://schemas.openxmlformats.org/drawingml/2006/main" w="9525">
            <a:solidFill>
              <a:srgbClr val="3A4A6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CAF2E3-0947-43BE-BB7B-7E799781F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457450"/>
            <a:ext cx="5143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1B0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7A45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FF7A45"/>
                </a:solidFill>
                <a:latin typeface="Montserrat"/>
                <a:ea typeface="Montserrat"/>
                <a:cs typeface="Montserrat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6F70BC-CB57-483E-B045-FBD0DB924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289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12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LATENCE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08198A-C23E-4EC7-AA89-8238AEF0B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58140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démo complète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≈ 3 secondes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8D13D4-F881-4F90-BDBE-353AF218C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200025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6C4CF1"/>
          </a:solidFill>
          <a:ln xmlns:a="http://schemas.openxmlformats.org/drawingml/2006/main" w="9525">
            <a:solidFill>
              <a:srgbClr val="6C4C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  <a:latin typeface="Montserrat"/>
                <a:ea typeface="Montserrat"/>
                <a:cs typeface="Montserrat"/>
                <a:hlinkClick xmlns:r="http://schemas.openxmlformats.org/officeDocument/2006/relationships" r:id="R1002320bc2b04cd8"/>
              </a:rPr>
              <a:t>API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B64FE0-7128-4A02-9E72-C59A5BAF8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5048250"/>
            <a:ext cx="180975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243558"/>
          </a:solidFill>
          <a:ln xmlns:a="http://schemas.openxmlformats.org/drawingml/2006/main" w="9525">
            <a:solidFill>
              <a:srgbClr val="24355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  <a:latin typeface="Montserrat"/>
                <a:ea typeface="Montserrat"/>
                <a:cs typeface="Montserrat"/>
                <a:hlinkClick xmlns:r="http://schemas.openxmlformats.org/officeDocument/2006/relationships" r:id="R9697debca81842ce"/>
              </a:rPr>
              <a:t>SOURCES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67752A1-F1F3-4A3C-880B-3504E3F1B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048250"/>
            <a:ext cx="200025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2FB274"/>
          </a:solidFill>
          <a:ln xmlns:a="http://schemas.openxmlformats.org/drawingml/2006/main" w="9525">
            <a:solidFill>
              <a:srgbClr val="2FB27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  <a:latin typeface="Montserrat"/>
                <a:ea typeface="Montserrat"/>
                <a:cs typeface="Montserrat"/>
                <a:hlinkClick xmlns:r="http://schemas.openxmlformats.org/officeDocument/2006/relationships" r:id="R6267e6adce514204"/>
              </a:rPr>
              <a:t>PRUDENCE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D3022C1-07CE-4EE1-962F-CC43D8549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5048250"/>
            <a:ext cx="180975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243558"/>
          </a:solidFill>
          <a:ln xmlns:a="http://schemas.openxmlformats.org/drawingml/2006/main" w="9525">
            <a:solidFill>
              <a:srgbClr val="24355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  <a:latin typeface="Montserrat"/>
                <a:ea typeface="Montserrat"/>
                <a:cs typeface="Montserrat"/>
                <a:hlinkClick xmlns:r="http://schemas.openxmlformats.org/officeDocument/2006/relationships" r:id="Ra0d036a237fd45c1"/>
              </a:rPr>
              <a:t>DOCKER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2BF6829-5041-44FA-B8A1-F50715A95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5048250"/>
            <a:ext cx="2647950" cy="723900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FFF0E6"/>
          </a:solidFill>
          <a:ln xmlns:a="http://schemas.openxmlformats.org/drawingml/2006/main" w="9525">
            <a:solidFill>
              <a:srgbClr val="FFF0E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714A2B0-7F5C-401A-9971-C36F7BDAF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181600"/>
            <a:ext cx="2228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Retour attendu → tests et évaluation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497BF56-1BE6-4E90-9A0D-4217CE045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Je montre volontairement un cas Paris sourcé et un cas Lyon hors périmètre : pas seulement un exemple favorable.</a:t>
            </a:r>
          </a:p>
        </p:txBody>
      </p:sp>
    </p:spTree>
    <p:extLst>
      <p:ext uri="{BB962C8B-B14F-4D97-AF65-F5344CB8AC3E}">
        <p14:creationId xmlns:p14="http://schemas.microsoft.com/office/powerpoint/2010/main" val="11415066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36FFF29-02D1-44DB-B15E-3C219737C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585216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C4C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02D06A-63EF-4FBA-9F5E-F8831BDBD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4816" y="438150"/>
            <a:ext cx="329184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A4B2B8-434C-493C-9F7A-C18E8969A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"/>
            <a:ext cx="304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B2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5D973C-965A-4F43-9271-DB3D063CC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STRATÉGIE DE QUALITÉ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885DE1-943E-4F5C-BCAF-995AC98E0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62025"/>
            <a:ext cx="10782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2325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59 tests protègent les comportements critiques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19C4B8-BF29-4540-BF40-F82765D96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45720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D98E8B-388B-4CB0-9A68-EBBF6F2E0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6477000" cy="685800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ACFA5F-2434-44F1-A050-8A45EFA12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86000"/>
            <a:ext cx="14287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C4CF1">
              <a:alpha val="13333"/>
            </a:srgbClr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INGESTION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C2F78A-6FCC-4950-9E61-C75B6CD0D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314575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90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pagination</a:t>
            </a:r>
          </a:p>
          <a:p xmlns:a="http://schemas.openxmlformats.org/drawingml/2006/main">
            <a:pPr algn="l">
              <a:buNone/>
              <a:defRPr sz="90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90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nettoyage · filtres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09DC9F-9108-46A8-B56D-359C4115B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66950"/>
            <a:ext cx="495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33BF82"/>
                </a:solidFill>
                <a:latin typeface="Montserrat"/>
                <a:ea typeface="Montserrat"/>
                <a:cs typeface="Montserrat"/>
              </a:defRPr>
            </a:pPr>
            <a:r>
              <a:rPr sz="1350" b="1">
                <a:solidFill>
                  <a:srgbClr val="33BF82"/>
                </a:solidFill>
                <a:latin typeface="Montserrat"/>
                <a:ea typeface="Montserrat"/>
                <a:cs typeface="Montserrat"/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01EBA1-B08F-43F8-8C6F-ED37B9A35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62275"/>
            <a:ext cx="6477000" cy="685800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4CF8F3-1951-4FF2-8234-7F746E0B8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52775"/>
            <a:ext cx="14287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8A3D">
              <a:alpha val="13333"/>
            </a:srgbClr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7A45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FF7A45"/>
                </a:solidFill>
                <a:latin typeface="Montserrat"/>
                <a:ea typeface="Montserrat"/>
                <a:cs typeface="Montserrat"/>
              </a:rPr>
              <a:t>INDEX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DE86F8-0B25-489A-A8B9-06F09F4B6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181350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90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chunks</a:t>
            </a:r>
          </a:p>
          <a:p xmlns:a="http://schemas.openxmlformats.org/drawingml/2006/main">
            <a:pPr algn="l">
              <a:buNone/>
              <a:defRPr sz="90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90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FAISS · métadonnées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FBD5F0-852F-4F3E-BF57-CFC896DD5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133725"/>
            <a:ext cx="495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33BF82"/>
                </a:solidFill>
                <a:latin typeface="Montserrat"/>
                <a:ea typeface="Montserrat"/>
                <a:cs typeface="Montserrat"/>
              </a:defRPr>
            </a:pPr>
            <a:r>
              <a:rPr sz="1350" b="1">
                <a:solidFill>
                  <a:srgbClr val="33BF82"/>
                </a:solidFill>
                <a:latin typeface="Montserrat"/>
                <a:ea typeface="Montserrat"/>
                <a:cs typeface="Montserrat"/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48CF74-2375-40FE-AAF5-1E7068E9A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6477000" cy="685800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5E5DCB-1BD9-4FC5-846A-48B15FBDD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19550"/>
            <a:ext cx="14287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B274">
              <a:alpha val="13333"/>
            </a:srgbClr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33BF82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33BF82"/>
                </a:solidFill>
                <a:latin typeface="Montserrat"/>
                <a:ea typeface="Montserrat"/>
                <a:cs typeface="Montserrat"/>
              </a:rPr>
              <a:t>API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BB7B87-87D2-4E19-9F7E-51B91F9A5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048125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90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health</a:t>
            </a:r>
          </a:p>
          <a:p xmlns:a="http://schemas.openxmlformats.org/drawingml/2006/main">
            <a:pPr algn="l">
              <a:buNone/>
              <a:defRPr sz="90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90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ask · erreurs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930378-BC1D-410F-A821-DB41242F1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00500"/>
            <a:ext cx="495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33BF82"/>
                </a:solidFill>
                <a:latin typeface="Montserrat"/>
                <a:ea typeface="Montserrat"/>
                <a:cs typeface="Montserrat"/>
              </a:defRPr>
            </a:pPr>
            <a:r>
              <a:rPr sz="1350" b="1">
                <a:solidFill>
                  <a:srgbClr val="33BF82"/>
                </a:solidFill>
                <a:latin typeface="Montserrat"/>
                <a:ea typeface="Montserrat"/>
                <a:cs typeface="Montserrat"/>
              </a:rPr>
              <a:t>✓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1F6D8A-7023-442D-AF47-C8A8C201B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95825"/>
            <a:ext cx="6477000" cy="685800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13DD06-CDEB-4086-A627-D5BC32598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86325"/>
            <a:ext cx="14287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1B0FF">
              <a:alpha val="13333"/>
            </a:srgbClr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ÉVALUATION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7A0F9D-C269-493E-85EB-19D88B4A1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914900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90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jeu annoté</a:t>
            </a:r>
          </a:p>
          <a:p xmlns:a="http://schemas.openxmlformats.org/drawingml/2006/main">
            <a:pPr algn="l">
              <a:buNone/>
              <a:defRPr sz="90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90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RAGAS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946D60-B96A-4415-94C0-FCCCCAFE5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867275"/>
            <a:ext cx="495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33BF82"/>
                </a:solidFill>
                <a:latin typeface="Montserrat"/>
                <a:ea typeface="Montserrat"/>
                <a:cs typeface="Montserrat"/>
              </a:defRPr>
            </a:pPr>
            <a:r>
              <a:rPr sz="1350" b="1">
                <a:solidFill>
                  <a:srgbClr val="33BF82"/>
                </a:solidFill>
                <a:latin typeface="Montserrat"/>
                <a:ea typeface="Montserrat"/>
                <a:cs typeface="Montserrat"/>
              </a:rPr>
              <a:t>✓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5D235D7-E697-4A6C-A839-FEF16F662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095500"/>
            <a:ext cx="4095750" cy="3286125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14213D"/>
          </a:solidFill>
          <a:ln xmlns:a="http://schemas.openxmlformats.org/drawingml/2006/main" w="9525">
            <a:solidFill>
              <a:srgbClr val="14213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2C2024F-53A5-4504-BD85-D03C7A312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628900"/>
            <a:ext cx="3143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285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59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BC7D63-D9B1-47B6-9766-7B443DD65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7338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97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tests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4BC1996-836C-4F8F-889C-6014D4D16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391025"/>
            <a:ext cx="2952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486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4FEA3A5-C9B7-4F9F-B60D-DFF708C84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391025"/>
            <a:ext cx="2867025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B2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50357B7-948C-4557-B089-4A21D3075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810125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7234C"/>
                </a:solidFill>
                <a:latin typeface="Noto Sans Mono"/>
                <a:ea typeface="Noto Sans Mono"/>
                <a:cs typeface="Noto Sans Mono"/>
              </a:defRPr>
            </a:pPr>
            <a:r>
              <a:rPr sz="900" b="1">
                <a:solidFill>
                  <a:srgbClr val="17234C"/>
                </a:solidFill>
                <a:latin typeface="Noto Sans Mono"/>
                <a:ea typeface="Noto Sans Mono"/>
                <a:cs typeface="Noto Sans Mono"/>
              </a:rPr>
              <a:t>LIVRÉ · pytest passe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CF71EF3-E5E7-4EA9-B059-BD8318843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4953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9525">
            <a:solidFill>
              <a:srgbClr val="EEEAF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005B64F-F80E-44C5-A3DC-37E19A18B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57875"/>
            <a:ext cx="10515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CI/CD proposée : à chaque push, tests → image Docker → healthcheck → rapport. Elle n’est pas implémentée dans le POC.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38319EA-8E7A-4C5F-9990-9FC2A4C71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30EFEAD-D965-4881-924F-F1C991333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PROJET 7  •  PULS-EVENTS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28570D3-6C97-4F39-901A-3D58368EE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1962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HUGO GAUBE</a:t>
            </a:r>
          </a:p>
        </p:txBody>
      </p:sp>
    </p:spTree>
    <p:extLst>
      <p:ext uri="{BB962C8B-B14F-4D97-AF65-F5344CB8AC3E}">
        <p14:creationId xmlns:p14="http://schemas.microsoft.com/office/powerpoint/2010/main" val="176407757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2234156-CD1C-4E7B-AECE-AF8BD0147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585216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C4C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DF622F-53E9-417B-80CE-33E2A5E4B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4816" y="438150"/>
            <a:ext cx="329184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996663-505C-4C83-98C2-141B439A0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"/>
            <a:ext cx="304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B2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C07B8A-99CB-4F46-8426-BDF991FEB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ÉVALUATION RAGAS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A251EB-1FC7-434F-BF54-D7C25C30A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62025"/>
            <a:ext cx="10782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2325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RAGAS me dit où améliorer la réponse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A38E2A-3319-4DA1-A7B0-B942558DF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45720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EB6776-A6A7-4B1F-8472-2CDF495EC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203835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142654-B2B3-4B68-B874-5EEAE1288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B2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F877FA-6689-49E6-A80F-DEDF8A279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90750"/>
            <a:ext cx="1657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33BF82"/>
                </a:solidFill>
                <a:latin typeface="Montserrat"/>
                <a:ea typeface="Montserrat"/>
                <a:cs typeface="Montserrat"/>
              </a:defRPr>
            </a:pPr>
            <a:r>
              <a:rPr sz="1875" b="1">
                <a:solidFill>
                  <a:srgbClr val="33BF82"/>
                </a:solidFill>
                <a:latin typeface="Montserrat"/>
                <a:ea typeface="Montserrat"/>
                <a:cs typeface="Montserrat"/>
              </a:rPr>
              <a:t>0,900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F99D37-5156-49E1-8D61-D9BEDC652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67000"/>
            <a:ext cx="1657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90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fidélité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D0ADF8-87A4-4882-9F0B-8E3F98BA6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038350"/>
            <a:ext cx="203835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F9C8CA-5ACD-4674-AEB6-AD95F07F7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03835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C4C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89493C-55DE-45DE-B1F2-72CE25AC7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190750"/>
            <a:ext cx="1657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1875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0,846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2C865D-1A1A-44AF-A053-9F58CB684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667000"/>
            <a:ext cx="1657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90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pertinence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A37480-163C-46C5-8F15-2E0B6DB8C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038350"/>
            <a:ext cx="203835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42FC29-310A-458E-AD49-78F8A389F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03835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72C560-A606-46A9-B4C8-D350A53B5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190750"/>
            <a:ext cx="1657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7A45"/>
                </a:solidFill>
                <a:latin typeface="Montserrat"/>
                <a:ea typeface="Montserrat"/>
                <a:cs typeface="Montserrat"/>
              </a:defRPr>
            </a:pPr>
            <a:r>
              <a:rPr sz="1875" b="1">
                <a:solidFill>
                  <a:srgbClr val="FF7A45"/>
                </a:solidFill>
                <a:latin typeface="Montserrat"/>
                <a:ea typeface="Montserrat"/>
                <a:cs typeface="Montserrat"/>
              </a:rPr>
              <a:t>1,000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AED187-9E1C-4C26-B72A-E385CAC78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667000"/>
            <a:ext cx="1657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90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contexte utile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C66719-B82B-4D91-8F32-CADED2E28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6534150" cy="245745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EA4918-10A3-4B96-9D03-D3725FDB9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004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1275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Entrées RAGAS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56D46A-0AE8-48A8-801F-CE427DC24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95750"/>
            <a:ext cx="58293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193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125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3 cas factuels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62708A"/>
                </a:solidFill>
                <a:latin typeface="Noto Sans"/>
                <a:ea typeface="Noto Sans"/>
                <a:cs typeface="Noto Sans"/>
              </a:defRPr>
            </a:pPr>
            <a:r>
              <a:rPr sz="1500" b="1">
                <a:solidFill>
                  <a:srgbClr val="62708A"/>
                </a:solidFill>
                <a:latin typeface="Noto Sans"/>
                <a:ea typeface="Noto Sans"/>
                <a:cs typeface="Noto Sans"/>
              </a:rPr>
              <a:t/>
            </a:r>
          </a:p>
          <a:p xmlns:a="http://schemas.openxmlformats.org/drawingml/2006/main">
            <a:pPr algn="l">
              <a:buNone/>
              <a:defRPr sz="1125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125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question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125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+ contextes récupérés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125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+ réponse générée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125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+ référence humaine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9009CC-3C57-4803-BA04-230471E2A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19700"/>
            <a:ext cx="20955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8F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33BF82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33BF82"/>
                </a:solidFill>
                <a:latin typeface="Montserrat"/>
                <a:ea typeface="Montserrat"/>
                <a:cs typeface="Montserrat"/>
              </a:rPr>
              <a:t>BON CONTEXTE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657C91-BAC9-4CD1-B41A-AA44C440B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219700"/>
            <a:ext cx="20383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RÉPONSE ANCRÉE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35244EC-6D87-418A-BB7A-B0A67C367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5219700"/>
            <a:ext cx="16192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7A45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FF7A45"/>
                </a:solidFill>
                <a:latin typeface="Montserrat"/>
                <a:ea typeface="Montserrat"/>
                <a:cs typeface="Montserrat"/>
              </a:rPr>
              <a:t>3 CAS · SIGNAL INITIAL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1977CE7-6C53-49BC-BCE2-33870E34D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038350"/>
            <a:ext cx="4095750" cy="3752850"/>
          </a:xfrm>
          <a:prstGeom xmlns:a="http://schemas.openxmlformats.org/drawingml/2006/main" prst="roundRect">
            <a:avLst>
              <a:gd name="adj" fmla="val 5584"/>
            </a:avLst>
          </a:prstGeom>
          <a:solidFill xmlns:a="http://schemas.openxmlformats.org/drawingml/2006/main">
            <a:srgbClr val="14213D"/>
          </a:solidFill>
          <a:ln xmlns:a="http://schemas.openxmlformats.org/drawingml/2006/main" w="9525">
            <a:solidFill>
              <a:srgbClr val="14213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3207B0-4E43-45DA-9E6E-5E0059688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362200"/>
            <a:ext cx="3371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PRIORITÉ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222B25-B695-492A-8F99-B8C82FD33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838450"/>
            <a:ext cx="3371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70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27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0,683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83539F5-68E6-4CD5-81AD-112044566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752850"/>
            <a:ext cx="3371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1125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correction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7E84A95-8AFC-48B9-A4E1-CB85AAA7E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362450"/>
            <a:ext cx="31051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486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29F429C-DB31-414E-A435-59F4C9CEB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362450"/>
            <a:ext cx="1943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F79C2F7-E679-484A-AAB6-8FBA01B6F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267200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243FA05-E596-4A5A-A09C-3C297782C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705350"/>
            <a:ext cx="1295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5965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FFFF"/>
                </a:solidFill>
                <a:latin typeface="Noto Sans Mono"/>
                <a:ea typeface="Noto Sans Mono"/>
                <a:cs typeface="Noto Sans Mono"/>
              </a:defRPr>
            </a:pPr>
            <a:r>
              <a:rPr sz="975" b="1">
                <a:solidFill>
                  <a:srgbClr val="FFFFFF"/>
                </a:solidFill>
                <a:latin typeface="Noto Sans Mono"/>
                <a:ea typeface="Noto Sans Mono"/>
                <a:cs typeface="Noto Sans Mono"/>
              </a:rPr>
              <a:t>→ structurer la réponse</a:t>
            </a:r>
          </a:p>
          <a:p xmlns:a="http://schemas.openxmlformats.org/drawingml/2006/main">
            <a:pPr algn="ctr">
              <a:buNone/>
              <a:defRPr sz="975" b="1">
                <a:solidFill>
                  <a:srgbClr val="FFFFFF"/>
                </a:solidFill>
                <a:latin typeface="Noto Sans Mono"/>
                <a:ea typeface="Noto Sans Mono"/>
                <a:cs typeface="Noto Sans Mono"/>
              </a:defRPr>
            </a:pPr>
            <a:r>
              <a:rPr sz="975" b="1">
                <a:solidFill>
                  <a:srgbClr val="FFFFFF"/>
                </a:solidFill>
                <a:latin typeface="Noto Sans Mono"/>
                <a:ea typeface="Noto Sans Mono"/>
                <a:cs typeface="Noto Sans Mono"/>
              </a:rPr>
              <a:t>→ élargir le benchmark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3576E6-F7A0-4AB2-ADA0-C18581A72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200650"/>
            <a:ext cx="28003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C4CF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82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PAS UNE PERFORMANCE GÉNÉRALE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DA30AAD-3B8E-468D-9B16-6B5CE652A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1149FC8-143A-49A2-983F-0E73B8C4A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PROJET 7  •  PULS-EVENTS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909C2D2-A68D-4518-9D05-B5964B98C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1962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HUGO GAUBE</a:t>
            </a:r>
          </a:p>
        </p:txBody>
      </p:sp>
    </p:spTree>
    <p:extLst>
      <p:ext uri="{BB962C8B-B14F-4D97-AF65-F5344CB8AC3E}">
        <p14:creationId xmlns:p14="http://schemas.microsoft.com/office/powerpoint/2010/main" val="101659216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FE2AE98-6F84-44BC-AEF6-94F336149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585216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C4C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AC6DE8-E8BC-41D7-A298-6E964A66B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4816" y="438150"/>
            <a:ext cx="329184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1BBB18-4384-4816-B575-F0F9952AE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"/>
            <a:ext cx="304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B2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EC2AE5-A915-4A74-97A2-97DBAFB98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LIMITES ET SUITE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3726A3-6712-4EE2-B19B-BE01B0BBA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62025"/>
            <a:ext cx="10782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2325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Les limites sont connues, donc pilotables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47CF83-5612-44E7-9CFC-7D48D922D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45720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8AF4B9-1172-416D-8643-DAA81AC0F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3352800" cy="3371850"/>
          </a:xfrm>
          <a:prstGeom xmlns:a="http://schemas.openxmlformats.org/drawingml/2006/main" prst="roundRect">
            <a:avLst>
              <a:gd name="adj" fmla="val 51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2CDB16-CE54-47D0-82ED-49C4AA0AE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05050"/>
            <a:ext cx="12192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7A45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FF7A45"/>
                </a:solidFill>
                <a:latin typeface="Montserrat"/>
                <a:ea typeface="Montserrat"/>
                <a:cs typeface="Montserrat"/>
              </a:rPr>
              <a:t>DONNÉES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789801-853B-4488-AF31-8934786E3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14650"/>
            <a:ext cx="28956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1125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Paris uniquement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1125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snapshot figé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E13440-1BD0-40DA-9B19-102209E3F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62400"/>
            <a:ext cx="289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4DFFC3-7A6D-47AE-8060-64110A3AA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2910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825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PROCHAINE ÉTAPE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70AA9B-B5A8-429A-A4B4-02E7E27AE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91050"/>
            <a:ext cx="2895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collecte planifiée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+ multi-villes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0C1E56-F4A9-4C73-BB9B-38E0C8903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076450"/>
            <a:ext cx="3352800" cy="3371850"/>
          </a:xfrm>
          <a:prstGeom xmlns:a="http://schemas.openxmlformats.org/drawingml/2006/main" prst="roundRect">
            <a:avLst>
              <a:gd name="adj" fmla="val 51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0887CF-6601-4072-9FFB-62C7D1DFF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305050"/>
            <a:ext cx="12192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7A45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FF7A45"/>
                </a:solidFill>
                <a:latin typeface="Montserrat"/>
                <a:ea typeface="Montserrat"/>
                <a:cs typeface="Montserrat"/>
              </a:rPr>
              <a:t>RECHERCHE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7148D3-37CD-4256-AF80-F0F944A01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914650"/>
            <a:ext cx="28956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1125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chunks et top_k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1125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à calibrer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5B9C4E-B2BE-47B2-8EE3-BE230A798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962400"/>
            <a:ext cx="289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28A3EE-1B65-4600-99F2-9DB0CC743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22910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825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PROCHAINE ÉTAPE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D225BC-C8F3-4F5D-B2E5-6062133CB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591050"/>
            <a:ext cx="2895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benchmark large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+ seuil métier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A41203-4F7F-4165-8A5E-62251B7C1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76450"/>
            <a:ext cx="3352800" cy="3371850"/>
          </a:xfrm>
          <a:prstGeom xmlns:a="http://schemas.openxmlformats.org/drawingml/2006/main" prst="roundRect">
            <a:avLst>
              <a:gd name="adj" fmla="val 51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BD3045-8CD9-4482-83CD-2DDD7358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305050"/>
            <a:ext cx="12192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7A45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FF7A45"/>
                </a:solidFill>
                <a:latin typeface="Montserrat"/>
                <a:ea typeface="Montserrat"/>
                <a:cs typeface="Montserrat"/>
              </a:rPr>
              <a:t>EXPLOITATION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9B3343-7321-4699-9BD9-5AB2EA768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914650"/>
            <a:ext cx="28956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1125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FAISS local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1125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instance unique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27ED06-BDEB-4445-86CF-42B390322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962400"/>
            <a:ext cx="289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0C0ED5F-70E1-4D32-A55B-6EC3A4F3C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22910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825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PROCHAINE ÉTAPE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84040EC-FF7B-4491-B79F-BF2DD2ED0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591050"/>
            <a:ext cx="2895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logs · sécurité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charge · alertes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AABA9EF-4277-4655-9CEC-1F57A89A6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791200"/>
            <a:ext cx="73152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4213D"/>
          </a:solidFill>
          <a:ln xmlns:a="http://schemas.openxmlformats.org/drawingml/2006/main" w="9525">
            <a:solidFill>
              <a:srgbClr val="14213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E1BCD00-E69F-4BF0-BC09-F66F5FE81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905500"/>
            <a:ext cx="689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Le POC prouve la faisabilité. Ces trois chantiers conditionnent un déploiement élargi.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C87A1B1-CF9B-4774-8B4E-8F163142C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15C1770-29F0-4AE5-99A6-B89B6E03F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PROJET 7  •  PULS-EVENTS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363508A-FAE1-42AC-A5C0-6E030DAB3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1962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HUGO GAUBE</a:t>
            </a:r>
          </a:p>
        </p:txBody>
      </p:sp>
    </p:spTree>
    <p:extLst>
      <p:ext uri="{BB962C8B-B14F-4D97-AF65-F5344CB8AC3E}">
        <p14:creationId xmlns:p14="http://schemas.microsoft.com/office/powerpoint/2010/main" val="156059475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4213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CEDC87F-1928-4F6A-B5B5-BE8A6903B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804672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C4C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B8F9A6-071A-41A6-999D-9FFD9A230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4272" y="457200"/>
            <a:ext cx="452628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98D588-EA10-4383-9934-656A4667F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57200"/>
            <a:ext cx="4191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B2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977BBC-917C-4CF2-AD7D-4B130B398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7A45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FF7A45"/>
                </a:solidFill>
                <a:latin typeface="Montserrat"/>
                <a:ea typeface="Montserrat"/>
                <a:cs typeface="Montserrat"/>
              </a:rPr>
              <a:t>CONCLUSION POUR JÉRÉMY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DB0AD8-9AF5-4FCF-86FB-0BED45F62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6858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40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24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Le POC est démontrable.</a:t>
            </a:r>
          </a:p>
          <a:p xmlns:a="http://schemas.openxmlformats.org/drawingml/2006/main">
            <a:pPr algn="l">
              <a:lnSpc>
                <a:spcPct val="94000"/>
              </a:lnSpc>
              <a:buNone/>
              <a:defRPr sz="240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24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La suite est mesurée.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E9CE0D-3F1D-42E3-A7CE-1EE554C8A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B2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FD726C-406D-4511-BEF5-194C16CAC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323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33BF82"/>
                </a:solidFill>
                <a:latin typeface="Noto Sans"/>
                <a:ea typeface="Noto Sans"/>
                <a:cs typeface="Noto Sans"/>
              </a:defRPr>
            </a:pPr>
            <a:r>
              <a:rPr sz="1350" b="1">
                <a:solidFill>
                  <a:srgbClr val="33BF82"/>
                </a:solidFill>
                <a:latin typeface="Noto Sans"/>
                <a:ea typeface="Noto Sans"/>
                <a:cs typeface="Noto Sans"/>
              </a:rPr>
              <a:t>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08FDA2-9E12-4332-86B3-B26FE5E93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18135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1125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Données réelles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15CB68-B297-45D2-80AD-A9EB8FD8D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432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B2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1C806A-889E-42E6-83BE-4D6C474AD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81350"/>
            <a:ext cx="323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33BF82"/>
                </a:solidFill>
                <a:latin typeface="Noto Sans"/>
                <a:ea typeface="Noto Sans"/>
                <a:cs typeface="Noto Sans"/>
              </a:defRPr>
            </a:pPr>
            <a:r>
              <a:rPr sz="1350" b="1">
                <a:solidFill>
                  <a:srgbClr val="33BF82"/>
                </a:solidFill>
                <a:latin typeface="Noto Sans"/>
                <a:ea typeface="Noto Sans"/>
                <a:cs typeface="Noto Sans"/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193168-16EF-4D04-B261-74C60403C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18135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1125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RAG + API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D74869-E621-42D7-B2E2-2E21226D0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1432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B2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39F40C-0632-4B92-8C00-3685254DF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181350"/>
            <a:ext cx="323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33BF82"/>
                </a:solidFill>
                <a:latin typeface="Noto Sans"/>
                <a:ea typeface="Noto Sans"/>
                <a:cs typeface="Noto Sans"/>
              </a:defRPr>
            </a:pPr>
            <a:r>
              <a:rPr sz="1350" b="1">
                <a:solidFill>
                  <a:srgbClr val="33BF82"/>
                </a:solidFill>
                <a:latin typeface="Noto Sans"/>
                <a:ea typeface="Noto Sans"/>
                <a:cs typeface="Noto Sans"/>
              </a:rPr>
              <a:t>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E66186-AEB9-4084-ABE6-0293084C3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18135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1125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59 tests + RAGAS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5D8D1C-51E0-4BFC-B394-BCF8391E4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B2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BAD70D-F844-4759-8861-26EE2F7A5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323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33BF82"/>
                </a:solidFill>
                <a:latin typeface="Noto Sans"/>
                <a:ea typeface="Noto Sans"/>
                <a:cs typeface="Noto Sans"/>
              </a:defRPr>
            </a:pPr>
            <a:r>
              <a:rPr sz="1350" b="1">
                <a:solidFill>
                  <a:srgbClr val="33BF82"/>
                </a:solidFill>
                <a:latin typeface="Noto Sans"/>
                <a:ea typeface="Noto Sans"/>
                <a:cs typeface="Noto Sans"/>
              </a:rPr>
              <a:t>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6609FE-59EE-4FA4-BEC8-1F6B43FE7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88620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1125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Docker + démo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A7518F-66B7-4678-AFD3-61F61AD92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481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B2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B797DA-EECB-4634-9E64-9B87B7ED8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86200"/>
            <a:ext cx="323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33BF82"/>
                </a:solidFill>
                <a:latin typeface="Noto Sans"/>
                <a:ea typeface="Noto Sans"/>
                <a:cs typeface="Noto Sans"/>
              </a:defRPr>
            </a:pPr>
            <a:r>
              <a:rPr sz="1350" b="1">
                <a:solidFill>
                  <a:srgbClr val="33BF82"/>
                </a:solidFill>
                <a:latin typeface="Noto Sans"/>
                <a:ea typeface="Noto Sans"/>
                <a:cs typeface="Noto Sans"/>
              </a:rPr>
              <a:t>✓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E6DEC2-ECC2-49DC-920A-31D28089F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88620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1125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Sources vérifiables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62A0E3-891C-4380-AFCA-4E33B8E16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219200"/>
            <a:ext cx="3600450" cy="39433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607552-565D-441F-A762-0C0E2B5F5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600200"/>
            <a:ext cx="2876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7A45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FF7A45"/>
                </a:solidFill>
                <a:latin typeface="Montserrat"/>
                <a:ea typeface="Montserrat"/>
                <a:cs typeface="Montserrat"/>
              </a:rPr>
              <a:t>DÉCISION PROPOSÉE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226B615-A681-4FD7-9724-27379ABB8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190750"/>
            <a:ext cx="2876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95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195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Valider un</a:t>
            </a:r>
          </a:p>
          <a:p xmlns:a="http://schemas.openxmlformats.org/drawingml/2006/main">
            <a:pPr algn="ctr">
              <a:lnSpc>
                <a:spcPct val="96000"/>
              </a:lnSpc>
              <a:buNone/>
              <a:defRPr sz="195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195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pilote multi-villes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5479DA3-32D3-4435-97D7-53CD56515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543300"/>
            <a:ext cx="2762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1. élargir les données et le jeu annoté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2. ajouter des garde-fous métier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3. industrialiser si la valeur est confirmée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804AFA4-1AB8-4EE2-AA7B-63F644341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705350"/>
            <a:ext cx="21145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8A3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82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QUESTIONS ?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8D57C2E-AB27-4EBE-9B2F-CD33DCF60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626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825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Rapport, scripts et dépôt disponibles pour la discussion technique</a:t>
            </a:r>
          </a:p>
        </p:txBody>
      </p:sp>
    </p:spTree>
    <p:extLst>
      <p:ext uri="{BB962C8B-B14F-4D97-AF65-F5344CB8AC3E}">
        <p14:creationId xmlns:p14="http://schemas.microsoft.com/office/powerpoint/2010/main" val="94066526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2026-08-12T15:16:08.8790000Z</dcterms:created>
  <dcterms:modified xsi:type="dcterms:W3CDTF">2026-08-12T15:16:08.8790000Z</dcterms:modified>
</coreProperties>
</file>