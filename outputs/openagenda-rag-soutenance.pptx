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28d22ede2b4997" /><Relationship Type="http://schemas.openxmlformats.org/officeDocument/2006/relationships/extended-properties" Target="/docProps/app.xml" Id="Rc5cad5d9157d45b9" /><Relationship Type="http://schemas.openxmlformats.org/officeDocument/2006/relationships/officeDocument" Target="/ppt/presentation.xml" Id="R36e6ae7580b24b0a" /></Relationships>
</file>

<file path=ppt/presentation.xml><?xml version="1.0" encoding="utf-8"?>
<p:presentation xmlns:p="http://schemas.openxmlformats.org/presentationml/2006/main">
  <p:sldMasterIdLst>
    <p:sldMasterId xmlns:r="http://schemas.openxmlformats.org/officeDocument/2006/relationships" id="2147483648" r:id="Rc4ca9f147d284d3e"/>
  </p:sldMasterIdLst>
  <p:notesMasterIdLst>
    <p:notesMasterId xmlns:r="http://schemas.openxmlformats.org/officeDocument/2006/relationships" r:id="R640021b1d5804199"/>
  </p:notesMasterIdLst>
  <p:sldIdLst>
    <p:sldId xmlns:r="http://schemas.openxmlformats.org/officeDocument/2006/relationships" id="256" r:id="R5677905291ee4aa2"/>
    <p:sldId xmlns:r="http://schemas.openxmlformats.org/officeDocument/2006/relationships" id="257" r:id="R8d039abab63e462c"/>
    <p:sldId xmlns:r="http://schemas.openxmlformats.org/officeDocument/2006/relationships" id="258" r:id="R4edff52d71024b79"/>
    <p:sldId xmlns:r="http://schemas.openxmlformats.org/officeDocument/2006/relationships" id="259" r:id="R7fe9351b2b894f60"/>
    <p:sldId xmlns:r="http://schemas.openxmlformats.org/officeDocument/2006/relationships" id="260" r:id="R7b6285a699d4494d"/>
    <p:sldId xmlns:r="http://schemas.openxmlformats.org/officeDocument/2006/relationships" id="261" r:id="R8ed9209ba0db47d4"/>
    <p:sldId xmlns:r="http://schemas.openxmlformats.org/officeDocument/2006/relationships" id="262" r:id="R568fb63f979d4a81"/>
    <p:sldId xmlns:r="http://schemas.openxmlformats.org/officeDocument/2006/relationships" id="263" r:id="Rb441118189574bef"/>
    <p:sldId xmlns:r="http://schemas.openxmlformats.org/officeDocument/2006/relationships" id="264" r:id="R008e9bc478ac4d1e"/>
    <p:sldId xmlns:r="http://schemas.openxmlformats.org/officeDocument/2006/relationships" id="265" r:id="Rc0d455ccc59c468c"/>
    <p:sldId xmlns:r="http://schemas.openxmlformats.org/officeDocument/2006/relationships" id="266" r:id="Ra1d695ccb8f048ff"/>
    <p:sldId xmlns:r="http://schemas.openxmlformats.org/officeDocument/2006/relationships" id="267" r:id="R50b5c12ea071479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8af0fb4fb97418e" /><Relationship Type="http://schemas.openxmlformats.org/officeDocument/2006/relationships/slideMaster" Target="/ppt/slideMasters/slideMaster1.xml" Id="Rc4ca9f147d284d3e" /><Relationship Type="http://schemas.openxmlformats.org/officeDocument/2006/relationships/notesMaster" Target="/ppt/notesMasters/notesMaster1.xml" Id="R640021b1d5804199" /><Relationship Type="http://schemas.openxmlformats.org/officeDocument/2006/relationships/presProps" Target="/ppt/presProps.xml" Id="R6279893ebd674a35" /><Relationship Type="http://schemas.openxmlformats.org/officeDocument/2006/relationships/tableStyles" Target="/ppt/tableStyles.xml" Id="R1109a80f25b44d00" /><Relationship Type="http://schemas.openxmlformats.org/officeDocument/2006/relationships/slide" Target="/ppt/slides/slide1.xml" Id="R5677905291ee4aa2" /><Relationship Type="http://schemas.openxmlformats.org/officeDocument/2006/relationships/slide" Target="/ppt/slides/slide2.xml" Id="R8d039abab63e462c" /><Relationship Type="http://schemas.openxmlformats.org/officeDocument/2006/relationships/slide" Target="/ppt/slides/slide3.xml" Id="R4edff52d71024b79" /><Relationship Type="http://schemas.openxmlformats.org/officeDocument/2006/relationships/slide" Target="/ppt/slides/slide4.xml" Id="R7fe9351b2b894f60" /><Relationship Type="http://schemas.openxmlformats.org/officeDocument/2006/relationships/slide" Target="/ppt/slides/slide5.xml" Id="R7b6285a699d4494d" /><Relationship Type="http://schemas.openxmlformats.org/officeDocument/2006/relationships/slide" Target="/ppt/slides/slide6.xml" Id="R8ed9209ba0db47d4" /><Relationship Type="http://schemas.openxmlformats.org/officeDocument/2006/relationships/slide" Target="/ppt/slides/slide7.xml" Id="R568fb63f979d4a81" /><Relationship Type="http://schemas.openxmlformats.org/officeDocument/2006/relationships/slide" Target="/ppt/slides/slide8.xml" Id="Rb441118189574bef" /><Relationship Type="http://schemas.openxmlformats.org/officeDocument/2006/relationships/slide" Target="/ppt/slides/slide9.xml" Id="R008e9bc478ac4d1e" /><Relationship Type="http://schemas.openxmlformats.org/officeDocument/2006/relationships/slide" Target="/ppt/slides/slide10.xml" Id="Rc0d455ccc59c468c" /><Relationship Type="http://schemas.openxmlformats.org/officeDocument/2006/relationships/slide" Target="/ppt/slides/slide11.xml" Id="Ra1d695ccb8f048ff" /><Relationship Type="http://schemas.openxmlformats.org/officeDocument/2006/relationships/slide" Target="/ppt/slides/slide12.xml" Id="R50b5c12ea071479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f5c43120134a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7a349513fa4081" /><Relationship Type="http://schemas.openxmlformats.org/officeDocument/2006/relationships/notesMaster" Target="/ppt/notesMasters/notesMaster1.xml" Id="Rf497d99b0dd548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71a67996e84f2d" /><Relationship Type="http://schemas.openxmlformats.org/officeDocument/2006/relationships/notesMaster" Target="/ppt/notesMasters/notesMaster1.xml" Id="R31009d9e60384b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58dc0fe90945cd" /><Relationship Type="http://schemas.openxmlformats.org/officeDocument/2006/relationships/notesMaster" Target="/ppt/notesMasters/notesMaster1.xml" Id="R20e60cb0d28e49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e2684fb091e42c3" /><Relationship Type="http://schemas.openxmlformats.org/officeDocument/2006/relationships/notesMaster" Target="/ppt/notesMasters/notesMaster1.xml" Id="R7c809ed5e2b54b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0156f0b451c42b4" /><Relationship Type="http://schemas.openxmlformats.org/officeDocument/2006/relationships/notesMaster" Target="/ppt/notesMasters/notesMaster1.xml" Id="R22534189cc9448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926251dde641fb" /><Relationship Type="http://schemas.openxmlformats.org/officeDocument/2006/relationships/notesMaster" Target="/ppt/notesMasters/notesMaster1.xml" Id="Racae7613cdbe4c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b02e7d5fb24ec2" /><Relationship Type="http://schemas.openxmlformats.org/officeDocument/2006/relationships/notesMaster" Target="/ppt/notesMasters/notesMaster1.xml" Id="R699f791a52684f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5bd50ef8d048ee" /><Relationship Type="http://schemas.openxmlformats.org/officeDocument/2006/relationships/notesMaster" Target="/ppt/notesMasters/notesMaster1.xml" Id="R08f4f3c1855b42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c9fccde9404343" /><Relationship Type="http://schemas.openxmlformats.org/officeDocument/2006/relationships/notesMaster" Target="/ppt/notesMasters/notesMaster1.xml" Id="Rebece86934664c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0c8862fde6945d0" /><Relationship Type="http://schemas.openxmlformats.org/officeDocument/2006/relationships/notesMaster" Target="/ppt/notesMasters/notesMaster1.xml" Id="R9d364420cbd444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45115b18a464c16" /><Relationship Type="http://schemas.openxmlformats.org/officeDocument/2006/relationships/notesMaster" Target="/ppt/notesMasters/notesMaster1.xml" Id="R76269e1dbb764b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8761ab88f14113" /><Relationship Type="http://schemas.openxmlformats.org/officeDocument/2006/relationships/notesMaster" Target="/ppt/notesMasters/notesMaster1.xml" Id="R95732871d90142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(45 s)</a:t>
            </a:r>
          </a:p>
          <a:p xmlns:a="http://schemas.openxmlformats.org/drawingml/2006/main">
            <a:r>
              <a:t/>
            </a:r>
          </a:p>
          <a:p xmlns:a="http://schemas.openxmlformats.org/drawingml/2006/main">
            <a:r>
              <a:t>À LIRE</a:t>
            </a:r>
          </a:p>
          <a:p xmlns:a="http://schemas.openxmlformats.org/drawingml/2006/main">
            <a:r>
              <a:t>Bonjour Jérémy. Pour expliquer ce POC, je vous propose une image simple : une bibliothèque d'événements culturels. Un visiteur arrive avec une demande, par exemple une sortie en famille à Paris. Il souhaite une réponse utile et des informations qu'il peut vérifier. Mon travail a été de constituer le catalogue, de préparer ses fiches pour la recherche, puis de relier cette recherche à un modèle qui rédige et à une API que vos équipes peuvent appeler. Le catalogue livré contient 7 586 événements parisiens. Je vais suivre ce parcours avec vous, montrer deux demandes en direct et expliquer ce qui fonctionne ainsi que ce qui reste à améliorer.</a:t>
            </a:r>
          </a:p>
          <a:p xmlns:a="http://schemas.openxmlformats.org/drawingml/2006/main">
            <a:r>
              <a:t/>
            </a:r>
          </a:p>
          <a:p xmlns:a="http://schemas.openxmlformats.org/drawingml/2006/main">
            <a:r>
              <a:t>À MONTRER</a:t>
            </a:r>
          </a:p>
          <a:p xmlns:a="http://schemas.openxmlformats.org/drawingml/2006/main">
            <a:r>
              <a:t>Partage uniquement la fenêtre du diaporama. Garde ce guide hors du partage.</a:t>
            </a:r>
          </a:p>
          <a:p xmlns:a="http://schemas.openxmlformats.org/drawingml/2006/main">
            <a:r>
              <a:t/>
            </a:r>
          </a:p>
          <a:p xmlns:a="http://schemas.openxmlformats.org/drawingml/2006/main">
            <a:r>
              <a:t>COMPRENDRE</a:t>
            </a:r>
          </a:p>
          <a:p xmlns:a="http://schemas.openxmlformats.org/drawingml/2006/main">
            <a:r>
              <a:t>Le catalogue est réel. Le bibliothécaire est une image pour expliquer la recherche, pas une personne ni un modèle entraîné sur tes données.</a:t>
            </a:r>
          </a:p>
          <a:p xmlns:a="http://schemas.openxmlformats.org/drawingml/2006/main">
            <a:r>
              <a:t/>
            </a:r>
          </a:p>
          <a:p xmlns:a="http://schemas.openxmlformats.org/drawingml/2006/main">
            <a:r>
              <a:t>DÉTAIL TECHNIQUE</a:t>
            </a:r>
          </a:p>
          <a:p xmlns:a="http://schemas.openxmlformats.org/drawingml/2006/main">
            <a:r>
              <a:t>Le brief demande LangChain, Mistral, FAISS, une API, les scripts de reconstruction, des tests, un jeu annoté, un rapport, Docker et une démo. L'historique de conversation n'est pas nécessaire. Le modèle n'a pas été entraîné ou ajusté dans ce projet.</a:t>
            </a:r>
          </a:p>
          <a:p xmlns:a="http://schemas.openxmlformats.org/drawingml/2006/main">
            <a:r>
              <a:t/>
            </a:r>
          </a:p>
          <a:p xmlns:a="http://schemas.openxmlformats.org/drawingml/2006/main">
            <a:r>
              <a:t>PIÈGE</a:t>
            </a:r>
          </a:p>
          <a:p xmlns:a="http://schemas.openxmlformats.org/drawingml/2006/main">
            <a:r>
              <a:t>Ne dis pas que c'est déjà un produit en production ni que tu as entraîné Mistral.</a:t>
            </a:r>
          </a:p>
          <a:p xmlns:a="http://schemas.openxmlformats.org/drawingml/2006/main">
            <a:r>
              <a:t/>
            </a:r>
          </a:p>
          <a:p xmlns:a="http://schemas.openxmlformats.org/drawingml/2006/main">
            <a:r>
              <a:t>PREUVE</a:t>
            </a:r>
          </a:p>
          <a:p xmlns:a="http://schemas.openxmlformats.org/drawingml/2006/main">
            <a:r>
              <a:t>README.md ; document de mission, message de Jérémy ; seed-data/processed/fetch_manifest.json.</a:t>
            </a:r>
          </a:p>
          <a:p xmlns:a="http://schemas.openxmlformats.org/drawingml/2006/main">
            <a:r>
              <a:t/>
            </a:r>
          </a:p>
          <a:p xmlns:a="http://schemas.openxmlformats.org/drawingml/2006/main">
            <a:r>
              <a:t>TRANSITION</a:t>
            </a:r>
          </a:p>
          <a:p xmlns:a="http://schemas.openxmlformats.org/drawingml/2006/main">
            <a:r>
              <a:t>Pour comprendre la solution, séparons le catalogue, la recherche et la rédaction.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00:45–01:50 (65 s)</a:t>
            </a:r>
          </a:p>
          <a:p xmlns:a="http://schemas.openxmlformats.org/drawingml/2006/main">
            <a:r>
              <a:t/>
            </a:r>
          </a:p>
          <a:p xmlns:a="http://schemas.openxmlformats.org/drawingml/2006/main">
            <a:r>
              <a:t>À LIRE</a:t>
            </a:r>
          </a:p>
          <a:p xmlns:a="http://schemas.openxmlformats.org/drawingml/2006/main">
            <a:r>
              <a:t>Dans notre bibliothèque, les fiches OpenAgenda forment le catalogue. Chaque fiche décrit un événement, avec son titre, son lieu, ses dates et son lien. Le bibliothécaire représente la recherche avec FAISS : il retrouve des passages proches de la demande. Puis un rédacteur, le modèle Mistral, reçoit ces passages et formule la réponse. Les embeddings sont ce qui permet de comparer numériquement le sens des textes et de la question. Le RAG consiste à chercher d'abord, puis à rédiger avec les informations retrouvées. Je n'ai pas entraîné Mistral sur le catalogue : j'ai construit l'index et organisé ce passage d'informations. L'analogie a une limite : FAISS compare des vecteurs, il ne comprend pas toutes les contraintes comme un bibliothécaire humain.</a:t>
            </a:r>
          </a:p>
          <a:p xmlns:a="http://schemas.openxmlformats.org/drawingml/2006/main">
            <a:r>
              <a:t/>
            </a:r>
          </a:p>
          <a:p xmlns:a="http://schemas.openxmlformats.org/drawingml/2006/main">
            <a:r>
              <a:t>À MONTRER</a:t>
            </a:r>
          </a:p>
          <a:p xmlns:a="http://schemas.openxmlformats.org/drawingml/2006/main">
            <a:r>
              <a:t>Pointe les trois étapes. L'exemple famille existe dans le jeu RAGAS ; ce n'est pas une nouvelle preuve live.</a:t>
            </a:r>
          </a:p>
          <a:p xmlns:a="http://schemas.openxmlformats.org/drawingml/2006/main">
            <a:r>
              <a:t/>
            </a:r>
          </a:p>
          <a:p xmlns:a="http://schemas.openxmlformats.org/drawingml/2006/main">
            <a:r>
              <a:t>COMPRENDRE</a:t>
            </a:r>
          </a:p>
          <a:p xmlns:a="http://schemas.openxmlformats.org/drawingml/2006/main">
            <a:r>
              <a:t>Catalogue = corpus ; passages = chunks ; représentation du sens = embeddings ; bibliothécaire = recherche FAISS ; rédacteur = modèle de chat.</a:t>
            </a:r>
          </a:p>
          <a:p xmlns:a="http://schemas.openxmlformats.org/drawingml/2006/main">
            <a:r>
              <a:t/>
            </a:r>
          </a:p>
          <a:p xmlns:a="http://schemas.openxmlformats.org/drawingml/2006/main">
            <a:r>
              <a:t>DÉTAIL TECHNIQUE</a:t>
            </a:r>
          </a:p>
          <a:p xmlns:a="http://schemas.openxmlformats.org/drawingml/2006/main">
            <a:r>
              <a:t>Ce n'est ni du fine-tuning ni de l'entraînement. L'embedding représente le texte numériquement, le retriever sélectionne des documents et ChatPromptTemplate assemble les messages transmis au chat. Les documents sont consultés à chaque question.</a:t>
            </a:r>
          </a:p>
          <a:p xmlns:a="http://schemas.openxmlformats.org/drawingml/2006/main">
            <a:r>
              <a:t/>
            </a:r>
          </a:p>
          <a:p xmlns:a="http://schemas.openxmlformats.org/drawingml/2006/main">
            <a:r>
              <a:t>PIÈGE</a:t>
            </a:r>
          </a:p>
          <a:p xmlns:a="http://schemas.openxmlformats.org/drawingml/2006/main">
            <a:r>
              <a:t>Ne promets pas zéro hallucination. Une recherche proche n'est pas nécessairement une réponse pertinente.</a:t>
            </a:r>
          </a:p>
          <a:p xmlns:a="http://schemas.openxmlformats.org/drawingml/2006/main">
            <a:r>
              <a:t/>
            </a:r>
          </a:p>
          <a:p xmlns:a="http://schemas.openxmlformats.org/drawingml/2006/main">
            <a:r>
              <a:t>PREUVE</a:t>
            </a:r>
          </a:p>
          <a:p xmlns:a="http://schemas.openxmlformats.org/drawingml/2006/main">
            <a:r>
              <a:t>src/openagenda_rag/rag.py : answer_question(), build_prompt() ; tests/fixtures/ragas_eval_dataset.csv.</a:t>
            </a:r>
          </a:p>
          <a:p xmlns:a="http://schemas.openxmlformats.org/drawingml/2006/main">
            <a:r>
              <a:t/>
            </a:r>
          </a:p>
          <a:p xmlns:a="http://schemas.openxmlformats.org/drawingml/2006/main">
            <a:r>
              <a:t>TRANSITION</a:t>
            </a:r>
          </a:p>
          <a:p xmlns:a="http://schemas.openxmlformats.org/drawingml/2006/main">
            <a:r>
              <a:t>Avant d’aider un visiteur, il faut constituer un catalogue fiable.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01:50–03:05 (75 s)</a:t>
            </a:r>
          </a:p>
          <a:p xmlns:a="http://schemas.openxmlformats.org/drawingml/2006/main">
            <a:r>
              <a:t/>
            </a:r>
          </a:p>
          <a:p xmlns:a="http://schemas.openxmlformats.org/drawingml/2006/main">
            <a:r>
              <a:t>À LIRE</a:t>
            </a:r>
          </a:p>
          <a:p xmlns:a="http://schemas.openxmlformats.org/drawingml/2006/main">
            <a:r>
              <a:t>J'ai commencé par collecter les fiches du dataset public OpenAgenda indiqué par la mission, accessible via Opendatasoft. J'ai choisi Paris et une fenêtre du 10 juillet 2025 au 10 juillet 2026. La collecte parcourt les pages, retire les doublons par identifiant et nettoie les descriptions, notamment les balises HTML. Je garde les informations qui permettent de vérifier une réponse : titre, description, lieu, dates et URL. Les données sont exportées dans un fichier Parquet, un format structuré relisible par les scripts. Ce catalogue contient 7 586 événements. Comme une bibliothèque dont le catalogue n'a pas été mis à jour depuis juillet, il manque les nouvelles fiches d'octobre. Je reconnais cette limite : pour conseiller des sorties actuelles, il faut actualiser les données et vérifier les dates.</a:t>
            </a:r>
          </a:p>
          <a:p xmlns:a="http://schemas.openxmlformats.org/drawingml/2006/main">
            <a:r>
              <a:t/>
            </a:r>
          </a:p>
          <a:p xmlns:a="http://schemas.openxmlformats.org/drawingml/2006/main">
            <a:r>
              <a:t>À MONTRER</a:t>
            </a:r>
          </a:p>
          <a:p xmlns:a="http://schemas.openxmlformats.org/drawingml/2006/main">
            <a:r>
              <a:t>Explique la fenêtre telle qu'elle est. Si on te demande le fichier, ouvre le manifeste de collecte, pas le JSON brut entier.</a:t>
            </a:r>
          </a:p>
          <a:p xmlns:a="http://schemas.openxmlformats.org/drawingml/2006/main">
            <a:r>
              <a:t/>
            </a:r>
          </a:p>
          <a:p xmlns:a="http://schemas.openxmlformats.org/drawingml/2006/main">
            <a:r>
              <a:t>COMPRENDRE</a:t>
            </a:r>
          </a:p>
          <a:p xmlns:a="http://schemas.openxmlformats.org/drawingml/2006/main">
            <a:r>
              <a:t>Nettoyer le catalogue ne signifie pas inventer ce qui manque. Tu conserves les informations disponibles et les références. Le catalogue est un instantané de juillet.</a:t>
            </a:r>
          </a:p>
          <a:p xmlns:a="http://schemas.openxmlformats.org/drawingml/2006/main">
            <a:r>
              <a:t/>
            </a:r>
          </a:p>
          <a:p xmlns:a="http://schemas.openxmlformats.org/drawingml/2006/main">
            <a:r>
              <a:t>DÉTAIL TECHNIQUE</a:t>
            </a:r>
          </a:p>
          <a:p xmlns:a="http://schemas.openxmlformats.org/drawingml/2006/main">
            <a:r>
              <a:t>build_records_where_clause() filtre firstdate_begin, pas chaque occurrence récurrente. last_timing peut dépasser juillet 2026. La borne haute fixe exclut les événements qui commencent après la collecte. Les données ne sont pas automatiquement rafraîchies. 39 titres sont absents dans le seed, mais leurs descriptions peuvent rester indexables. Déduplication par event_uid ; les titres identiques avec des UID différents ne sont pas fusionnés.</a:t>
            </a:r>
          </a:p>
          <a:p xmlns:a="http://schemas.openxmlformats.org/drawingml/2006/main">
            <a:r>
              <a:t/>
            </a:r>
          </a:p>
          <a:p xmlns:a="http://schemas.openxmlformats.org/drawingml/2006/main">
            <a:r>
              <a:t>PIÈGE</a:t>
            </a:r>
          </a:p>
          <a:p xmlns:a="http://schemas.openxmlformats.org/drawingml/2006/main">
            <a:r>
              <a:t>La consigne demande des événements récents et vise des recommandations à venir. Au 1er octobre, certains événements du seed ont plus d'un an. La fraîcheur constitue donc un écart actuel à signaler et à corriger par une nouvelle collecte, pas à masquer.</a:t>
            </a:r>
          </a:p>
          <a:p xmlns:a="http://schemas.openxmlformats.org/drawingml/2006/main">
            <a:r>
              <a:t/>
            </a:r>
          </a:p>
          <a:p xmlns:a="http://schemas.openxmlformats.org/drawingml/2006/main">
            <a:r>
              <a:t>PREUVE</a:t>
            </a:r>
          </a:p>
          <a:p xmlns:a="http://schemas.openxmlformats.org/drawingml/2006/main">
            <a:r>
              <a:t>scripts/fetch_events.py ; src/openagenda_rag/ingestion.py ; seed-data/processed/fetch_manifest.json ; events.parquet.</a:t>
            </a:r>
          </a:p>
          <a:p xmlns:a="http://schemas.openxmlformats.org/drawingml/2006/main">
            <a:r>
              <a:t/>
            </a:r>
          </a:p>
          <a:p xmlns:a="http://schemas.openxmlformats.org/drawingml/2006/main">
            <a:r>
              <a:t>TRANSITION</a:t>
            </a:r>
          </a:p>
          <a:p xmlns:a="http://schemas.openxmlformats.org/drawingml/2006/main">
            <a:r>
              <a:t>Une fiche peut être longue : nous allons préparer des passages plus faciles à retrouver.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03:05–04:20 (75 s)</a:t>
            </a:r>
          </a:p>
          <a:p xmlns:a="http://schemas.openxmlformats.org/drawingml/2006/main">
            <a:r>
              <a:t/>
            </a:r>
          </a:p>
          <a:p xmlns:a="http://schemas.openxmlformats.org/drawingml/2006/main">
            <a:r>
              <a:t>À LIRE</a:t>
            </a:r>
          </a:p>
          <a:p xmlns:a="http://schemas.openxmlformats.org/drawingml/2006/main">
            <a:r>
              <a:t>Dans un catalogue, certaines fiches sont courtes et d'autres très longues. Pour ne pas transmettre toute une longue description au rédacteur, je les découpe en passages, appelés chunks. Le réglage de départ est de 1 000 caractères, avec jusqu'à 200 caractères de chevauchement pour préserver les informations aux frontières. Le découpage cherche à respecter les séparateurs du texte. La fiche CHIMERE illustre ce point : elle produit 15 passages. Tout le catalogue produit 14 903 passages, et non 14 903 événements. Chaque passage est transformé par mistral-embed en un vecteur de 1 024 nombres. Ces nombres servent à comparer le sens ; ce ne sont pas des catégories lisibles par un humain. Je conserve aussi le lien vers la fiche, ses dates et son lieu.</a:t>
            </a:r>
          </a:p>
          <a:p xmlns:a="http://schemas.openxmlformats.org/drawingml/2006/main">
            <a:r>
              <a:t/>
            </a:r>
          </a:p>
          <a:p xmlns:a="http://schemas.openxmlformats.org/drawingml/2006/main">
            <a:r>
              <a:t>À MONTRER</a:t>
            </a:r>
          </a:p>
          <a:p xmlns:a="http://schemas.openxmlformats.org/drawingml/2006/main">
            <a:r>
              <a:t>Distingue la fiche d'exemple et les volumes de tout le corpus. Aucun réindexage en direct.</a:t>
            </a:r>
          </a:p>
          <a:p xmlns:a="http://schemas.openxmlformats.org/drawingml/2006/main">
            <a:r>
              <a:t/>
            </a:r>
          </a:p>
          <a:p xmlns:a="http://schemas.openxmlformats.org/drawingml/2006/main">
            <a:r>
              <a:t>COMPRENDRE</a:t>
            </a:r>
          </a:p>
          <a:p xmlns:a="http://schemas.openxmlformats.org/drawingml/2006/main">
            <a:r>
              <a:t>Le passage est le texte. Le vecteur est sa représentation numérique. Les métadonnées sont sa référence dans le catalogue. Ce sont trois choses différentes.</a:t>
            </a:r>
          </a:p>
          <a:p xmlns:a="http://schemas.openxmlformats.org/drawingml/2006/main">
            <a:r>
              <a:t/>
            </a:r>
          </a:p>
          <a:p xmlns:a="http://schemas.openxmlformats.org/drawingml/2006/main">
            <a:r>
              <a:t>DÉTAIL TECHNIQUE</a:t>
            </a:r>
          </a:p>
          <a:p xmlns:a="http://schemas.openxmlformats.org/drawingml/2006/main">
            <a:r>
              <a:t>RecursiveCharacterTextSplitter, add_start_index=True. Le chevauchement est un paramètre maximal, pas 200 caractères garantis à chaque frontière. chunk_id = event_uid::chunk-N. L'index réel est IndexFlatL2 : recherche exacte selon la distance euclidienne au carré, sans normalisation explicite dans le code. Moins la distance est élevée, plus les vecteurs sont proches. Tous les 7 586 UID sont représentés. CHIMERE 69427795 a 15 chunks ; une autre fiche porte le même titre avec un UID différent.</a:t>
            </a:r>
          </a:p>
          <a:p xmlns:a="http://schemas.openxmlformats.org/drawingml/2006/main">
            <a:r>
              <a:t/>
            </a:r>
          </a:p>
          <a:p xmlns:a="http://schemas.openxmlformats.org/drawingml/2006/main">
            <a:r>
              <a:t>PIÈGE</a:t>
            </a:r>
          </a:p>
          <a:p xmlns:a="http://schemas.openxmlformats.org/drawingml/2006/main">
            <a:r>
              <a:t>Caractères et tokens sont différents. Ne dis pas que CHIMERE seul produit 14 903 chunks. Un vecteur n'est ni un résumé ni une réponse.</a:t>
            </a:r>
          </a:p>
          <a:p xmlns:a="http://schemas.openxmlformats.org/drawingml/2006/main">
            <a:r>
              <a:t/>
            </a:r>
          </a:p>
          <a:p xmlns:a="http://schemas.openxmlformats.org/drawingml/2006/main">
            <a:r>
              <a:t>PREUVE</a:t>
            </a:r>
          </a:p>
          <a:p xmlns:a="http://schemas.openxmlformats.org/drawingml/2006/main">
            <a:r>
              <a:t>src/openagenda_rag/indexing.py : build_documents(), build_vector_store() ; seed-data/index/index_manifest.json ; index.faiss.</a:t>
            </a:r>
          </a:p>
          <a:p xmlns:a="http://schemas.openxmlformats.org/drawingml/2006/main">
            <a:r>
              <a:t/>
            </a:r>
          </a:p>
          <a:p xmlns:a="http://schemas.openxmlformats.org/drawingml/2006/main">
            <a:r>
              <a:t>TRANSITION</a:t>
            </a:r>
          </a:p>
          <a:p xmlns:a="http://schemas.openxmlformats.org/drawingml/2006/main">
            <a:r>
              <a:t>Voyons comment le bibliothécaire utilise ces représentations pour une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04:20–05:30 (70 s)</a:t>
            </a:r>
          </a:p>
          <a:p xmlns:a="http://schemas.openxmlformats.org/drawingml/2006/main">
            <a:r>
              <a:t/>
            </a:r>
          </a:p>
          <a:p xmlns:a="http://schemas.openxmlformats.org/drawingml/2006/main">
            <a:r>
              <a:t>À LIRE</a:t>
            </a:r>
          </a:p>
          <a:p xmlns:a="http://schemas.openxmlformats.org/drawingml/2006/main">
            <a:r>
              <a:t>Quand le visiteur pose une question, mistral-embed la transforme avec le même modèle que les passages. Les vecteurs deviennent ainsi comparables. FAISS retrouve les quatre passages les plus proches : c'est le top-k fixé à quatre. Dans notre image, le bibliothécaire dépose quatre extraits sur le bureau du rédacteur. Le prompt est sa consigne : répondre en français à partir de ces extraits, citer les informations disponibles et dire qu'il ne sait pas si elles manquent. Mistral Small était le modèle initial. Aujourd'hui, il renvoyait une limite d'usage ; j'ai configuré la version ministral-8b-2512, puis vérifié la démo. L'embedding reste identique, donc le catalogue vectoriel n'a pas été reconstruit. Les scores historiques concernent toutefois Small. Le prompt aide le rédacteur, mais ne garantit pas une réponse sans erreur.</a:t>
            </a:r>
          </a:p>
          <a:p xmlns:a="http://schemas.openxmlformats.org/drawingml/2006/main">
            <a:r>
              <a:t/>
            </a:r>
          </a:p>
          <a:p xmlns:a="http://schemas.openxmlformats.org/drawingml/2006/main">
            <a:r>
              <a:t>À MONTRER</a:t>
            </a:r>
          </a:p>
          <a:p xmlns:a="http://schemas.openxmlformats.org/drawingml/2006/main">
            <a:r>
              <a:t>Pointe la séparation embedding/chat et le texte du prompt. Si demandé, ouvre SYSTEM_PROMPT dans rag.py.</a:t>
            </a:r>
          </a:p>
          <a:p xmlns:a="http://schemas.openxmlformats.org/drawingml/2006/main">
            <a:r>
              <a:t/>
            </a:r>
          </a:p>
          <a:p xmlns:a="http://schemas.openxmlformats.org/drawingml/2006/main">
            <a:r>
              <a:t>COMPRENDRE</a:t>
            </a:r>
          </a:p>
          <a:p xmlns:a="http://schemas.openxmlformats.org/drawingml/2006/main">
            <a:r>
              <a:t>FAISS choisit les passages ; le modèle de chat rédige. Quatre passages ne signifient pas quatre événements. La température 0,1 et la limite de 700 tokens sont des réglages de départ, pas un optimum démontré.</a:t>
            </a:r>
          </a:p>
          <a:p xmlns:a="http://schemas.openxmlformats.org/drawingml/2006/main">
            <a:r>
              <a:t/>
            </a:r>
          </a:p>
          <a:p xmlns:a="http://schemas.openxmlformats.org/drawingml/2006/main">
            <a:r>
              <a:t>DÉTAIL TECHNIQUE</a:t>
            </a:r>
          </a:p>
          <a:p xmlns:a="http://schemas.openxmlformats.org/drawingml/2006/main">
            <a:r>
              <a:t>answer_question() appelle retriever.invoke(), build_source_entries(), puis prompt.invoke() et chat_model.invoke(). Les sources sont les événements récupérés, pas une validation que chaque source soutient chaque phrase. Aucun filtre de date ou de ville n'est appliqué dynamiquement dans le retriever. L'absence de documents déclenche un refus déterministe ; en recherche top-k, le résultat non vide est fréquent même hors sujet. random_seed=42 stabilise sans garantir une sortie identique. L'alias latest peut évoluer. Le modèle de démonstration est fixé à ministral-8b-2512 dans .env. L’embedding reste mistral-embed : l’index est compatible sans reconstruction. Les scores RAGAS historiques concernent mistral-small-latest et ne valident pas ce changement. La date du jour et un statut temporel calculé sont transmis au prompt ; aucun filtre de date ne supprime les passages.</a:t>
            </a:r>
          </a:p>
          <a:p xmlns:a="http://schemas.openxmlformats.org/drawingml/2006/main">
            <a:r>
              <a:t/>
            </a:r>
          </a:p>
          <a:p xmlns:a="http://schemas.openxmlformats.org/drawingml/2006/main">
            <a:r>
              <a:t>PIÈGE</a:t>
            </a:r>
          </a:p>
          <a:p xmlns:a="http://schemas.openxmlformats.org/drawingml/2006/main">
            <a:r>
              <a:t>Ne dis pas que les sources renvoyées sont toutes utilisées dans la réponse ni que le refus Lyon est codé comme une règle de ville.</a:t>
            </a:r>
          </a:p>
          <a:p xmlns:a="http://schemas.openxmlformats.org/drawingml/2006/main">
            <a:r>
              <a:t/>
            </a:r>
          </a:p>
          <a:p xmlns:a="http://schemas.openxmlformats.org/drawingml/2006/main">
            <a:r>
              <a:t>PREUVE</a:t>
            </a:r>
          </a:p>
          <a:p xmlns:a="http://schemas.openxmlformats.org/drawingml/2006/main">
            <a:r>
              <a:t>src/openagenda_rag/rag.py ; src/openagenda_rag/settings.py : load_rag_settings().</a:t>
            </a:r>
          </a:p>
          <a:p xmlns:a="http://schemas.openxmlformats.org/drawingml/2006/main">
            <a:r>
              <a:t/>
            </a:r>
          </a:p>
          <a:p xmlns:a="http://schemas.openxmlformats.org/drawingml/2006/main">
            <a:r>
              <a:t>TRANSITION</a:t>
            </a:r>
          </a:p>
          <a:p xmlns:a="http://schemas.openxmlformats.org/drawingml/2006/main">
            <a:r>
              <a:t>Cette bibliothèque fonctionne en deux temps : la préparation et le traitement d’une demande.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05:30–06:30 (60 s)</a:t>
            </a:r>
          </a:p>
          <a:p xmlns:a="http://schemas.openxmlformats.org/drawingml/2006/main">
            <a:r>
              <a:t/>
            </a:r>
          </a:p>
          <a:p xmlns:a="http://schemas.openxmlformats.org/drawingml/2006/main">
            <a:r>
              <a:t>À LIRE</a:t>
            </a:r>
          </a:p>
          <a:p xmlns:a="http://schemas.openxmlformats.org/drawingml/2006/main">
            <a:r>
              <a:t>Il faut distinguer les deux moments. Avant les questions, je prépare les rayons : collecte, nettoyage, découpage, calcul des embeddings et enregistrement de l'index FAISS. Chaque passage reste relié à sa fiche. Puis, à chaque demande, je vectorise uniquement la question, recherche les passages et appelle le rédacteur. Je ne recollecte pas tout OpenAgenda et je ne recalcule pas tous les vecteurs à chaque question. Le fichier FAISS livré contient 14 903 vecteurs ; tous les identifiants d'événements sont représentés. L'index est chargé à la première demande, puis réutilisé. Attention, les rayons sont locaux, mais mistral-embed et le rédacteur sont des services distants. Cette bibliothèque dépend donc encore d'internet.</a:t>
            </a:r>
          </a:p>
          <a:p xmlns:a="http://schemas.openxmlformats.org/drawingml/2006/main">
            <a:r>
              <a:t/>
            </a:r>
          </a:p>
          <a:p xmlns:a="http://schemas.openxmlformats.org/drawingml/2006/main">
            <a:r>
              <a:t>À MONTRER</a:t>
            </a:r>
          </a:p>
          <a:p xmlns:a="http://schemas.openxmlformats.org/drawingml/2006/main">
            <a:r>
              <a:t>Si Jérémy demande le code, montre service.py puis rag.py. Évite de naviguer entre toutes les fonctions.</a:t>
            </a:r>
          </a:p>
          <a:p xmlns:a="http://schemas.openxmlformats.org/drawingml/2006/main">
            <a:r>
              <a:t/>
            </a:r>
          </a:p>
          <a:p xmlns:a="http://schemas.openxmlformats.org/drawingml/2006/main">
            <a:r>
              <a:t>COMPRENDRE</a:t>
            </a:r>
          </a:p>
          <a:p xmlns:a="http://schemas.openxmlformats.org/drawingml/2006/main">
            <a:r>
              <a:t>Construire l’index, c’est préparer les rayons. Interroger l’index, c’est chercher dedans. Docker contient le seed ; le volume conserve l’index de travail.</a:t>
            </a:r>
          </a:p>
          <a:p xmlns:a="http://schemas.openxmlformats.org/drawingml/2006/main">
            <a:r>
              <a:t/>
            </a:r>
          </a:p>
          <a:p xmlns:a="http://schemas.openxmlformats.org/drawingml/2006/main">
            <a:r>
              <a:t>DÉTAIL TECHNIQUE</a:t>
            </a:r>
          </a:p>
          <a:p xmlns:a="http://schemas.openxmlformats.org/drawingml/2006/main">
            <a:r>
              <a:t>OpenAgendaRAGService._ensure_runtime() initialise les objets paresseusement. Ce sont des clients et un retriever en mémoire, pas les poids de Mistral en local. rebuild() reconstruit depuis le Parquet et invalide ces objets ; il ne recollecte pas les événements. La CLI réutilise le service ; la génération reste distante même sans HTTP local.</a:t>
            </a:r>
          </a:p>
          <a:p xmlns:a="http://schemas.openxmlformats.org/drawingml/2006/main">
            <a:r>
              <a:t/>
            </a:r>
          </a:p>
          <a:p xmlns:a="http://schemas.openxmlformats.org/drawingml/2006/main">
            <a:r>
              <a:t>PIÈGE</a:t>
            </a:r>
          </a:p>
          <a:p xmlns:a="http://schemas.openxmlformats.org/drawingml/2006/main">
            <a:r>
              <a:t>Ne qualifie pas la préparation de complètement hors ligne : elle appelle Mistral. /health ne charge pas l'index et ne teste pas la clé.</a:t>
            </a:r>
          </a:p>
          <a:p xmlns:a="http://schemas.openxmlformats.org/drawingml/2006/main">
            <a:r>
              <a:t/>
            </a:r>
          </a:p>
          <a:p xmlns:a="http://schemas.openxmlformats.org/drawingml/2006/main">
            <a:r>
              <a:t>PREUVE</a:t>
            </a:r>
          </a:p>
          <a:p xmlns:a="http://schemas.openxmlformats.org/drawingml/2006/main">
            <a:r>
              <a:t>src/openagenda_rag/service.py ; scripts/chatbot.py ; scripts/run_api.py.</a:t>
            </a:r>
          </a:p>
          <a:p xmlns:a="http://schemas.openxmlformats.org/drawingml/2006/main">
            <a:r>
              <a:t/>
            </a:r>
          </a:p>
          <a:p xmlns:a="http://schemas.openxmlformats.org/drawingml/2006/main">
            <a:r>
              <a:t>TRANSITION</a:t>
            </a:r>
          </a:p>
          <a:p xmlns:a="http://schemas.openxmlformats.org/drawingml/2006/main">
            <a:r>
              <a:t>Pour que vos équipes puissent poser une question, il reste à ouvrir un guichet.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06:30–07:35 (65 s)</a:t>
            </a:r>
          </a:p>
          <a:p xmlns:a="http://schemas.openxmlformats.org/drawingml/2006/main">
            <a:r>
              <a:t/>
            </a:r>
          </a:p>
          <a:p xmlns:a="http://schemas.openxmlformats.org/drawingml/2006/main">
            <a:r>
              <a:t>À LIRE</a:t>
            </a:r>
          </a:p>
          <a:p xmlns:a="http://schemas.openxmlformats.org/drawingml/2006/main">
            <a:r>
              <a:t>FastAPI est le guichet de notre bibliothèque. Une application lui envoie une question en JSON et reçoit une réponse, des sources et le nombre de passages récupérés. La route ask fait ce travail. Health indique que le guichet répond et affiche sa configuration, mais ne vérifie pas à elle seule que le bibliothécaire et le rédacteur peuvent répondre. Rebuild reconstruit les rayons à partir du Parquet ; elle ne collecte pas de nouvelles fiches. Swagger documente ces routes. Docker rassemble le code, les dépendances et le catalogue de départ pour lancer le même service ailleurs. La clé Mistral reste côté serveur. Le jeton de reconstruction est optionnel dans le POC ; il faut sécuriser ce guichet avant de l'exposer publiquement.</a:t>
            </a:r>
          </a:p>
          <a:p xmlns:a="http://schemas.openxmlformats.org/drawingml/2006/main">
            <a:r>
              <a:t/>
            </a:r>
          </a:p>
          <a:p xmlns:a="http://schemas.openxmlformats.org/drawingml/2006/main">
            <a:r>
              <a:t>À MONTRER</a:t>
            </a:r>
          </a:p>
          <a:p xmlns:a="http://schemas.openxmlformats.org/drawingml/2006/main">
            <a:r>
              <a:t>Pendant la démo, ouvre Swagger et montre les routes ; garde /rebuild fermé. Tu peux cliquer le lien Démo de la slide suivante.</a:t>
            </a:r>
          </a:p>
          <a:p xmlns:a="http://schemas.openxmlformats.org/drawingml/2006/main">
            <a:r>
              <a:t/>
            </a:r>
          </a:p>
          <a:p xmlns:a="http://schemas.openxmlformats.org/drawingml/2006/main">
            <a:r>
              <a:t>COMPRENDRE</a:t>
            </a:r>
          </a:p>
          <a:p xmlns:a="http://schemas.openxmlformats.org/drawingml/2006/main">
            <a:r>
              <a:t>API = guichet accessible par un logiciel. JSON = format du message. Docker = environnement transportable ; il ne rend pas Mistral local.</a:t>
            </a:r>
          </a:p>
          <a:p xmlns:a="http://schemas.openxmlformats.org/drawingml/2006/main">
            <a:r>
              <a:t/>
            </a:r>
          </a:p>
          <a:p xmlns:a="http://schemas.openxmlformats.org/drawingml/2006/main">
            <a:r>
              <a:t>DÉTAIL TECHNIQUE</a:t>
            </a:r>
          </a:p>
          <a:p xmlns:a="http://schemas.openxmlformats.org/drawingml/2006/main">
            <a:r>
              <a:t>Validation Pydantic : question vide → 422 ; espaces seuls → 400 ; index absent → 503. Les erreurs HTTP Mistral 429 et d’accès sont contrôlées en 503, les autres erreurs HTTP fournisseur en 502, les erreurs réseau en 503. Les détails des exceptions fournisseur et inattendues ne sont plus exposés. /rebuild est protégé uniquement si API_REBUILD_TOKEN est défini. /health vérifie le serveur et sa configuration, sans appeler Mistral.</a:t>
            </a:r>
          </a:p>
          <a:p xmlns:a="http://schemas.openxmlformats.org/drawingml/2006/main">
            <a:r>
              <a:t/>
            </a:r>
          </a:p>
          <a:p xmlns:a="http://schemas.openxmlformats.org/drawingml/2006/main">
            <a:r>
              <a:t>PIÈGE</a:t>
            </a:r>
          </a:p>
          <a:p xmlns:a="http://schemas.openxmlformats.org/drawingml/2006/main">
            <a:r>
              <a:t>Ne dis pas que /rebuild est forcément protégé ou que /health valide Mistral et l'index.</a:t>
            </a:r>
          </a:p>
          <a:p xmlns:a="http://schemas.openxmlformats.org/drawingml/2006/main">
            <a:r>
              <a:t/>
            </a:r>
          </a:p>
          <a:p xmlns:a="http://schemas.openxmlformats.org/drawingml/2006/main">
            <a:r>
              <a:t>PREUVE</a:t>
            </a:r>
          </a:p>
          <a:p xmlns:a="http://schemas.openxmlformats.org/drawingml/2006/main">
            <a:r>
              <a:t>src/openagenda_rag/api.py ; Dockerfile ; docker-compose.yml ; scripts/docker_entrypoint.sh.</a:t>
            </a:r>
          </a:p>
          <a:p xmlns:a="http://schemas.openxmlformats.org/drawingml/2006/main">
            <a:r>
              <a:t/>
            </a:r>
          </a:p>
          <a:p xmlns:a="http://schemas.openxmlformats.org/drawingml/2006/main">
            <a:r>
              <a:t>TRANSITION</a:t>
            </a:r>
          </a:p>
          <a:p xmlns:a="http://schemas.openxmlformats.org/drawingml/2006/main">
            <a:r>
              <a:t>Passons maintenant au guichet avec deux demandes concrètes.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07:35–09:55 (140 s)</a:t>
            </a:r>
          </a:p>
          <a:p xmlns:a="http://schemas.openxmlformats.org/drawingml/2006/main">
            <a:r>
              <a:t/>
            </a:r>
          </a:p>
          <a:p xmlns:a="http://schemas.openxmlformats.org/drawingml/2006/main">
            <a:r>
              <a:t>À LIRE</a:t>
            </a:r>
          </a:p>
          <a:p xmlns:a="http://schemas.openxmlformats.org/drawingml/2006/main">
            <a:r>
              <a:t>Je montre d'abord les routes et la configuration du guichet. Dans la page de démonstration, je demande des informations sur Concert Fishers à Paris et je clique sur l'appel direct. La page transmet la question à l'API, qui recherche les passages et appelle le rédacteur. Je compare maintenant la réponse à la fiche : Concert Fishers, Le Gymnase Montparnasse, le 21 juin 2026 et l'URL OpenAgenda. Cet événement est passé ; il sert à vérifier la chaîne sur le catalogue livré. Pour la deuxième demande, je cherche des expositions photo à Lyon. Notre catalogue couvre Paris. Le modèle indique qu'il ne sait pas répondre à partir de ce corpus. Le bibliothécaire retrouve tout de même des passages voisins : ce ne sont pas des recommandations pour Lyon. Cette distinction explique pourquoi un filtre de ville serait utile.</a:t>
            </a:r>
          </a:p>
          <a:p xmlns:a="http://schemas.openxmlformats.org/drawingml/2006/main">
            <a:r>
              <a:t/>
            </a:r>
          </a:p>
          <a:p xmlns:a="http://schemas.openxmlformats.org/drawingml/2006/main">
            <a:r>
              <a:t>À MONTRER</a:t>
            </a:r>
          </a:p>
          <a:p xmlns:a="http://schemas.openxmlformats.org/drawingml/2006/main">
            <a:r>
              <a:t>140 s au total : 20 s health/Swagger ; 50 s cas nominal ; 40 s Lyon ; 30 s explication et retour au deck. Une tentative live maximum en cas de quota, puis enregistrement. Mode secours disponible hors réseau.</a:t>
            </a:r>
          </a:p>
          <a:p xmlns:a="http://schemas.openxmlformats.org/drawingml/2006/main">
            <a:r>
              <a:t/>
            </a:r>
          </a:p>
          <a:p xmlns:a="http://schemas.openxmlformats.org/drawingml/2006/main">
            <a:r>
              <a:t>COMPRENDRE</a:t>
            </a:r>
          </a:p>
          <a:p xmlns:a="http://schemas.openxmlformats.org/drawingml/2006/main">
            <a:r>
              <a:t>La page est une interface HTML ajoutée pour la soutenance. Elle appelle réellement le guichet FastAPI. Son bouton enregistré montre une répétition sauvegardée, explicitement séparée du direct.</a:t>
            </a:r>
          </a:p>
          <a:p xmlns:a="http://schemas.openxmlformats.org/drawingml/2006/main">
            <a:r>
              <a:t/>
            </a:r>
          </a:p>
          <a:p xmlns:a="http://schemas.openxmlformats.org/drawingml/2006/main">
            <a:r>
              <a:t>DÉTAIL TECHNIQUE</a:t>
            </a:r>
          </a:p>
          <a:p xmlns:a="http://schemas.openxmlformats.org/drawingml/2006/main">
            <a:r>
              <a:t>Le 1er octobre, les deux scénarios /ask ont réussi en direct avec ministral-8b-2512. Le rapport outputs/demo/demo_api_2026-10-01.json en conserve les réponses, le modèle et l’horodatage. La mesure couvre health et les deux questions, pas chaque requête ni un benchmark. Mistral Small renvoyait 429 ; le modèle de génération a été changé, sans modifier mistral-embed ni reconstruire FAISS. La sortie peut encore contenir un conseil général non sourcé : le signaler si présent.</a:t>
            </a:r>
          </a:p>
          <a:p xmlns:a="http://schemas.openxmlformats.org/drawingml/2006/main">
            <a:r>
              <a:t/>
            </a:r>
          </a:p>
          <a:p xmlns:a="http://schemas.openxmlformats.org/drawingml/2006/main">
            <a:r>
              <a:t>PIÈGE</a:t>
            </a:r>
          </a:p>
          <a:p xmlns:a="http://schemas.openxmlformats.org/drawingml/2006/main">
            <a:r>
              <a:t>Ne présente pas un enregistrement comme un appel direct. Compare les faits et les dates aux sources. Si un conseil général non sourcé apparaît, explique que le prompt réduit les erreurs sans les éliminer. Aucun secret à l’écran.</a:t>
            </a:r>
          </a:p>
          <a:p xmlns:a="http://schemas.openxmlformats.org/drawingml/2006/main">
            <a:r>
              <a:t/>
            </a:r>
          </a:p>
          <a:p xmlns:a="http://schemas.openxmlformats.org/drawingml/2006/main">
            <a:r>
              <a:t>PREUVE</a:t>
            </a:r>
          </a:p>
          <a:p xmlns:a="http://schemas.openxmlformats.org/drawingml/2006/main">
            <a:r>
              <a:t>scripts/demo_api_5min.py ; outputs/demo/demo_api_2026-10-01.json ; démonstrateur HTML ; état de préparation.</a:t>
            </a:r>
          </a:p>
          <a:p xmlns:a="http://schemas.openxmlformats.org/drawingml/2006/main">
            <a:r>
              <a:t/>
            </a:r>
          </a:p>
          <a:p xmlns:a="http://schemas.openxmlformats.org/drawingml/2006/main">
            <a:r>
              <a:t>TRANSITION</a:t>
            </a:r>
          </a:p>
          <a:p xmlns:a="http://schemas.openxmlformats.org/drawingml/2006/main">
            <a:r>
              <a:t>Deux demandes donnent des exemples. Comment vérifier plus largement la bibliothèque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09:55–11:00 (65 s)</a:t>
            </a:r>
          </a:p>
          <a:p xmlns:a="http://schemas.openxmlformats.org/drawingml/2006/main">
            <a:r>
              <a:t/>
            </a:r>
          </a:p>
          <a:p xmlns:a="http://schemas.openxmlformats.org/drawingml/2006/main">
            <a:r>
              <a:t>À LIRE</a:t>
            </a:r>
          </a:p>
          <a:p xmlns:a="http://schemas.openxmlformats.org/drawingml/2006/main">
            <a:r>
              <a:t>Pour contrôler la bibliothèque, je distingue la mécanique et la qualité des conseils. Les 76 tests locaux passent : ils vérifient notamment les filtres, le nettoyage, le découpage, l'indexation, le contrat API et les erreurs. Ils utilisent des doublures pour ne pas dépendre du fournisseur à chaque exécution. Les appels réels sont vérifiés séparément dans la démo. Le jeu fonctionnel contient quatre questions annotées, avec des titres attendus et un cas de refus. Sa règle est permissive : un titre présent dans les sources peut suffire à classer le cas comme correct, même si la réponse reste imparfaite. Quatre cas corrects ne signifient donc pas cent pour cent de fiabilité. Aucune chaîne CI/CD n'est livrée ; les scripts permettent déjà d'automatiser les vérifications.</a:t>
            </a:r>
          </a:p>
          <a:p xmlns:a="http://schemas.openxmlformats.org/drawingml/2006/main">
            <a:r>
              <a:t/>
            </a:r>
          </a:p>
          <a:p xmlns:a="http://schemas.openxmlformats.org/drawingml/2006/main">
            <a:r>
              <a:t>À MONTRER</a:t>
            </a:r>
          </a:p>
          <a:p xmlns:a="http://schemas.openxmlformats.org/drawingml/2006/main">
            <a:r>
              <a:t>Annonce le résultat des tests, puis explique ce qu'ils couvrent. Montre le petit jeu CSV si demandé.</a:t>
            </a:r>
          </a:p>
          <a:p xmlns:a="http://schemas.openxmlformats.org/drawingml/2006/main">
            <a:r>
              <a:t/>
            </a:r>
          </a:p>
          <a:p xmlns:a="http://schemas.openxmlformats.org/drawingml/2006/main">
            <a:r>
              <a:t>COMPRENDRE</a:t>
            </a:r>
          </a:p>
          <a:p xmlns:a="http://schemas.openxmlformats.org/drawingml/2006/main">
            <a:r>
              <a:t>Un guichet qui répond et des rayons accessibles ne prouvent pas que le rédacteur donne toujours le bon conseil. Les tests du code et l’évaluation des réponses sont complémentaires.</a:t>
            </a:r>
          </a:p>
          <a:p xmlns:a="http://schemas.openxmlformats.org/drawingml/2006/main">
            <a:r>
              <a:t/>
            </a:r>
          </a:p>
          <a:p xmlns:a="http://schemas.openxmlformats.org/drawingml/2006/main">
            <a:r>
              <a:t>DÉTAIL TECHNIQUE</a:t>
            </a:r>
          </a:p>
          <a:p xmlns:a="http://schemas.openxmlformats.org/drawingml/2006/main">
            <a:r>
              <a:t>evaluation.py utilise SequenceMatcher sur du texte normalisé : similarité lexicale, pas embedding sémantique. exact_match_soft = égalité après normalisation. matched_expected_titles cherche dans answer OU sources. Sans titre attendu, certaines expressions de refus suffisent à classer correct. Les sorties historiques ont 4 corrects, exact_match_soft_rate=0 et similarité moyenne ~0,131. Ce n'est pas contradictoire, car les mesures ne testent pas la même chose. --ragas sur evaluate_rag.py ne lance pas les quatre métriques ; le vrai script est evaluate_ragas.py.</a:t>
            </a:r>
          </a:p>
          <a:p xmlns:a="http://schemas.openxmlformats.org/drawingml/2006/main">
            <a:r>
              <a:t/>
            </a:r>
          </a:p>
          <a:p xmlns:a="http://schemas.openxmlformats.org/drawingml/2006/main">
            <a:r>
              <a:t>PIÈGE</a:t>
            </a:r>
          </a:p>
          <a:p xmlns:a="http://schemas.openxmlformats.org/drawingml/2006/main">
            <a:r>
              <a:t>Ne transforme pas 4/4 en une précision de 100 % du système. Les tests ne font pas tous des appels Mistral réels.</a:t>
            </a:r>
          </a:p>
          <a:p xmlns:a="http://schemas.openxmlformats.org/drawingml/2006/main">
            <a:r>
              <a:t/>
            </a:r>
          </a:p>
          <a:p xmlns:a="http://schemas.openxmlformats.org/drawingml/2006/main">
            <a:r>
              <a:t>PREUVE</a:t>
            </a:r>
          </a:p>
          <a:p xmlns:a="http://schemas.openxmlformats.org/drawingml/2006/main">
            <a:r>
              <a:t>tests/ ; tests/fixtures/rag_eval_dataset.csv ; scripts/evaluate_rag.py ; outputs/evaluation/latest_summary.json.</a:t>
            </a:r>
          </a:p>
          <a:p xmlns:a="http://schemas.openxmlformats.org/drawingml/2006/main">
            <a:r>
              <a:t/>
            </a:r>
          </a:p>
          <a:p xmlns:a="http://schemas.openxmlformats.org/drawingml/2006/main">
            <a:r>
              <a:t>TRANSITION</a:t>
            </a:r>
          </a:p>
          <a:p xmlns:a="http://schemas.openxmlformats.org/drawingml/2006/main">
            <a:r>
              <a:t>RAGAS apporte une seconde lecture : examiner les extraits et le travail du rédacteur.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11:00–12:40 (100 s)</a:t>
            </a:r>
          </a:p>
          <a:p xmlns:a="http://schemas.openxmlformats.org/drawingml/2006/main">
            <a:r>
              <a:t/>
            </a:r>
          </a:p>
          <a:p xmlns:a="http://schemas.openxmlformats.org/drawingml/2006/main">
            <a:r>
              <a:t>À LIRE</a:t>
            </a:r>
          </a:p>
          <a:p xmlns:a="http://schemas.openxmlformats.org/drawingml/2006/main">
            <a:r>
              <a:t>J'ai aussi utilisé RAGAS sur trois cas, avec les passages effectivement récupérés, la réponse et une référence humaine. Reprenons la bibliothèque. La fidélité demande si les affirmations du rédacteur sont soutenues par les extraits : sa moyenne est 0,900. La pertinence demande si la réponse traite la demande du visiteur : 0,846. La précision du contexte examine l'utilité et l'ordre des extraits apportés par le bibliothécaire : 1,000. Ce score ne signifie pas qu'il a retrouvé tous les événements pertinents. La correction compare la réponse à la référence attendue : 0,683. Une réponse peut donc être cohérente avec les extraits, tout en oubliant une information ou en s'éloignant de la référence. Le cas famille est le plus faible en correction, autour de 0,581. Ces résultats datent du 23 juillet, utilisent Mistral Small et ne portent que sur trois cas. Ils orientent les améliorations ; ils ne démontrent pas la qualité générale de Ministral 8B.</a:t>
            </a:r>
          </a:p>
          <a:p xmlns:a="http://schemas.openxmlformats.org/drawingml/2006/main">
            <a:r>
              <a:t/>
            </a:r>
          </a:p>
          <a:p xmlns:a="http://schemas.openxmlformats.org/drawingml/2006/main">
            <a:r>
              <a:t>À MONTRER</a:t>
            </a:r>
          </a:p>
          <a:p xmlns:a="http://schemas.openxmlformats.org/drawingml/2006/main">
            <a:r>
              <a:t>Lis les quatre scores avec leur sens, puis donne la limite du petit échantillon. En discussion, ouvre les exemples RAGAS du rapport.</a:t>
            </a:r>
          </a:p>
          <a:p xmlns:a="http://schemas.openxmlformats.org/drawingml/2006/main">
            <a:r>
              <a:t/>
            </a:r>
          </a:p>
          <a:p xmlns:a="http://schemas.openxmlformats.org/drawingml/2006/main">
            <a:r>
              <a:t>COMPRENDRE</a:t>
            </a:r>
          </a:p>
          <a:p xmlns:a="http://schemas.openxmlformats.org/drawingml/2006/main">
            <a:r>
              <a:t>Fidélité = appui sur les extraits. Pertinence = réponse à la demande. Précision du contexte = utilité des extraits. Correction = accord avec la référence. Ce sont des scores du petit échantillon, pas des pourcentages de satisfaction.</a:t>
            </a:r>
          </a:p>
          <a:p xmlns:a="http://schemas.openxmlformats.org/drawingml/2006/main">
            <a:r>
              <a:t/>
            </a:r>
          </a:p>
          <a:p xmlns:a="http://schemas.openxmlformats.org/drawingml/2006/main">
            <a:r>
              <a:t>DÉTAIL TECHNIQUE</a:t>
            </a:r>
          </a:p>
          <a:p xmlns:a="http://schemas.openxmlformats.org/drawingml/2006/main">
            <a:r>
              <a:t>RAGAS 0.4.3 ; juge ministral-8b-2512 ; embeddings mistral-embed. Faithfulness juge les affirmations soutenues. ContextPrecision s'appuie sur une référence pour évaluer les contextes récupérés et leur classement : 1,0 ne signifie ni tous les chunks utiles ni rappel parfait. AnswerCorrectness combine comparaison factuelle et similarité. Le script appelle les métriques séquentiellement avec reprises après erreurs transitoires. Les seuils fort≥0,8 et acceptable≥0,6 sont des conventions du projet. Le même fournisseur sert à générer et juger : biais possible, review humaine nécessaire. Les références courtes peuvent pénaliser des développements utiles, mais cela ne justifie pas les faits inventés.</a:t>
            </a:r>
          </a:p>
          <a:p xmlns:a="http://schemas.openxmlformats.org/drawingml/2006/main">
            <a:r>
              <a:t/>
            </a:r>
          </a:p>
          <a:p xmlns:a="http://schemas.openxmlformats.org/drawingml/2006/main">
            <a:r>
              <a:t>PIÈGE</a:t>
            </a:r>
          </a:p>
          <a:p xmlns:a="http://schemas.openxmlformats.org/drawingml/2006/main">
            <a:r>
              <a:t>0,900 n'est pas un taux de satisfaction de 90 %. 1,000 n'est pas un rappel de 100 %. Ces scores historiques n'ont pas été recalculés aujourd'hui.</a:t>
            </a:r>
          </a:p>
          <a:p xmlns:a="http://schemas.openxmlformats.org/drawingml/2006/main">
            <a:r>
              <a:t/>
            </a:r>
          </a:p>
          <a:p xmlns:a="http://schemas.openxmlformats.org/drawingml/2006/main">
            <a:r>
              <a:t>PREUVE</a:t>
            </a:r>
          </a:p>
          <a:p xmlns:a="http://schemas.openxmlformats.org/drawingml/2006/main">
            <a:r>
              <a:t>scripts/evaluate_ragas.py ; src/openagenda_rag/ragas_evaluation.py ; outputs/evaluation/ragas_results.json ; rapport, section 7.</a:t>
            </a:r>
          </a:p>
          <a:p xmlns:a="http://schemas.openxmlformats.org/drawingml/2006/main">
            <a:r>
              <a:t/>
            </a:r>
          </a:p>
          <a:p xmlns:a="http://schemas.openxmlformats.org/drawingml/2006/main">
            <a:r>
              <a:t>TRANSITION</a:t>
            </a:r>
          </a:p>
          <a:p xmlns:a="http://schemas.openxmlformats.org/drawingml/2006/main">
            <a:r>
              <a:t>Ces contrôles mettent en évidence trois limites concrètes de notre bibliothèque.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12:40–13:45 (65 s)</a:t>
            </a:r>
          </a:p>
          <a:p xmlns:a="http://schemas.openxmlformats.org/drawingml/2006/main">
            <a:r>
              <a:t/>
            </a:r>
          </a:p>
          <a:p xmlns:a="http://schemas.openxmlformats.org/drawingml/2006/main">
            <a:r>
              <a:t>À LIRE</a:t>
            </a:r>
          </a:p>
          <a:p xmlns:a="http://schemas.openxmlformats.org/drawingml/2006/main">
            <a:r>
              <a:t>La première limite concerne le catalogue : il est limité à Paris et figé en juillet. Il faut actualiser les fiches et filtrer les occurrences pour recommander des sorties actuelles. La deuxième concerne le bibliothécaire : il apporte les passages les plus proches, même lorsque leur ville ou leur date ne répond pas à la demande. Un seuil calibré et des filtres explicites rendraient le refus plus robuste. La troisième concerne le rédacteur : il dépend de Mistral, peut rencontrer une limite d'usage et peut encore ajouter un conseil hors contexte. J'ai rétabli la démo avec Ministral 8B et contrôlé les erreurs fournisseur, mais cela ne prouve pas une qualité équivalente à Small. Il faut réévaluer ce modèle, diversifier les questions et renforcer les contrôles avant un déploiement plus large.</a:t>
            </a:r>
          </a:p>
          <a:p xmlns:a="http://schemas.openxmlformats.org/drawingml/2006/main">
            <a:r>
              <a:t/>
            </a:r>
          </a:p>
          <a:p xmlns:a="http://schemas.openxmlformats.org/drawingml/2006/main">
            <a:r>
              <a:t>À MONTRER</a:t>
            </a:r>
          </a:p>
          <a:p xmlns:a="http://schemas.openxmlformats.org/drawingml/2006/main">
            <a:r>
              <a:t>Relie chaque limite à une amélioration. Si la démo enregistrée a été utilisée, rappelle simplement la cause observée.</a:t>
            </a:r>
          </a:p>
          <a:p xmlns:a="http://schemas.openxmlformats.org/drawingml/2006/main">
            <a:r>
              <a:t/>
            </a:r>
          </a:p>
          <a:p xmlns:a="http://schemas.openxmlformats.org/drawingml/2006/main">
            <a:r>
              <a:t>COMPRENDRE</a:t>
            </a:r>
          </a:p>
          <a:p xmlns:a="http://schemas.openxmlformats.org/drawingml/2006/main">
            <a:r>
              <a:t>Catalogue incomplet → données à actualiser. Mauvais extraits → recherche à calibrer. Conseil fragile → réponse à vérifier. L’analogie explique les responsabilités sans masquer les limites.</a:t>
            </a:r>
          </a:p>
          <a:p xmlns:a="http://schemas.openxmlformats.org/drawingml/2006/main">
            <a:r>
              <a:t/>
            </a:r>
          </a:p>
          <a:p xmlns:a="http://schemas.openxmlformats.org/drawingml/2006/main">
            <a:r>
              <a:t>DÉTAIL TECHNIQUE</a:t>
            </a:r>
          </a:p>
          <a:p xmlns:a="http://schemas.openxmlformats.org/drawingml/2006/main">
            <a:r>
              <a:t>Pas de reranker, recherche hybride, seuil de distance, filtre de métadonnées par question, authentification globale, limitation de débit ni supervision livrés. Reconstruction destructive sur le répertoire cible : pas de bascule atomique et risque de concurrence à traiter en production. Pickle de FAISS chargé avec allow_dangerous_deserialization=True : uniquement artefacts de confiance. Les noms latest et les dépendances transitives non totalement figées limitent la reproductibilité stricte.</a:t>
            </a:r>
          </a:p>
          <a:p xmlns:a="http://schemas.openxmlformats.org/drawingml/2006/main">
            <a:r>
              <a:t/>
            </a:r>
          </a:p>
          <a:p xmlns:a="http://schemas.openxmlformats.org/drawingml/2006/main">
            <a:r>
              <a:t>PIÈGE</a:t>
            </a:r>
          </a:p>
          <a:p xmlns:a="http://schemas.openxmlformats.org/drawingml/2006/main">
            <a:r>
              <a:t>Ne prétends pas que Docker rend le projet entièrement hors ligne, qu'un seuil seul comprend toutes les contraintes, ou que l'API est prête pour une exposition publique.</a:t>
            </a:r>
          </a:p>
          <a:p xmlns:a="http://schemas.openxmlformats.org/drawingml/2006/main">
            <a:r>
              <a:t/>
            </a:r>
          </a:p>
          <a:p xmlns:a="http://schemas.openxmlformats.org/drawingml/2006/main">
            <a:r>
              <a:t>PREUVE</a:t>
            </a:r>
          </a:p>
          <a:p xmlns:a="http://schemas.openxmlformats.org/drawingml/2006/main">
            <a:r>
              <a:t>README.md : limites ; src/openagenda_rag/rag.py ; api.py ; indexing.py ; état de préparation.</a:t>
            </a:r>
          </a:p>
          <a:p xmlns:a="http://schemas.openxmlformats.org/drawingml/2006/main">
            <a:r>
              <a:t/>
            </a:r>
          </a:p>
          <a:p xmlns:a="http://schemas.openxmlformats.org/drawingml/2006/main">
            <a:r>
              <a:t>TRANSITION</a:t>
            </a:r>
          </a:p>
          <a:p xmlns:a="http://schemas.openxmlformats.org/drawingml/2006/main">
            <a:r>
              <a:t>La prochaine étape est donc d’améliorer cette bibliothèque et de mesurer son utilité avec vos équipes.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13:45–15:00 (75 s)</a:t>
            </a:r>
          </a:p>
          <a:p xmlns:a="http://schemas.openxmlformats.org/drawingml/2006/main">
            <a:r>
              <a:t/>
            </a:r>
          </a:p>
          <a:p xmlns:a="http://schemas.openxmlformats.org/drawingml/2006/main">
            <a:r>
              <a:t>À LIRE</a:t>
            </a:r>
          </a:p>
          <a:p xmlns:a="http://schemas.openxmlformats.org/drawingml/2006/main">
            <a:r>
              <a:t>Pour conclure, le POC livre notre bibliothèque : un catalogue réel, des passages indexés, une recherche par proximité de sens, un rédacteur guidé par les sources et un guichet API accessible avec Docker. Je propose d'abord d'actualiser le catalogue et d'ajouter les contraintes de ville et de date. Ensuite, d'élargir les références humaines et de comparer les réglages ainsi que les modèles. Enfin, un pilote doit mesurer l'utilité des réponses, les refus corrects, les clics vers les sources, la latence et le coût. Je vous montre brièvement le rapport et le dépôt : scripts permet de relancer les étapes, src contient le moteur et le guichet, tests les contrôles, et seed-data le catalogue de référence et son index. La solution est examinable et testable ; sa qualité à plus grande échelle reste à mesurer. Je suis prêt à répondre à vos questions.</a:t>
            </a:r>
          </a:p>
          <a:p xmlns:a="http://schemas.openxmlformats.org/drawingml/2006/main">
            <a:r>
              <a:t/>
            </a:r>
          </a:p>
          <a:p xmlns:a="http://schemas.openxmlformats.org/drawingml/2006/main">
            <a:r>
              <a:t>À MONTRER</a:t>
            </a:r>
          </a:p>
          <a:p xmlns:a="http://schemas.openxmlformats.org/drawingml/2006/main">
            <a:r>
              <a:t>30 s de conclusion ; 20 s rapport (architecture, évaluation, limites) ; 25 s dépôt (scripts/, src/, tests/, seed-data/). Retourne ensuite au deck. Tous les liens sont dans le guide.</a:t>
            </a:r>
          </a:p>
          <a:p xmlns:a="http://schemas.openxmlformats.org/drawingml/2006/main">
            <a:r>
              <a:t/>
            </a:r>
          </a:p>
          <a:p xmlns:a="http://schemas.openxmlformats.org/drawingml/2006/main">
            <a:r>
              <a:t>COMPRENDRE</a:t>
            </a:r>
          </a:p>
          <a:p xmlns:a="http://schemas.openxmlformats.org/drawingml/2006/main">
            <a:r>
              <a:t>Ta conclusion : une chaîne concrète est livrée, des preuves existent et les prochains travaux répondent aux limites observées. Pas de promesse de production ou de qualité parfaite.</a:t>
            </a:r>
          </a:p>
          <a:p xmlns:a="http://schemas.openxmlformats.org/drawingml/2006/main">
            <a:r>
              <a:t/>
            </a:r>
          </a:p>
          <a:p xmlns:a="http://schemas.openxmlformats.org/drawingml/2006/main">
            <a:r>
              <a:t>DÉTAIL TECHNIQUE</a:t>
            </a:r>
          </a:p>
          <a:p xmlns:a="http://schemas.openxmlformats.org/drawingml/2006/main">
            <a:r>
              <a:t>Priorités : fraîcheur et contraintes métier ; jeu annoté diversifié et cas négatifs ; optimisation mesurée ; gestion quotas/erreurs/secrets ; authentification, logs, CI, tests de charge et mises à jour atomiques. Les clics et la satisfaction doivent être observés avec des utilisateurs. Aucun coût précis ni objectif de latence de production n'a été mesuré dans ce POC.</a:t>
            </a:r>
          </a:p>
          <a:p xmlns:a="http://schemas.openxmlformats.org/drawingml/2006/main">
            <a:r>
              <a:t/>
            </a:r>
          </a:p>
          <a:p xmlns:a="http://schemas.openxmlformats.org/drawingml/2006/main">
            <a:r>
              <a:t>PIÈGE</a:t>
            </a:r>
          </a:p>
          <a:p xmlns:a="http://schemas.openxmlformats.org/drawingml/2006/main">
            <a:r>
              <a:t>Ne consacre pas plusieurs minutes à parcourir le dépôt. La présentation doit rester entre 10 et 20 minutes, cible 15.</a:t>
            </a:r>
          </a:p>
          <a:p xmlns:a="http://schemas.openxmlformats.org/drawingml/2006/main">
            <a:r>
              <a:t/>
            </a:r>
          </a:p>
          <a:p xmlns:a="http://schemas.openxmlformats.org/drawingml/2006/main">
            <a:r>
              <a:t>PREUVE</a:t>
            </a:r>
          </a:p>
          <a:p xmlns:a="http://schemas.openxmlformats.org/drawingml/2006/main">
            <a:r>
              <a:t>README.md ; outputs/rapport-technique-openagenda-rag.pdf ; https://github.com/hgbe-GH/Projet7.</a:t>
            </a:r>
          </a:p>
          <a:p xmlns:a="http://schemas.openxmlformats.org/drawingml/2006/main">
            <a:r>
              <a:t/>
            </a:r>
          </a:p>
          <a:p xmlns:a="http://schemas.openxmlformats.org/drawingml/2006/main">
            <a:r>
              <a:t>TRANSITION</a:t>
            </a:r>
          </a:p>
          <a:p xmlns:a="http://schemas.openxmlformats.org/drawingml/2006/main">
            <a:r>
              <a:t>Discussion : commence par la réponse courte, puis explique le composant et la preuve concernés.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126a7821c74a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d4fed887904e4e" /><Relationship Type="http://schemas.openxmlformats.org/officeDocument/2006/relationships/slideLayout" Target="/ppt/slideLayouts/slideLayout1.xml" Id="Re81c86b78d954e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1c86b78d954e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91652c761943c1" /><Relationship Type="http://schemas.openxmlformats.org/officeDocument/2006/relationships/notesSlide" Target="/ppt/notesSlides/notesSlide1.xml" Id="Rb4ebe7b799a543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3b67457c7941cc" /><Relationship Type="http://schemas.openxmlformats.org/officeDocument/2006/relationships/notesSlide" Target="/ppt/notesSlides/notesSlide2.xml" Id="R3823d9640e44469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572caef3c124d47" /><Relationship Type="http://schemas.openxmlformats.org/officeDocument/2006/relationships/notesSlide" Target="/ppt/notesSlides/notesSlide3.xml" Id="R1cb7de3e7bf9479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cb0cd230343486f" /><Relationship Type="http://schemas.openxmlformats.org/officeDocument/2006/relationships/notesSlide" Target="/ppt/notesSlides/notesSlide4.xml" Id="Ra2654f55aee94a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438cb2685e04742" /><Relationship Type="http://schemas.openxmlformats.org/officeDocument/2006/relationships/image" Target="/ppt/media/image.png" Id="Re3e57c5d73bb493b" /><Relationship Type="http://schemas.openxmlformats.org/officeDocument/2006/relationships/hyperlink" Target="https://hgbe-gh-openclassrooms-projet5.hf.space/docs" TargetMode="External" Id="Re930750818e24dd1" /><Relationship Type="http://schemas.openxmlformats.org/officeDocument/2006/relationships/hyperlink" Target="https://hgbe-gh-openclassrooms-projet5.hf.space/health" TargetMode="External" Id="R5c7a4c9372bc411f" /><Relationship Type="http://schemas.openxmlformats.org/officeDocument/2006/relationships/notesSlide" Target="/ppt/notesSlides/notesSlide5.xml" Id="Rf578aa3b90f6431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0aa53820ce74a5e" /><Relationship Type="http://schemas.openxmlformats.org/officeDocument/2006/relationships/notesSlide" Target="/ppt/notesSlides/notesSlide6.xml" Id="R46b02311e5fe4d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8d69c164c3c4f86" /><Relationship Type="http://schemas.openxmlformats.org/officeDocument/2006/relationships/image" Target="/ppt/media/image.png" Id="R3b9757df841a455b" /><Relationship Type="http://schemas.openxmlformats.org/officeDocument/2006/relationships/hyperlink" Target="https://hgbe-gh-openclassrooms-projet5.hf.space/docs" TargetMode="External" Id="R5cf0a30796314bb0" /><Relationship Type="http://schemas.openxmlformats.org/officeDocument/2006/relationships/hyperlink" Target="https://hgbe-gh-openclassrooms-projet5.hf.space/health" TargetMode="External" Id="Rfeb706730eea4db7" /><Relationship Type="http://schemas.openxmlformats.org/officeDocument/2006/relationships/notesSlide" Target="/ppt/notesSlides/notesSlide7.xml" Id="Rf79de30bd20847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1dbf18829a4024" /><Relationship Type="http://schemas.openxmlformats.org/officeDocument/2006/relationships/hyperlink" Target="https://hgbe-gh-openclassrooms-projet5.hf.space/docs" TargetMode="External" Id="R3a4064d7bc404002" /><Relationship Type="http://schemas.openxmlformats.org/officeDocument/2006/relationships/hyperlink" Target="https://hgbe-gh-openclassrooms-projet5.hf.space/health" TargetMode="External" Id="R794867ef118f4cf9" /><Relationship Type="http://schemas.openxmlformats.org/officeDocument/2006/relationships/hyperlink" Target="https://github.com/hgbe-GH/openclassrooms-projet5/actions/runs/30814421390" TargetMode="External" Id="Rdc098d5f9821481a" /><Relationship Type="http://schemas.openxmlformats.org/officeDocument/2006/relationships/hyperlink" Target="https://github.com/hgbe-GH/openclassrooms-projet5" TargetMode="External" Id="R629276bdb7c94025" /><Relationship Type="http://schemas.openxmlformats.org/officeDocument/2006/relationships/notesSlide" Target="/ppt/notesSlides/notesSlide8.xml" Id="R39c5d128f7e3453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09cddf9d504737" /><Relationship Type="http://schemas.openxmlformats.org/officeDocument/2006/relationships/notesSlide" Target="/ppt/notesSlides/notesSlide9.xml" Id="R0c3d2479c35e4ec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97270fbf5b54719" /><Relationship Type="http://schemas.openxmlformats.org/officeDocument/2006/relationships/notesSlide" Target="/ppt/notesSlides/notesSlide10.xml" Id="R32d605a7df234c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39f5de5b688441c" /><Relationship Type="http://schemas.openxmlformats.org/officeDocument/2006/relationships/notesSlide" Target="/ppt/notesSlides/notesSlide11.xml" Id="R0a78be172c0748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7ca7efa5dd84c10" /><Relationship Type="http://schemas.openxmlformats.org/officeDocument/2006/relationships/notesSlide" Target="/ppt/notesSlides/notesSlide12.xml" Id="R75548d295051493f" /></Relationships>
</file>

<file path=ppt/slides/slide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0142339-7B07-4DCF-B587-ED5D929F271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08B1A11-27B1-4544-82FF-4A9E52533F68}"/>
              </a:ext>
            </a:extLst>
          </p:cNvPr>
          <p:cNvSpPr>
            <a:spLocks xmlns:a="http://schemas.openxmlformats.org/drawingml/2006/main" noGrp="1"/>
          </p:cNvSpPr>
          <p:nvPr/>
        </p:nvSpPr>
        <p:spPr>
          <a:xfrm xmlns:a="http://schemas.openxmlformats.org/drawingml/2006/main">
            <a:off x="685800" y="666750"/>
            <a:ext cx="795528"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C7DBD28-CDDD-4793-893D-6F7F4539AA37}"/>
              </a:ext>
            </a:extLst>
          </p:cNvPr>
          <p:cNvSpPr>
            <a:spLocks xmlns:a="http://schemas.openxmlformats.org/drawingml/2006/main" noGrp="1"/>
          </p:cNvSpPr>
          <p:nvPr/>
        </p:nvSpPr>
        <p:spPr>
          <a:xfrm xmlns:a="http://schemas.openxmlformats.org/drawingml/2006/main">
            <a:off x="1481328" y="666750"/>
            <a:ext cx="447485"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7CF5E5-FBBF-45A8-9EB5-3124092CA874}"/>
              </a:ext>
            </a:extLst>
          </p:cNvPr>
          <p:cNvSpPr>
            <a:spLocks xmlns:a="http://schemas.openxmlformats.org/drawingml/2006/main" noGrp="1"/>
          </p:cNvSpPr>
          <p:nvPr/>
        </p:nvSpPr>
        <p:spPr>
          <a:xfrm xmlns:a="http://schemas.openxmlformats.org/drawingml/2006/main">
            <a:off x="1928813" y="666750"/>
            <a:ext cx="414338"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7505292-04E4-4A8B-862A-FB88FFF317AA}"/>
              </a:ext>
            </a:extLst>
          </p:cNvPr>
          <p:cNvSpPr>
            <a:spLocks xmlns:a="http://schemas.openxmlformats.org/drawingml/2006/main" noGrp="1"/>
          </p:cNvSpPr>
          <p:nvPr/>
        </p:nvSpPr>
        <p:spPr>
          <a:xfrm xmlns:a="http://schemas.openxmlformats.org/drawingml/2006/main">
            <a:off x="685800" y="99060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MISSION PULS-EVENTS  •  PROJET 7</a:t>
            </a:r>
          </a:p>
        </p:txBody>
      </p:sp>
      <p:sp>
        <p:nvSpPr>
          <p:cNvPr id="6" name="">
            <a:extLst xmlns:a="http://schemas.openxmlformats.org/drawingml/2006/main">
              <a:ext uri="{FF2B5EF4-FFF2-40B4-BE49-F238E27FC236}">
                <a16:creationId xmlns:a16="http://schemas.microsoft.com/office/drawing/2014/main" id="{7AA5EB4D-9038-48CE-B32E-C32FDAE770F0}"/>
              </a:ext>
            </a:extLst>
          </p:cNvPr>
          <p:cNvSpPr>
            <a:spLocks xmlns:a="http://schemas.openxmlformats.org/drawingml/2006/main" noGrp="1"/>
          </p:cNvSpPr>
          <p:nvPr/>
        </p:nvSpPr>
        <p:spPr>
          <a:xfrm xmlns:a="http://schemas.openxmlformats.org/drawingml/2006/main">
            <a:off x="685800" y="1543050"/>
            <a:ext cx="6419850" cy="1733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 catalogue culturel.</a:t>
            </a:r>
          </a:p>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Une question.</a:t>
            </a:r>
          </a:p>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Une réponse vérifiable.</a:t>
            </a:r>
          </a:p>
        </p:txBody>
      </p:sp>
      <p:sp>
        <p:nvSpPr>
          <p:cNvPr id="7" name="">
            <a:extLst xmlns:a="http://schemas.openxmlformats.org/drawingml/2006/main">
              <a:ext uri="{FF2B5EF4-FFF2-40B4-BE49-F238E27FC236}">
                <a16:creationId xmlns:a16="http://schemas.microsoft.com/office/drawing/2014/main" id="{3B989524-CAED-444B-B497-42C42D56E09F}"/>
              </a:ext>
            </a:extLst>
          </p:cNvPr>
          <p:cNvSpPr>
            <a:spLocks xmlns:a="http://schemas.openxmlformats.org/drawingml/2006/main" noGrp="1"/>
          </p:cNvSpPr>
          <p:nvPr/>
        </p:nvSpPr>
        <p:spPr>
          <a:xfrm xmlns:a="http://schemas.openxmlformats.org/drawingml/2006/main">
            <a:off x="704850" y="3543300"/>
            <a:ext cx="647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OpenAgenda · FAISS · Mistral · FastAPI · Docker</a:t>
            </a:r>
          </a:p>
        </p:txBody>
      </p:sp>
      <p:sp>
        <p:nvSpPr>
          <p:cNvPr id="8" name="">
            <a:extLst xmlns:a="http://schemas.openxmlformats.org/drawingml/2006/main">
              <a:ext uri="{FF2B5EF4-FFF2-40B4-BE49-F238E27FC236}">
                <a16:creationId xmlns:a16="http://schemas.microsoft.com/office/drawing/2014/main" id="{FABA1E5E-573F-4C03-BD1F-77DB49919677}"/>
              </a:ext>
            </a:extLst>
          </p:cNvPr>
          <p:cNvSpPr>
            <a:spLocks xmlns:a="http://schemas.openxmlformats.org/drawingml/2006/main" noGrp="1"/>
          </p:cNvSpPr>
          <p:nvPr/>
        </p:nvSpPr>
        <p:spPr>
          <a:xfrm xmlns:a="http://schemas.openxmlformats.org/drawingml/2006/main">
            <a:off x="704850" y="4610100"/>
            <a:ext cx="1924050" cy="304800"/>
          </a:xfrm>
          <a:prstGeom xmlns:a="http://schemas.openxmlformats.org/drawingml/2006/main" prst="roundRect">
            <a:avLst>
              <a:gd name="adj" fmla="val 50000"/>
            </a:avLst>
          </a:prstGeom>
          <a:solidFill xmlns:a="http://schemas.openxmlformats.org/drawingml/2006/main">
            <a:srgbClr val="E9F8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POC DÉMONTRABLE</a:t>
            </a:r>
          </a:p>
        </p:txBody>
      </p:sp>
      <p:sp>
        <p:nvSpPr>
          <p:cNvPr id="9" name="">
            <a:extLst xmlns:a="http://schemas.openxmlformats.org/drawingml/2006/main">
              <a:ext uri="{FF2B5EF4-FFF2-40B4-BE49-F238E27FC236}">
                <a16:creationId xmlns:a16="http://schemas.microsoft.com/office/drawing/2014/main" id="{A3A271D8-5509-42C2-B3FA-9BC7846A0BD6}"/>
              </a:ext>
            </a:extLst>
          </p:cNvPr>
          <p:cNvSpPr>
            <a:spLocks xmlns:a="http://schemas.openxmlformats.org/drawingml/2006/main" noGrp="1"/>
          </p:cNvSpPr>
          <p:nvPr/>
        </p:nvSpPr>
        <p:spPr>
          <a:xfrm xmlns:a="http://schemas.openxmlformats.org/drawingml/2006/main">
            <a:off x="704850" y="5181600"/>
            <a:ext cx="533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Hugo Gaube  •  Data Scientist freelance</a:t>
            </a:r>
          </a:p>
        </p:txBody>
      </p:sp>
      <p:sp>
        <p:nvSpPr>
          <p:cNvPr id="10" name="">
            <a:extLst xmlns:a="http://schemas.openxmlformats.org/drawingml/2006/main">
              <a:ext uri="{FF2B5EF4-FFF2-40B4-BE49-F238E27FC236}">
                <a16:creationId xmlns:a16="http://schemas.microsoft.com/office/drawing/2014/main" id="{B6AFF538-5767-49B3-9978-19A899F12DE0}"/>
              </a:ext>
            </a:extLst>
          </p:cNvPr>
          <p:cNvSpPr>
            <a:spLocks xmlns:a="http://schemas.openxmlformats.org/drawingml/2006/main" noGrp="1"/>
          </p:cNvSpPr>
          <p:nvPr/>
        </p:nvSpPr>
        <p:spPr>
          <a:xfrm xmlns:a="http://schemas.openxmlformats.org/drawingml/2006/main">
            <a:off x="704850" y="5543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0">
                <a:solidFill>
                  <a:srgbClr val="17234C"/>
                </a:solidFill>
                <a:latin typeface="Noto Sans"/>
                <a:ea typeface="Noto Sans"/>
                <a:cs typeface="Noto Sans"/>
              </a:defRPr>
            </a:pPr>
            <a:r>
              <a:rPr sz="900" b="0">
                <a:solidFill>
                  <a:srgbClr val="17234C"/>
                </a:solidFill>
                <a:latin typeface="Noto Sans"/>
                <a:ea typeface="Noto Sans"/>
                <a:cs typeface="Noto Sans"/>
              </a:rPr>
              <a:t>Soutenance · 1er octobre 2026</a:t>
            </a:r>
          </a:p>
        </p:txBody>
      </p:sp>
      <p:sp>
        <p:nvSpPr>
          <p:cNvPr id="11" name="">
            <a:extLst xmlns:a="http://schemas.openxmlformats.org/drawingml/2006/main">
              <a:ext uri="{FF2B5EF4-FFF2-40B4-BE49-F238E27FC236}">
                <a16:creationId xmlns:a16="http://schemas.microsoft.com/office/drawing/2014/main" id="{FF079AB3-EB64-4F47-ADC0-4F3BF4C38168}"/>
              </a:ext>
            </a:extLst>
          </p:cNvPr>
          <p:cNvSpPr>
            <a:spLocks xmlns:a="http://schemas.openxmlformats.org/drawingml/2006/main" noGrp="1"/>
          </p:cNvSpPr>
          <p:nvPr/>
        </p:nvSpPr>
        <p:spPr>
          <a:xfrm xmlns:a="http://schemas.openxmlformats.org/drawingml/2006/main">
            <a:off x="7867650" y="1104900"/>
            <a:ext cx="3295650" cy="4514850"/>
          </a:xfrm>
          <a:prstGeom xmlns:a="http://schemas.openxmlformats.org/drawingml/2006/main" prst="roundRect">
            <a:avLst>
              <a:gd name="adj" fmla="val 7514"/>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F1E07DE1-C884-44D2-A5D9-964D34E01EB3}"/>
              </a:ext>
            </a:extLst>
          </p:cNvPr>
          <p:cNvSpPr>
            <a:spLocks xmlns:a="http://schemas.openxmlformats.org/drawingml/2006/main" noGrp="1"/>
          </p:cNvSpPr>
          <p:nvPr/>
        </p:nvSpPr>
        <p:spPr>
          <a:xfrm xmlns:a="http://schemas.openxmlformats.org/drawingml/2006/main">
            <a:off x="8458200" y="15906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Montserrat"/>
                <a:ea typeface="Montserrat"/>
                <a:cs typeface="Montserrat"/>
              </a:defRPr>
            </a:pPr>
            <a:r>
              <a:rPr sz="975" b="1">
                <a:solidFill>
                  <a:srgbClr val="FFFFFF"/>
                </a:solidFill>
                <a:latin typeface="Montserrat"/>
                <a:ea typeface="Montserrat"/>
                <a:cs typeface="Montserrat"/>
              </a:rPr>
              <a:t>DONNÉES</a:t>
            </a:r>
          </a:p>
        </p:txBody>
      </p:sp>
      <p:sp>
        <p:nvSpPr>
          <p:cNvPr id="13" name="">
            <a:extLst xmlns:a="http://schemas.openxmlformats.org/drawingml/2006/main">
              <a:ext uri="{FF2B5EF4-FFF2-40B4-BE49-F238E27FC236}">
                <a16:creationId xmlns:a16="http://schemas.microsoft.com/office/drawing/2014/main" id="{1894F7F3-FE23-4675-B0AB-2307DE4EF88B}"/>
              </a:ext>
            </a:extLst>
          </p:cNvPr>
          <p:cNvSpPr>
            <a:spLocks xmlns:a="http://schemas.openxmlformats.org/drawingml/2006/main" noGrp="1"/>
          </p:cNvSpPr>
          <p:nvPr/>
        </p:nvSpPr>
        <p:spPr>
          <a:xfrm xmlns:a="http://schemas.openxmlformats.org/drawingml/2006/main">
            <a:off x="9086850" y="2114550"/>
            <a:ext cx="838200" cy="838200"/>
          </a:xfrm>
          <a:prstGeom xmlns:a="http://schemas.openxmlformats.org/drawingml/2006/main" prst="ellipse">
            <a:avLst/>
          </a:prstGeom>
          <a:solidFill xmlns:a="http://schemas.openxmlformats.org/drawingml/2006/main">
            <a:srgbClr val="6C4CF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40E6CF-C58E-4184-893C-5D5367C7F428}"/>
              </a:ext>
            </a:extLst>
          </p:cNvPr>
          <p:cNvSpPr>
            <a:spLocks xmlns:a="http://schemas.openxmlformats.org/drawingml/2006/main" noGrp="1"/>
          </p:cNvSpPr>
          <p:nvPr/>
        </p:nvSpPr>
        <p:spPr>
          <a:xfrm xmlns:a="http://schemas.openxmlformats.org/drawingml/2006/main">
            <a:off x="9086850" y="2266950"/>
            <a:ext cx="838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FFFFFF"/>
                </a:solidFill>
                <a:latin typeface="Montserrat"/>
                <a:ea typeface="Montserrat"/>
                <a:cs typeface="Montserrat"/>
              </a:defRPr>
            </a:pPr>
            <a:r>
              <a:rPr sz="1800" b="1">
                <a:solidFill>
                  <a:srgbClr val="FFFFFF"/>
                </a:solidFill>
                <a:latin typeface="Montserrat"/>
                <a:ea typeface="Montserrat"/>
                <a:cs typeface="Montserrat"/>
              </a:rPr>
              <a:t>7 586</a:t>
            </a:r>
          </a:p>
        </p:txBody>
      </p:sp>
      <p:sp>
        <p:nvSpPr>
          <p:cNvPr id="15" name="">
            <a:extLst xmlns:a="http://schemas.openxmlformats.org/drawingml/2006/main">
              <a:ext uri="{FF2B5EF4-FFF2-40B4-BE49-F238E27FC236}">
                <a16:creationId xmlns:a16="http://schemas.microsoft.com/office/drawing/2014/main" id="{718ADAB1-1D80-4DDC-99DA-CD20270EB709}"/>
              </a:ext>
            </a:extLst>
          </p:cNvPr>
          <p:cNvSpPr>
            <a:spLocks xmlns:a="http://schemas.openxmlformats.org/drawingml/2006/main" noGrp="1"/>
          </p:cNvSpPr>
          <p:nvPr/>
        </p:nvSpPr>
        <p:spPr>
          <a:xfrm xmlns:a="http://schemas.openxmlformats.org/drawingml/2006/main">
            <a:off x="9505950" y="3086100"/>
            <a:ext cx="0" cy="581025"/>
          </a:xfrm>
          <a:prstGeom xmlns:a="http://schemas.openxmlformats.org/drawingml/2006/main" prst="line">
            <a:avLst/>
          </a:prstGeom>
          <a:noFill xmlns:a="http://schemas.openxmlformats.org/drawingml/2006/main"/>
          <a:ln xmlns:a="http://schemas.openxmlformats.org/drawingml/2006/main" w="38100">
            <a:solidFill>
              <a:srgbClr val="FF8A3D"/>
            </a:solidFill>
            <a:prstDash val="solid"/>
          </a:ln>
        </p:spPr>
      </p:sp>
      <p:sp>
        <p:nvSpPr>
          <p:cNvPr id="16" name="">
            <a:extLst xmlns:a="http://schemas.openxmlformats.org/drawingml/2006/main">
              <a:ext uri="{FF2B5EF4-FFF2-40B4-BE49-F238E27FC236}">
                <a16:creationId xmlns:a16="http://schemas.microsoft.com/office/drawing/2014/main" id="{A5B6C1E3-F398-4F6A-AF03-E17B3B28361F}"/>
              </a:ext>
            </a:extLst>
          </p:cNvPr>
          <p:cNvSpPr>
            <a:spLocks xmlns:a="http://schemas.openxmlformats.org/drawingml/2006/main" noGrp="1"/>
          </p:cNvSpPr>
          <p:nvPr/>
        </p:nvSpPr>
        <p:spPr>
          <a:xfrm xmlns:a="http://schemas.openxmlformats.org/drawingml/2006/main">
            <a:off x="8401050" y="3733800"/>
            <a:ext cx="2209800" cy="80010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FFFF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ECF67059-CCBF-4080-93CC-E64210D61DA3}"/>
              </a:ext>
            </a:extLst>
          </p:cNvPr>
          <p:cNvSpPr>
            <a:spLocks xmlns:a="http://schemas.openxmlformats.org/drawingml/2006/main" noGrp="1"/>
          </p:cNvSpPr>
          <p:nvPr/>
        </p:nvSpPr>
        <p:spPr>
          <a:xfrm xmlns:a="http://schemas.openxmlformats.org/drawingml/2006/main">
            <a:off x="8591550" y="3914775"/>
            <a:ext cx="1828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17234C"/>
                </a:solidFill>
                <a:latin typeface="Montserrat"/>
                <a:ea typeface="Montserrat"/>
                <a:cs typeface="Montserrat"/>
              </a:defRPr>
            </a:pPr>
            <a:r>
              <a:rPr sz="975" b="1">
                <a:solidFill>
                  <a:srgbClr val="17234C"/>
                </a:solidFill>
                <a:latin typeface="Montserrat"/>
                <a:ea typeface="Montserrat"/>
                <a:cs typeface="Montserrat"/>
              </a:rPr>
              <a:t>PASSAGES</a:t>
            </a:r>
          </a:p>
        </p:txBody>
      </p:sp>
      <p:sp>
        <p:nvSpPr>
          <p:cNvPr id="18" name="">
            <a:extLst xmlns:a="http://schemas.openxmlformats.org/drawingml/2006/main">
              <a:ext uri="{FF2B5EF4-FFF2-40B4-BE49-F238E27FC236}">
                <a16:creationId xmlns:a16="http://schemas.microsoft.com/office/drawing/2014/main" id="{D92E0378-697F-4BF2-A759-F2F1851A4236}"/>
              </a:ext>
            </a:extLst>
          </p:cNvPr>
          <p:cNvSpPr>
            <a:spLocks xmlns:a="http://schemas.openxmlformats.org/drawingml/2006/main" noGrp="1"/>
          </p:cNvSpPr>
          <p:nvPr/>
        </p:nvSpPr>
        <p:spPr>
          <a:xfrm xmlns:a="http://schemas.openxmlformats.org/drawingml/2006/main">
            <a:off x="8591550" y="42100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0">
                <a:solidFill>
                  <a:srgbClr val="17234C"/>
                </a:solidFill>
                <a:latin typeface="Noto Sans"/>
                <a:ea typeface="Noto Sans"/>
                <a:cs typeface="Noto Sans"/>
              </a:defRPr>
            </a:pPr>
            <a:r>
              <a:rPr sz="900" b="0">
                <a:solidFill>
                  <a:srgbClr val="17234C"/>
                </a:solidFill>
                <a:latin typeface="Noto Sans"/>
                <a:ea typeface="Noto Sans"/>
                <a:cs typeface="Noto Sans"/>
              </a:rPr>
              <a:t>14 903 · FAISS</a:t>
            </a:r>
          </a:p>
        </p:txBody>
      </p:sp>
      <p:sp>
        <p:nvSpPr>
          <p:cNvPr id="19" name="">
            <a:extLst xmlns:a="http://schemas.openxmlformats.org/drawingml/2006/main">
              <a:ext uri="{FF2B5EF4-FFF2-40B4-BE49-F238E27FC236}">
                <a16:creationId xmlns:a16="http://schemas.microsoft.com/office/drawing/2014/main" id="{944C0CAD-F90C-4D96-BF80-183F7DBD89AC}"/>
              </a:ext>
            </a:extLst>
          </p:cNvPr>
          <p:cNvSpPr>
            <a:spLocks xmlns:a="http://schemas.openxmlformats.org/drawingml/2006/main" noGrp="1"/>
          </p:cNvSpPr>
          <p:nvPr/>
        </p:nvSpPr>
        <p:spPr>
          <a:xfrm xmlns:a="http://schemas.openxmlformats.org/drawingml/2006/main">
            <a:off x="9505950" y="4629150"/>
            <a:ext cx="0" cy="352425"/>
          </a:xfrm>
          <a:prstGeom xmlns:a="http://schemas.openxmlformats.org/drawingml/2006/main" prst="line">
            <a:avLst/>
          </a:prstGeom>
          <a:noFill xmlns:a="http://schemas.openxmlformats.org/drawingml/2006/main"/>
          <a:ln xmlns:a="http://schemas.openxmlformats.org/drawingml/2006/main" w="38100">
            <a:solidFill>
              <a:srgbClr val="2FB274"/>
            </a:solidFill>
            <a:prstDash val="solid"/>
          </a:ln>
        </p:spPr>
      </p:sp>
      <p:sp>
        <p:nvSpPr>
          <p:cNvPr id="20" name="">
            <a:extLst xmlns:a="http://schemas.openxmlformats.org/drawingml/2006/main">
              <a:ext uri="{FF2B5EF4-FFF2-40B4-BE49-F238E27FC236}">
                <a16:creationId xmlns:a16="http://schemas.microsoft.com/office/drawing/2014/main" id="{2E029E40-5CA6-4F9B-9E95-EDAA5B4C91C0}"/>
              </a:ext>
            </a:extLst>
          </p:cNvPr>
          <p:cNvSpPr>
            <a:spLocks xmlns:a="http://schemas.openxmlformats.org/drawingml/2006/main" noGrp="1"/>
          </p:cNvSpPr>
          <p:nvPr/>
        </p:nvSpPr>
        <p:spPr>
          <a:xfrm xmlns:a="http://schemas.openxmlformats.org/drawingml/2006/main">
            <a:off x="8458200" y="506730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API + 59 TESTS</a:t>
            </a:r>
          </a:p>
        </p:txBody>
      </p:sp>
    </p:spTree>
    <p:extLst>
      <p:ext uri="{BB962C8B-B14F-4D97-AF65-F5344CB8AC3E}">
        <p14:creationId xmlns:p14="http://schemas.microsoft.com/office/powerpoint/2010/main" val="1898747493"/>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LE BESOIN PULS-EVENTS</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a:solidFill>
                  <a:srgbClr val="17234C"/>
                </a:solidFill>
                <a:latin typeface="Montserrat"/>
                <a:ea typeface="Montserrat"/>
                <a:cs typeface="Montserrat"/>
              </a:defRPr>
            </a:pPr>
            <a:r>
              <a:rPr sz="2400" b="1">
                <a:solidFill>
                  <a:srgbClr val="17234C"/>
                </a:solidFill>
                <a:latin typeface="Montserrat"/>
                <a:ea typeface="Montserrat"/>
                <a:cs typeface="Montserrat"/>
              </a:rPr>
              <a:t>Chercher dans le catalogue avant de répondre</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02</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Question</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 Une sortie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en famille ? »</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Recherche</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FAISS trouve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les passages utiles</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Contexte</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titre · date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lieu · URL</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Mistral</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répond à partir</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des sources</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Vérifier</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liens retournés</a:t>
            </a:r>
          </a:p>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à l’utilisateur</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Le RAG unit compréhension du langage et preuves consultables.</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BD5A711-1D8F-4C6C-A1F7-2489FC365BE7}"/>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46E4BC1-3D1E-4C2C-AE44-D28351B13755}"/>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35701FF-C2B3-4924-BD43-9DDB3A127950}"/>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BDD8AD-10D7-42EE-86C4-313B2382C5DD}"/>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QUALITÉ DES DONNÉES</a:t>
            </a:r>
          </a:p>
        </p:txBody>
      </p:sp>
      <p:sp>
        <p:nvSpPr>
          <p:cNvPr id="5" name="">
            <a:extLst xmlns:a="http://schemas.openxmlformats.org/drawingml/2006/main">
              <a:ext uri="{FF2B5EF4-FFF2-40B4-BE49-F238E27FC236}">
                <a16:creationId xmlns:a16="http://schemas.microsoft.com/office/drawing/2014/main" id="{02C539D5-4C50-4357-A176-82505B1CAD9A}"/>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Constituer et nettoyer le catalogue</a:t>
            </a:r>
          </a:p>
        </p:txBody>
      </p:sp>
      <p:sp>
        <p:nvSpPr>
          <p:cNvPr id="6" name="">
            <a:extLst xmlns:a="http://schemas.openxmlformats.org/drawingml/2006/main">
              <a:ext uri="{FF2B5EF4-FFF2-40B4-BE49-F238E27FC236}">
                <a16:creationId xmlns:a16="http://schemas.microsoft.com/office/drawing/2014/main" id="{4FD0E9C3-016B-4749-A61A-DC2CDE8E397D}"/>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03</a:t>
            </a:r>
          </a:p>
        </p:txBody>
      </p:sp>
      <p:sp>
        <p:nvSpPr>
          <p:cNvPr id="7" name="">
            <a:extLst xmlns:a="http://schemas.openxmlformats.org/drawingml/2006/main">
              <a:ext uri="{FF2B5EF4-FFF2-40B4-BE49-F238E27FC236}">
                <a16:creationId xmlns:a16="http://schemas.microsoft.com/office/drawing/2014/main" id="{39BC600C-C643-4AFB-B6CF-28A1CB23986B}"/>
              </a:ext>
            </a:extLst>
          </p:cNvPr>
          <p:cNvSpPr>
            <a:spLocks xmlns:a="http://schemas.openxmlformats.org/drawingml/2006/main" noGrp="1"/>
          </p:cNvSpPr>
          <p:nvPr/>
        </p:nvSpPr>
        <p:spPr>
          <a:xfrm xmlns:a="http://schemas.openxmlformats.org/drawingml/2006/main">
            <a:off x="609600" y="1952625"/>
            <a:ext cx="4953000" cy="3752850"/>
          </a:xfrm>
          <a:prstGeom xmlns:a="http://schemas.openxmlformats.org/drawingml/2006/main" prst="roundRect">
            <a:avLst>
              <a:gd name="adj" fmla="val 4569"/>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3171CFAC-DDFA-4348-B70E-6E03EBDAD71C}"/>
              </a:ext>
            </a:extLst>
          </p:cNvPr>
          <p:cNvSpPr>
            <a:spLocks xmlns:a="http://schemas.openxmlformats.org/drawingml/2006/main" noGrp="1"/>
          </p:cNvSpPr>
          <p:nvPr/>
        </p:nvSpPr>
        <p:spPr>
          <a:xfrm xmlns:a="http://schemas.openxmlformats.org/drawingml/2006/main">
            <a:off x="876300" y="2190750"/>
            <a:ext cx="4324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FF7A45"/>
                </a:solidFill>
                <a:latin typeface="Noto Sans Mono"/>
                <a:ea typeface="Noto Sans Mono"/>
                <a:cs typeface="Noto Sans Mono"/>
              </a:defRPr>
            </a:pPr>
            <a:r>
              <a:rPr sz="1200" b="1">
                <a:solidFill>
                  <a:srgbClr val="FF7A45"/>
                </a:solidFill>
                <a:latin typeface="Noto Sans Mono"/>
                <a:ea typeface="Noto Sans Mono"/>
                <a:cs typeface="Noto Sans Mono"/>
              </a:rPr>
              <a:t>openagenda/</a:t>
            </a:r>
          </a:p>
        </p:txBody>
      </p:sp>
      <p:sp>
        <p:nvSpPr>
          <p:cNvPr id="9" name="">
            <a:extLst xmlns:a="http://schemas.openxmlformats.org/drawingml/2006/main">
              <a:ext uri="{FF2B5EF4-FFF2-40B4-BE49-F238E27FC236}">
                <a16:creationId xmlns:a16="http://schemas.microsoft.com/office/drawing/2014/main" id="{CD1F187F-5B89-49BC-ACE4-8719D2A0C102}"/>
              </a:ext>
            </a:extLst>
          </p:cNvPr>
          <p:cNvSpPr>
            <a:spLocks xmlns:a="http://schemas.openxmlformats.org/drawingml/2006/main" noGrp="1"/>
          </p:cNvSpPr>
          <p:nvPr/>
        </p:nvSpPr>
        <p:spPr>
          <a:xfrm xmlns:a="http://schemas.openxmlformats.org/drawingml/2006/main">
            <a:off x="876300" y="2647950"/>
            <a:ext cx="432435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raw/</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events.json</a:t>
            </a:r>
          </a:p>
          <a:p xmlns:a="http://schemas.openxmlformats.org/drawingml/2006/main">
            <a:pPr algn="l">
              <a:lnSpc>
                <a:spcPct val="105000"/>
              </a:lnSpc>
              <a:buNone/>
              <a:defRPr sz="1350" b="0">
                <a:solidFill>
                  <a:srgbClr val="E8EDF7"/>
                </a:solidFill>
                <a:latin typeface="Noto Sans Mono"/>
                <a:ea typeface="Noto Sans Mono"/>
                <a:cs typeface="Noto Sans Mono"/>
              </a:defRPr>
            </a:pPr>
            <a:r>
              <a:rPr sz="1350" b="0">
                <a:solidFill>
                  <a:srgbClr val="E8EDF7"/>
                </a:solidFill>
                <a:latin typeface="Noto Sans Mono"/>
                <a:ea typeface="Noto Sans Mono"/>
                <a:cs typeface="Noto Sans Mono"/>
              </a:rPr>
              <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clean/</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html supprimé</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dates normalisées</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doublons retirés</a:t>
            </a:r>
          </a:p>
          <a:p xmlns:a="http://schemas.openxmlformats.org/drawingml/2006/main">
            <a:pPr algn="l">
              <a:lnSpc>
                <a:spcPct val="105000"/>
              </a:lnSpc>
              <a:buNone/>
              <a:defRPr sz="1350" b="0">
                <a:solidFill>
                  <a:srgbClr val="E8EDF7"/>
                </a:solidFill>
                <a:latin typeface="Noto Sans Mono"/>
                <a:ea typeface="Noto Sans Mono"/>
                <a:cs typeface="Noto Sans Mono"/>
              </a:defRPr>
            </a:pPr>
            <a:r>
              <a:rPr sz="1350" b="0">
                <a:solidFill>
                  <a:srgbClr val="E8EDF7"/>
                </a:solidFill>
                <a:latin typeface="Noto Sans Mono"/>
                <a:ea typeface="Noto Sans Mono"/>
                <a:cs typeface="Noto Sans Mono"/>
              </a:rPr>
              <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processed/</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events.parquet</a:t>
            </a:r>
          </a:p>
        </p:txBody>
      </p:sp>
      <p:sp>
        <p:nvSpPr>
          <p:cNvPr id="10" name="">
            <a:extLst xmlns:a="http://schemas.openxmlformats.org/drawingml/2006/main">
              <a:ext uri="{FF2B5EF4-FFF2-40B4-BE49-F238E27FC236}">
                <a16:creationId xmlns:a16="http://schemas.microsoft.com/office/drawing/2014/main" id="{28AD63A5-A81F-4AC9-997D-4C39B1F18F8D}"/>
              </a:ext>
            </a:extLst>
          </p:cNvPr>
          <p:cNvSpPr>
            <a:spLocks xmlns:a="http://schemas.openxmlformats.org/drawingml/2006/main" noGrp="1"/>
          </p:cNvSpPr>
          <p:nvPr/>
        </p:nvSpPr>
        <p:spPr>
          <a:xfrm xmlns:a="http://schemas.openxmlformats.org/drawingml/2006/main">
            <a:off x="5962650" y="20383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4871DC4A-53AD-4617-BC07-F7316EE492F1}"/>
              </a:ext>
            </a:extLst>
          </p:cNvPr>
          <p:cNvSpPr>
            <a:spLocks xmlns:a="http://schemas.openxmlformats.org/drawingml/2006/main" noGrp="1"/>
          </p:cNvSpPr>
          <p:nvPr/>
        </p:nvSpPr>
        <p:spPr>
          <a:xfrm xmlns:a="http://schemas.openxmlformats.org/drawingml/2006/main">
            <a:off x="5962650" y="20383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3BEED3-5789-4D3F-9197-50C2F4C5E71B}"/>
              </a:ext>
            </a:extLst>
          </p:cNvPr>
          <p:cNvSpPr>
            <a:spLocks xmlns:a="http://schemas.openxmlformats.org/drawingml/2006/main" noGrp="1"/>
          </p:cNvSpPr>
          <p:nvPr/>
        </p:nvSpPr>
        <p:spPr>
          <a:xfrm xmlns:a="http://schemas.openxmlformats.org/drawingml/2006/main">
            <a:off x="6191250" y="21907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Périmètre</a:t>
            </a:r>
          </a:p>
        </p:txBody>
      </p:sp>
      <p:sp>
        <p:nvSpPr>
          <p:cNvPr id="13" name="">
            <a:extLst xmlns:a="http://schemas.openxmlformats.org/drawingml/2006/main">
              <a:ext uri="{FF2B5EF4-FFF2-40B4-BE49-F238E27FC236}">
                <a16:creationId xmlns:a16="http://schemas.microsoft.com/office/drawing/2014/main" id="{22F4DE5E-AC51-4B9C-8511-054BA9885E48}"/>
              </a:ext>
            </a:extLst>
          </p:cNvPr>
          <p:cNvSpPr>
            <a:spLocks xmlns:a="http://schemas.openxmlformats.org/drawingml/2006/main" noGrp="1"/>
          </p:cNvSpPr>
          <p:nvPr/>
        </p:nvSpPr>
        <p:spPr>
          <a:xfrm xmlns:a="http://schemas.openxmlformats.org/drawingml/2006/main">
            <a:off x="6191250" y="26670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Paris · seed juillet 2026</a:t>
            </a:r>
          </a:p>
        </p:txBody>
      </p:sp>
      <p:sp>
        <p:nvSpPr>
          <p:cNvPr id="14" name="">
            <a:extLst xmlns:a="http://schemas.openxmlformats.org/drawingml/2006/main">
              <a:ext uri="{FF2B5EF4-FFF2-40B4-BE49-F238E27FC236}">
                <a16:creationId xmlns:a16="http://schemas.microsoft.com/office/drawing/2014/main" id="{94E4CE9E-DD0F-4193-AD0D-7482D80FAD1B}"/>
              </a:ext>
            </a:extLst>
          </p:cNvPr>
          <p:cNvSpPr>
            <a:spLocks xmlns:a="http://schemas.openxmlformats.org/drawingml/2006/main" noGrp="1"/>
          </p:cNvSpPr>
          <p:nvPr/>
        </p:nvSpPr>
        <p:spPr>
          <a:xfrm xmlns:a="http://schemas.openxmlformats.org/drawingml/2006/main">
            <a:off x="8629650" y="20383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B989F349-F94E-4D68-B83F-4DDF63ABC683}"/>
              </a:ext>
            </a:extLst>
          </p:cNvPr>
          <p:cNvSpPr>
            <a:spLocks xmlns:a="http://schemas.openxmlformats.org/drawingml/2006/main" noGrp="1"/>
          </p:cNvSpPr>
          <p:nvPr/>
        </p:nvSpPr>
        <p:spPr>
          <a:xfrm xmlns:a="http://schemas.openxmlformats.org/drawingml/2006/main">
            <a:off x="8629650" y="2038350"/>
            <a:ext cx="76200" cy="10668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09D8E6-1812-42CE-8CD9-196005E24316}"/>
              </a:ext>
            </a:extLst>
          </p:cNvPr>
          <p:cNvSpPr>
            <a:spLocks xmlns:a="http://schemas.openxmlformats.org/drawingml/2006/main" noGrp="1"/>
          </p:cNvSpPr>
          <p:nvPr/>
        </p:nvSpPr>
        <p:spPr>
          <a:xfrm xmlns:a="http://schemas.openxmlformats.org/drawingml/2006/main">
            <a:off x="8858250" y="21907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Texte</a:t>
            </a:r>
          </a:p>
        </p:txBody>
      </p:sp>
      <p:sp>
        <p:nvSpPr>
          <p:cNvPr id="17" name="">
            <a:extLst xmlns:a="http://schemas.openxmlformats.org/drawingml/2006/main">
              <a:ext uri="{FF2B5EF4-FFF2-40B4-BE49-F238E27FC236}">
                <a16:creationId xmlns:a16="http://schemas.microsoft.com/office/drawing/2014/main" id="{63CEBD06-1975-4225-A481-178CFA9AE681}"/>
              </a:ext>
            </a:extLst>
          </p:cNvPr>
          <p:cNvSpPr>
            <a:spLocks xmlns:a="http://schemas.openxmlformats.org/drawingml/2006/main" noGrp="1"/>
          </p:cNvSpPr>
          <p:nvPr/>
        </p:nvSpPr>
        <p:spPr>
          <a:xfrm xmlns:a="http://schemas.openxmlformats.org/drawingml/2006/main">
            <a:off x="8858250" y="26670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HTML + espaces</a:t>
            </a:r>
          </a:p>
        </p:txBody>
      </p:sp>
      <p:sp>
        <p:nvSpPr>
          <p:cNvPr id="18" name="">
            <a:extLst xmlns:a="http://schemas.openxmlformats.org/drawingml/2006/main">
              <a:ext uri="{FF2B5EF4-FFF2-40B4-BE49-F238E27FC236}">
                <a16:creationId xmlns:a16="http://schemas.microsoft.com/office/drawing/2014/main" id="{C647C5D3-25D1-4EB6-A579-34C45CEBDF9B}"/>
              </a:ext>
            </a:extLst>
          </p:cNvPr>
          <p:cNvSpPr>
            <a:spLocks xmlns:a="http://schemas.openxmlformats.org/drawingml/2006/main" noGrp="1"/>
          </p:cNvSpPr>
          <p:nvPr/>
        </p:nvSpPr>
        <p:spPr>
          <a:xfrm xmlns:a="http://schemas.openxmlformats.org/drawingml/2006/main">
            <a:off x="5962650" y="33718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2EF3CA9E-A494-48A4-B0B7-76F58CE673E0}"/>
              </a:ext>
            </a:extLst>
          </p:cNvPr>
          <p:cNvSpPr>
            <a:spLocks xmlns:a="http://schemas.openxmlformats.org/drawingml/2006/main" noGrp="1"/>
          </p:cNvSpPr>
          <p:nvPr/>
        </p:nvSpPr>
        <p:spPr>
          <a:xfrm xmlns:a="http://schemas.openxmlformats.org/drawingml/2006/main">
            <a:off x="5962650" y="3371850"/>
            <a:ext cx="76200" cy="10668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7FC5AF-9507-49D4-BA00-F903CC38524D}"/>
              </a:ext>
            </a:extLst>
          </p:cNvPr>
          <p:cNvSpPr>
            <a:spLocks xmlns:a="http://schemas.openxmlformats.org/drawingml/2006/main" noGrp="1"/>
          </p:cNvSpPr>
          <p:nvPr/>
        </p:nvSpPr>
        <p:spPr>
          <a:xfrm xmlns:a="http://schemas.openxmlformats.org/drawingml/2006/main">
            <a:off x="6191250" y="35242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Identité</a:t>
            </a:r>
          </a:p>
        </p:txBody>
      </p:sp>
      <p:sp>
        <p:nvSpPr>
          <p:cNvPr id="21" name="">
            <a:extLst xmlns:a="http://schemas.openxmlformats.org/drawingml/2006/main">
              <a:ext uri="{FF2B5EF4-FFF2-40B4-BE49-F238E27FC236}">
                <a16:creationId xmlns:a16="http://schemas.microsoft.com/office/drawing/2014/main" id="{2D381772-4BF6-46DD-A557-DCA259AC3CA3}"/>
              </a:ext>
            </a:extLst>
          </p:cNvPr>
          <p:cNvSpPr>
            <a:spLocks xmlns:a="http://schemas.openxmlformats.org/drawingml/2006/main" noGrp="1"/>
          </p:cNvSpPr>
          <p:nvPr/>
        </p:nvSpPr>
        <p:spPr>
          <a:xfrm xmlns:a="http://schemas.openxmlformats.org/drawingml/2006/main">
            <a:off x="6191250" y="40005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event_uid unique</a:t>
            </a:r>
          </a:p>
        </p:txBody>
      </p:sp>
      <p:sp>
        <p:nvSpPr>
          <p:cNvPr id="22" name="">
            <a:extLst xmlns:a="http://schemas.openxmlformats.org/drawingml/2006/main">
              <a:ext uri="{FF2B5EF4-FFF2-40B4-BE49-F238E27FC236}">
                <a16:creationId xmlns:a16="http://schemas.microsoft.com/office/drawing/2014/main" id="{F2271376-2F17-4BF7-9104-669E17FCCD58}"/>
              </a:ext>
            </a:extLst>
          </p:cNvPr>
          <p:cNvSpPr>
            <a:spLocks xmlns:a="http://schemas.openxmlformats.org/drawingml/2006/main" noGrp="1"/>
          </p:cNvSpPr>
          <p:nvPr/>
        </p:nvSpPr>
        <p:spPr>
          <a:xfrm xmlns:a="http://schemas.openxmlformats.org/drawingml/2006/main">
            <a:off x="8629650" y="33718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6B71A8F2-FDF7-4EFF-B6D4-CA6D5852E240}"/>
              </a:ext>
            </a:extLst>
          </p:cNvPr>
          <p:cNvSpPr>
            <a:spLocks xmlns:a="http://schemas.openxmlformats.org/drawingml/2006/main" noGrp="1"/>
          </p:cNvSpPr>
          <p:nvPr/>
        </p:nvSpPr>
        <p:spPr>
          <a:xfrm xmlns:a="http://schemas.openxmlformats.org/drawingml/2006/main">
            <a:off x="8629650" y="33718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A4623A4-724B-43BA-9468-87B16B551065}"/>
              </a:ext>
            </a:extLst>
          </p:cNvPr>
          <p:cNvSpPr>
            <a:spLocks xmlns:a="http://schemas.openxmlformats.org/drawingml/2006/main" noGrp="1"/>
          </p:cNvSpPr>
          <p:nvPr/>
        </p:nvSpPr>
        <p:spPr>
          <a:xfrm xmlns:a="http://schemas.openxmlformats.org/drawingml/2006/main">
            <a:off x="8858250" y="35242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Résultat</a:t>
            </a:r>
          </a:p>
        </p:txBody>
      </p:sp>
      <p:sp>
        <p:nvSpPr>
          <p:cNvPr id="25" name="">
            <a:extLst xmlns:a="http://schemas.openxmlformats.org/drawingml/2006/main">
              <a:ext uri="{FF2B5EF4-FFF2-40B4-BE49-F238E27FC236}">
                <a16:creationId xmlns:a16="http://schemas.microsoft.com/office/drawing/2014/main" id="{75BE8788-820D-421D-A39F-506E49FD47B3}"/>
              </a:ext>
            </a:extLst>
          </p:cNvPr>
          <p:cNvSpPr>
            <a:spLocks xmlns:a="http://schemas.openxmlformats.org/drawingml/2006/main" noGrp="1"/>
          </p:cNvSpPr>
          <p:nvPr/>
        </p:nvSpPr>
        <p:spPr>
          <a:xfrm xmlns:a="http://schemas.openxmlformats.org/drawingml/2006/main">
            <a:off x="8858250" y="40005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7 586 fiches</a:t>
            </a:r>
          </a:p>
        </p:txBody>
      </p:sp>
      <p:sp>
        <p:nvSpPr>
          <p:cNvPr id="26" name="">
            <a:extLst xmlns:a="http://schemas.openxmlformats.org/drawingml/2006/main">
              <a:ext uri="{FF2B5EF4-FFF2-40B4-BE49-F238E27FC236}">
                <a16:creationId xmlns:a16="http://schemas.microsoft.com/office/drawing/2014/main" id="{ED9BCBCC-840C-4A76-830A-DC9F00DC70D6}"/>
              </a:ext>
            </a:extLst>
          </p:cNvPr>
          <p:cNvSpPr>
            <a:spLocks xmlns:a="http://schemas.openxmlformats.org/drawingml/2006/main" noGrp="1"/>
          </p:cNvSpPr>
          <p:nvPr/>
        </p:nvSpPr>
        <p:spPr>
          <a:xfrm xmlns:a="http://schemas.openxmlformats.org/drawingml/2006/main">
            <a:off x="5962650" y="4800600"/>
            <a:ext cx="5067300" cy="895350"/>
          </a:xfrm>
          <a:prstGeom xmlns:a="http://schemas.openxmlformats.org/drawingml/2006/main" prst="roundRect">
            <a:avLst>
              <a:gd name="adj" fmla="val 17021"/>
            </a:avLst>
          </a:prstGeom>
          <a:solidFill xmlns:a="http://schemas.openxmlformats.org/drawingml/2006/main">
            <a:srgbClr val="EEEAFE"/>
          </a:solidFill>
          <a:ln xmlns:a="http://schemas.openxmlformats.org/drawingml/2006/main" w="9525">
            <a:solidFill>
              <a:srgbClr val="EEEAF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7" name="">
            <a:extLst xmlns:a="http://schemas.openxmlformats.org/drawingml/2006/main">
              <a:ext uri="{FF2B5EF4-FFF2-40B4-BE49-F238E27FC236}">
                <a16:creationId xmlns:a16="http://schemas.microsoft.com/office/drawing/2014/main" id="{FD050E38-494F-4D30-B8D5-EFAE837F9C5E}"/>
              </a:ext>
            </a:extLst>
          </p:cNvPr>
          <p:cNvSpPr>
            <a:spLocks xmlns:a="http://schemas.openxmlformats.org/drawingml/2006/main" noGrp="1"/>
          </p:cNvSpPr>
          <p:nvPr/>
        </p:nvSpPr>
        <p:spPr>
          <a:xfrm xmlns:a="http://schemas.openxmlformats.org/drawingml/2006/main">
            <a:off x="6191250" y="4972050"/>
            <a:ext cx="1752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PRINCIPE</a:t>
            </a:r>
          </a:p>
        </p:txBody>
      </p:sp>
      <p:sp>
        <p:nvSpPr>
          <p:cNvPr id="28" name="">
            <a:extLst xmlns:a="http://schemas.openxmlformats.org/drawingml/2006/main">
              <a:ext uri="{FF2B5EF4-FFF2-40B4-BE49-F238E27FC236}">
                <a16:creationId xmlns:a16="http://schemas.microsoft.com/office/drawing/2014/main" id="{C0316B4C-A5D2-476C-B0FD-571CE415E269}"/>
              </a:ext>
            </a:extLst>
          </p:cNvPr>
          <p:cNvSpPr>
            <a:spLocks xmlns:a="http://schemas.openxmlformats.org/drawingml/2006/main" noGrp="1"/>
          </p:cNvSpPr>
          <p:nvPr/>
        </p:nvSpPr>
        <p:spPr>
          <a:xfrm xmlns:a="http://schemas.openxmlformats.org/drawingml/2006/main">
            <a:off x="6191250" y="52387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Des fiches nettoyées et des références conservées. Catalogue figé : mise à jour nécessaire.</a:t>
            </a:r>
          </a:p>
        </p:txBody>
      </p:sp>
      <p:sp>
        <p:nvSpPr>
          <p:cNvPr id="29" name="">
            <a:extLst xmlns:a="http://schemas.openxmlformats.org/drawingml/2006/main">
              <a:ext uri="{FF2B5EF4-FFF2-40B4-BE49-F238E27FC236}">
                <a16:creationId xmlns:a16="http://schemas.microsoft.com/office/drawing/2014/main" id="{00B3EACA-2C31-4D5C-A908-31AC4938C67B}"/>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0" name="">
            <a:extLst xmlns:a="http://schemas.openxmlformats.org/drawingml/2006/main">
              <a:ext uri="{FF2B5EF4-FFF2-40B4-BE49-F238E27FC236}">
                <a16:creationId xmlns:a16="http://schemas.microsoft.com/office/drawing/2014/main" id="{287203D4-0749-4688-9CA1-CF90AE66FB28}"/>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1" name="">
            <a:extLst xmlns:a="http://schemas.openxmlformats.org/drawingml/2006/main">
              <a:ext uri="{FF2B5EF4-FFF2-40B4-BE49-F238E27FC236}">
                <a16:creationId xmlns:a16="http://schemas.microsoft.com/office/drawing/2014/main" id="{B45D176C-16B3-49F5-9E5D-2A286FB92D34}"/>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505188469"/>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ZOOM CONCRET</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Découper les fiches, puis comparer leur sens</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04</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CHIMERE</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10 273</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caractères</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Découper</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chunks de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1 000 caractères</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Conserver</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200 caractères</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 chevauchement</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Vectoriser</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mistral-embed</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1 024 dimensions</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Retrouver</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FAISS</a:t>
            </a:r>
          </a:p>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14 903 passages</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Une fiche CHIMERE : 15 passages. Tout le catalogue : 14 903 vecteurs.</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3A931-C19F-45B8-B8EF-8EF019F11DC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EF97DA-D80B-46DE-832C-7431631FBE90}"/>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97D02D-FF39-4961-994C-C0BF436B9808}"/>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085C0F-8A68-4438-A2DF-EACDBCB77F28}"/>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CONTRÔLE DE LA RÉPONSE</a:t>
            </a:r>
          </a:p>
        </p:txBody>
      </p:sp>
      <p:sp>
        <p:nvSpPr>
          <p:cNvPr id="5" name="">
            <a:extLst xmlns:a="http://schemas.openxmlformats.org/drawingml/2006/main">
              <a:ext uri="{FF2B5EF4-FFF2-40B4-BE49-F238E27FC236}">
                <a16:creationId xmlns:a16="http://schemas.microsoft.com/office/drawing/2014/main" id="{0CD5B4C7-4C0C-4974-A25C-2B1D26118B66}"/>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Le bibliothécaire cherche ; le rédacteur répond</a:t>
            </a:r>
          </a:p>
        </p:txBody>
      </p:sp>
      <p:sp>
        <p:nvSpPr>
          <p:cNvPr id="6" name="">
            <a:extLst xmlns:a="http://schemas.openxmlformats.org/drawingml/2006/main">
              <a:ext uri="{FF2B5EF4-FFF2-40B4-BE49-F238E27FC236}">
                <a16:creationId xmlns:a16="http://schemas.microsoft.com/office/drawing/2014/main" id="{E2164D0F-B6C9-4F18-8429-EEE903BD02D7}"/>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05</a:t>
            </a:r>
          </a:p>
        </p:txBody>
      </p:sp>
      <p:sp>
        <p:nvSpPr>
          <p:cNvPr id="7" name="">
            <a:extLst xmlns:a="http://schemas.openxmlformats.org/drawingml/2006/main">
              <a:ext uri="{FF2B5EF4-FFF2-40B4-BE49-F238E27FC236}">
                <a16:creationId xmlns:a16="http://schemas.microsoft.com/office/drawing/2014/main" id="{AA253913-DB2F-4AC9-95EC-1FBD4C4F77D7}"/>
              </a:ext>
            </a:extLst>
          </p:cNvPr>
          <p:cNvSpPr>
            <a:spLocks xmlns:a="http://schemas.openxmlformats.org/drawingml/2006/main" noGrp="1"/>
          </p:cNvSpPr>
          <p:nvPr/>
        </p:nvSpPr>
        <p:spPr>
          <a:xfrm xmlns:a="http://schemas.openxmlformats.org/drawingml/2006/main">
            <a:off x="609600" y="1933575"/>
            <a:ext cx="4095750" cy="3714750"/>
          </a:xfrm>
          <a:prstGeom xmlns:a="http://schemas.openxmlformats.org/drawingml/2006/main" prst="roundRect">
            <a:avLst>
              <a:gd name="adj" fmla="val 4615"/>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24DD255-BE19-4AF6-9FF2-88D7546A5A66}"/>
              </a:ext>
            </a:extLst>
          </p:cNvPr>
          <p:cNvSpPr>
            <a:spLocks xmlns:a="http://schemas.openxmlformats.org/drawingml/2006/main" noGrp="1"/>
          </p:cNvSpPr>
          <p:nvPr/>
        </p:nvSpPr>
        <p:spPr>
          <a:xfrm xmlns:a="http://schemas.openxmlformats.org/drawingml/2006/main">
            <a:off x="876300" y="2190750"/>
            <a:ext cx="209550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CONTRAT RAG</a:t>
            </a:r>
          </a:p>
        </p:txBody>
      </p:sp>
      <p:sp>
        <p:nvSpPr>
          <p:cNvPr id="9" name="">
            <a:extLst xmlns:a="http://schemas.openxmlformats.org/drawingml/2006/main">
              <a:ext uri="{FF2B5EF4-FFF2-40B4-BE49-F238E27FC236}">
                <a16:creationId xmlns:a16="http://schemas.microsoft.com/office/drawing/2014/main" id="{1174C2E9-2AC2-48AE-A002-E90EEA4BB694}"/>
              </a:ext>
            </a:extLst>
          </p:cNvPr>
          <p:cNvSpPr>
            <a:spLocks xmlns:a="http://schemas.openxmlformats.org/drawingml/2006/main" noGrp="1"/>
          </p:cNvSpPr>
          <p:nvPr/>
        </p:nvSpPr>
        <p:spPr>
          <a:xfrm xmlns:a="http://schemas.openxmlformats.org/drawingml/2006/main">
            <a:off x="876300" y="2781300"/>
            <a:ext cx="333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1050" b="1">
                <a:solidFill>
                  <a:srgbClr val="FFFFFF"/>
                </a:solidFill>
                <a:latin typeface="Montserrat"/>
                <a:ea typeface="Montserrat"/>
                <a:cs typeface="Montserrat"/>
              </a:defRPr>
            </a:pPr>
            <a:r>
              <a:rPr sz="1050" b="1">
                <a:solidFill>
                  <a:srgbClr val="FFFFFF"/>
                </a:solidFill>
                <a:latin typeface="Montserrat"/>
                <a:ea typeface="Montserrat"/>
                <a:cs typeface="Montserrat"/>
              </a:rPr>
              <a:t>Le bibliothécaire apporte quatre passages ; le rédacteur reçoit les consignes et les sources. Le prompt réduit le risque sans garantir une réponse parfaite.</a:t>
            </a:r>
          </a:p>
        </p:txBody>
      </p:sp>
      <p:sp>
        <p:nvSpPr>
          <p:cNvPr id="10" name="">
            <a:extLst xmlns:a="http://schemas.openxmlformats.org/drawingml/2006/main">
              <a:ext uri="{FF2B5EF4-FFF2-40B4-BE49-F238E27FC236}">
                <a16:creationId xmlns:a16="http://schemas.microsoft.com/office/drawing/2014/main" id="{5CDDAC37-E344-4835-84F3-9C7319E34E0E}"/>
              </a:ext>
            </a:extLst>
          </p:cNvPr>
          <p:cNvSpPr>
            <a:spLocks xmlns:a="http://schemas.openxmlformats.org/drawingml/2006/main" noGrp="1"/>
          </p:cNvSpPr>
          <p:nvPr/>
        </p:nvSpPr>
        <p:spPr>
          <a:xfrm xmlns:a="http://schemas.openxmlformats.org/drawingml/2006/main">
            <a:off x="876300" y="4095750"/>
            <a:ext cx="60960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RETRIEVAL</a:t>
            </a:r>
          </a:p>
        </p:txBody>
      </p:sp>
      <p:sp>
        <p:nvSpPr>
          <p:cNvPr id="11" name="">
            <a:extLst xmlns:a="http://schemas.openxmlformats.org/drawingml/2006/main">
              <a:ext uri="{FF2B5EF4-FFF2-40B4-BE49-F238E27FC236}">
                <a16:creationId xmlns:a16="http://schemas.microsoft.com/office/drawing/2014/main" id="{2373E3BB-23B4-4E75-A03F-266A9DDA6FCD}"/>
              </a:ext>
            </a:extLst>
          </p:cNvPr>
          <p:cNvSpPr>
            <a:spLocks xmlns:a="http://schemas.openxmlformats.org/drawingml/2006/main" noGrp="1"/>
          </p:cNvSpPr>
          <p:nvPr/>
        </p:nvSpPr>
        <p:spPr>
          <a:xfrm xmlns:a="http://schemas.openxmlformats.org/drawingml/2006/main">
            <a:off x="1657350" y="41433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mistral-embed</a:t>
            </a:r>
          </a:p>
        </p:txBody>
      </p:sp>
      <p:sp>
        <p:nvSpPr>
          <p:cNvPr id="12" name="">
            <a:extLst xmlns:a="http://schemas.openxmlformats.org/drawingml/2006/main">
              <a:ext uri="{FF2B5EF4-FFF2-40B4-BE49-F238E27FC236}">
                <a16:creationId xmlns:a16="http://schemas.microsoft.com/office/drawing/2014/main" id="{3B2CCED0-EDCB-4598-B762-B468EE68C050}"/>
              </a:ext>
            </a:extLst>
          </p:cNvPr>
          <p:cNvSpPr>
            <a:spLocks xmlns:a="http://schemas.openxmlformats.org/drawingml/2006/main" noGrp="1"/>
          </p:cNvSpPr>
          <p:nvPr/>
        </p:nvSpPr>
        <p:spPr>
          <a:xfrm xmlns:a="http://schemas.openxmlformats.org/drawingml/2006/main">
            <a:off x="876300" y="45529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CONTEXTE</a:t>
            </a:r>
          </a:p>
        </p:txBody>
      </p:sp>
      <p:sp>
        <p:nvSpPr>
          <p:cNvPr id="13" name="">
            <a:extLst xmlns:a="http://schemas.openxmlformats.org/drawingml/2006/main">
              <a:ext uri="{FF2B5EF4-FFF2-40B4-BE49-F238E27FC236}">
                <a16:creationId xmlns:a16="http://schemas.microsoft.com/office/drawing/2014/main" id="{014E4BA5-3AF5-4A19-829C-0E4C2029E558}"/>
              </a:ext>
            </a:extLst>
          </p:cNvPr>
          <p:cNvSpPr>
            <a:spLocks xmlns:a="http://schemas.openxmlformats.org/drawingml/2006/main" noGrp="1"/>
          </p:cNvSpPr>
          <p:nvPr/>
        </p:nvSpPr>
        <p:spPr>
          <a:xfrm xmlns:a="http://schemas.openxmlformats.org/drawingml/2006/main">
            <a:off x="1657350" y="46005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top_k = 4 + métadonnées</a:t>
            </a:r>
          </a:p>
        </p:txBody>
      </p:sp>
      <p:sp>
        <p:nvSpPr>
          <p:cNvPr id="14" name="">
            <a:extLst xmlns:a="http://schemas.openxmlformats.org/drawingml/2006/main">
              <a:ext uri="{FF2B5EF4-FFF2-40B4-BE49-F238E27FC236}">
                <a16:creationId xmlns:a16="http://schemas.microsoft.com/office/drawing/2014/main" id="{74292CEB-7C11-4902-B6CE-FD629129F805}"/>
              </a:ext>
            </a:extLst>
          </p:cNvPr>
          <p:cNvSpPr>
            <a:spLocks xmlns:a="http://schemas.openxmlformats.org/drawingml/2006/main" noGrp="1"/>
          </p:cNvSpPr>
          <p:nvPr/>
        </p:nvSpPr>
        <p:spPr>
          <a:xfrm xmlns:a="http://schemas.openxmlformats.org/drawingml/2006/main">
            <a:off x="876300" y="50101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GÉNÉRATION</a:t>
            </a:r>
          </a:p>
        </p:txBody>
      </p:sp>
      <p:sp>
        <p:nvSpPr>
          <p:cNvPr id="15" name="">
            <a:extLst xmlns:a="http://schemas.openxmlformats.org/drawingml/2006/main">
              <a:ext uri="{FF2B5EF4-FFF2-40B4-BE49-F238E27FC236}">
                <a16:creationId xmlns:a16="http://schemas.microsoft.com/office/drawing/2014/main" id="{E22090C2-08CA-4976-BBF6-543BE4E88D32}"/>
              </a:ext>
            </a:extLst>
          </p:cNvPr>
          <p:cNvSpPr>
            <a:spLocks xmlns:a="http://schemas.openxmlformats.org/drawingml/2006/main" noGrp="1"/>
          </p:cNvSpPr>
          <p:nvPr/>
        </p:nvSpPr>
        <p:spPr>
          <a:xfrm xmlns:a="http://schemas.openxmlformats.org/drawingml/2006/main">
            <a:off x="1657350" y="50577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ministral-8b-2512</a:t>
            </a:r>
          </a:p>
        </p:txBody>
      </p:sp>
      <p:sp>
        <p:nvSpPr>
          <p:cNvPr id="16" name="">
            <a:extLst xmlns:a="http://schemas.openxmlformats.org/drawingml/2006/main">
              <a:ext uri="{FF2B5EF4-FFF2-40B4-BE49-F238E27FC236}">
                <a16:creationId xmlns:a16="http://schemas.microsoft.com/office/drawing/2014/main" id="{EAB8A9C5-B90F-4EF3-A3DB-BB06EDD9AC24}"/>
              </a:ext>
            </a:extLst>
          </p:cNvPr>
          <p:cNvSpPr>
            <a:spLocks xmlns:a="http://schemas.openxmlformats.org/drawingml/2006/main" noGrp="1"/>
          </p:cNvSpPr>
          <p:nvPr/>
        </p:nvSpPr>
        <p:spPr>
          <a:xfrm xmlns:a="http://schemas.openxmlformats.org/drawingml/2006/main">
            <a:off x="5010150" y="1933575"/>
            <a:ext cx="6572250" cy="371475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e3e57c5d73bb493b"/>
          <a:stretch xmlns:a="http://schemas.openxmlformats.org/drawingml/2006/main"/>
        </p:blipFill>
        <p:spPr>
          <a:xfrm xmlns:a="http://schemas.openxmlformats.org/drawingml/2006/main">
            <a:off x="5560695" y="2085975"/>
            <a:ext cx="5471160" cy="3419475"/>
          </a:xfrm>
          <a:prstGeom xmlns:a="http://schemas.openxmlformats.org/drawingml/2006/main" prst="roundRect">
            <a:avLst/>
          </a:prstGeom>
        </p:spPr>
      </p:pic>
      <p:sp>
        <p:nvSpPr>
          <p:cNvPr id="18" name="">
            <a:extLst xmlns:a="http://schemas.openxmlformats.org/drawingml/2006/main">
              <a:ext uri="{FF2B5EF4-FFF2-40B4-BE49-F238E27FC236}">
                <a16:creationId xmlns:a16="http://schemas.microsoft.com/office/drawing/2014/main" id="{837CC4DD-C8FD-41C5-B953-B780B8C80DF3}"/>
              </a:ext>
            </a:extLst>
          </p:cNvPr>
          <p:cNvSpPr>
            <a:spLocks xmlns:a="http://schemas.openxmlformats.org/drawingml/2006/main" noGrp="1"/>
          </p:cNvSpPr>
          <p:nvPr/>
        </p:nvSpPr>
        <p:spPr>
          <a:xfrm xmlns:a="http://schemas.openxmlformats.org/drawingml/2006/main">
            <a:off x="609600" y="5867400"/>
            <a:ext cx="21907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e930750818e24dd1"/>
              </a:rPr>
              <a:t>TEMPÉRATURE 0,1</a:t>
            </a:r>
          </a:p>
        </p:txBody>
      </p:sp>
      <p:sp>
        <p:nvSpPr>
          <p:cNvPr id="19" name="">
            <a:extLst xmlns:a="http://schemas.openxmlformats.org/drawingml/2006/main">
              <a:ext uri="{FF2B5EF4-FFF2-40B4-BE49-F238E27FC236}">
                <a16:creationId xmlns:a16="http://schemas.microsoft.com/office/drawing/2014/main" id="{63D34DAC-18D3-470A-93E8-36E0A1F467EB}"/>
              </a:ext>
            </a:extLst>
          </p:cNvPr>
          <p:cNvSpPr>
            <a:spLocks xmlns:a="http://schemas.openxmlformats.org/drawingml/2006/main" noGrp="1"/>
          </p:cNvSpPr>
          <p:nvPr/>
        </p:nvSpPr>
        <p:spPr>
          <a:xfrm xmlns:a="http://schemas.openxmlformats.org/drawingml/2006/main">
            <a:off x="2971800" y="5867400"/>
            <a:ext cx="2000250" cy="419100"/>
          </a:xfrm>
          <a:prstGeom xmlns:a="http://schemas.openxmlformats.org/drawingml/2006/main" prst="roundRect">
            <a:avLst>
              <a:gd name="adj" fmla="val 27273"/>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5c7a4c9372bc411f"/>
              </a:rPr>
              <a:t>SOURCES DISTINCTES</a:t>
            </a:r>
          </a:p>
        </p:txBody>
      </p:sp>
      <p:sp>
        <p:nvSpPr>
          <p:cNvPr id="20" name="">
            <a:extLst xmlns:a="http://schemas.openxmlformats.org/drawingml/2006/main">
              <a:ext uri="{FF2B5EF4-FFF2-40B4-BE49-F238E27FC236}">
                <a16:creationId xmlns:a16="http://schemas.microsoft.com/office/drawing/2014/main" id="{2AACE78E-8FE9-4E0A-866F-C725AE49FEF3}"/>
              </a:ext>
            </a:extLst>
          </p:cNvPr>
          <p:cNvSpPr>
            <a:spLocks xmlns:a="http://schemas.openxmlformats.org/drawingml/2006/main" noGrp="1"/>
          </p:cNvSpPr>
          <p:nvPr/>
        </p:nvSpPr>
        <p:spPr>
          <a:xfrm xmlns:a="http://schemas.openxmlformats.org/drawingml/2006/main">
            <a:off x="5314950" y="5934075"/>
            <a:ext cx="626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L’embedding retrouve ; le modèle de chat reformule. Les rôles sont séparés pour pouvoir les évaluer.</a:t>
            </a:r>
          </a:p>
        </p:txBody>
      </p:sp>
      <p:sp>
        <p:nvSpPr>
          <p:cNvPr id="21" name="">
            <a:extLst xmlns:a="http://schemas.openxmlformats.org/drawingml/2006/main">
              <a:ext uri="{FF2B5EF4-FFF2-40B4-BE49-F238E27FC236}">
                <a16:creationId xmlns:a16="http://schemas.microsoft.com/office/drawing/2014/main" id="{1F4DD707-B146-44A8-BA8C-61218DF73B55}"/>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2" name="">
            <a:extLst xmlns:a="http://schemas.openxmlformats.org/drawingml/2006/main">
              <a:ext uri="{FF2B5EF4-FFF2-40B4-BE49-F238E27FC236}">
                <a16:creationId xmlns:a16="http://schemas.microsoft.com/office/drawing/2014/main" id="{91FB7550-1B4B-421B-900C-8732FF4784C7}"/>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3" name="">
            <a:extLst xmlns:a="http://schemas.openxmlformats.org/drawingml/2006/main">
              <a:ext uri="{FF2B5EF4-FFF2-40B4-BE49-F238E27FC236}">
                <a16:creationId xmlns:a16="http://schemas.microsoft.com/office/drawing/2014/main" id="{6BB8B756-AC23-4573-84A6-9E316DE7C30F}"/>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84639265"/>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ARCHITECTURE</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Préparer les rayons une fois, chercher à chaque demande</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06</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Collecter</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OpenAgenda</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Nettoyer</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normaliser</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Indexer</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chunks + FAISS</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Rechercher</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top_k = 4</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Répondre</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Mistral + sources</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Avant : préparer les rayons. À chaque demande : chercher puis rédiger. Mistral reste distant.</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3A931-C19F-45B8-B8EF-8EF019F11DC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EF97DA-D80B-46DE-832C-7431631FBE90}"/>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97D02D-FF39-4961-994C-C0BF436B9808}"/>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085C0F-8A68-4438-A2DF-EACDBCB77F28}"/>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API DÉPLOYÉE</a:t>
            </a:r>
          </a:p>
        </p:txBody>
      </p:sp>
      <p:sp>
        <p:nvSpPr>
          <p:cNvPr id="5" name="">
            <a:extLst xmlns:a="http://schemas.openxmlformats.org/drawingml/2006/main">
              <a:ext uri="{FF2B5EF4-FFF2-40B4-BE49-F238E27FC236}">
                <a16:creationId xmlns:a16="http://schemas.microsoft.com/office/drawing/2014/main" id="{0CD5B4C7-4C0C-4974-A25C-2B1D26118B66}"/>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Un guichet pour les équipes produit</a:t>
            </a:r>
          </a:p>
        </p:txBody>
      </p:sp>
      <p:sp>
        <p:nvSpPr>
          <p:cNvPr id="6" name="">
            <a:extLst xmlns:a="http://schemas.openxmlformats.org/drawingml/2006/main">
              <a:ext uri="{FF2B5EF4-FFF2-40B4-BE49-F238E27FC236}">
                <a16:creationId xmlns:a16="http://schemas.microsoft.com/office/drawing/2014/main" id="{E2164D0F-B6C9-4F18-8429-EEE903BD02D7}"/>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07</a:t>
            </a:r>
          </a:p>
        </p:txBody>
      </p:sp>
      <p:sp>
        <p:nvSpPr>
          <p:cNvPr id="7" name="">
            <a:extLst xmlns:a="http://schemas.openxmlformats.org/drawingml/2006/main">
              <a:ext uri="{FF2B5EF4-FFF2-40B4-BE49-F238E27FC236}">
                <a16:creationId xmlns:a16="http://schemas.microsoft.com/office/drawing/2014/main" id="{AA253913-DB2F-4AC9-95EC-1FBD4C4F77D7}"/>
              </a:ext>
            </a:extLst>
          </p:cNvPr>
          <p:cNvSpPr>
            <a:spLocks xmlns:a="http://schemas.openxmlformats.org/drawingml/2006/main" noGrp="1"/>
          </p:cNvSpPr>
          <p:nvPr/>
        </p:nvSpPr>
        <p:spPr>
          <a:xfrm xmlns:a="http://schemas.openxmlformats.org/drawingml/2006/main">
            <a:off x="609600" y="1933575"/>
            <a:ext cx="4095750" cy="3714750"/>
          </a:xfrm>
          <a:prstGeom xmlns:a="http://schemas.openxmlformats.org/drawingml/2006/main" prst="roundRect">
            <a:avLst>
              <a:gd name="adj" fmla="val 4615"/>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24DD255-BE19-4AF6-9FF2-88D7546A5A66}"/>
              </a:ext>
            </a:extLst>
          </p:cNvPr>
          <p:cNvSpPr>
            <a:spLocks xmlns:a="http://schemas.openxmlformats.org/drawingml/2006/main" noGrp="1"/>
          </p:cNvSpPr>
          <p:nvPr/>
        </p:nvSpPr>
        <p:spPr>
          <a:xfrm xmlns:a="http://schemas.openxmlformats.org/drawingml/2006/main">
            <a:off x="876300" y="2190750"/>
            <a:ext cx="209550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CONTRAT OPENAPI</a:t>
            </a:r>
          </a:p>
        </p:txBody>
      </p:sp>
      <p:sp>
        <p:nvSpPr>
          <p:cNvPr id="9" name="">
            <a:extLst xmlns:a="http://schemas.openxmlformats.org/drawingml/2006/main">
              <a:ext uri="{FF2B5EF4-FFF2-40B4-BE49-F238E27FC236}">
                <a16:creationId xmlns:a16="http://schemas.microsoft.com/office/drawing/2014/main" id="{1174C2E9-2AC2-48AE-A002-E90EEA4BB694}"/>
              </a:ext>
            </a:extLst>
          </p:cNvPr>
          <p:cNvSpPr>
            <a:spLocks xmlns:a="http://schemas.openxmlformats.org/drawingml/2006/main" noGrp="1"/>
          </p:cNvSpPr>
          <p:nvPr/>
        </p:nvSpPr>
        <p:spPr>
          <a:xfrm xmlns:a="http://schemas.openxmlformats.org/drawingml/2006/main">
            <a:off x="876300" y="2781300"/>
            <a:ext cx="333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1050" b="1">
                <a:solidFill>
                  <a:srgbClr val="FFFFFF"/>
                </a:solidFill>
                <a:latin typeface="Montserrat"/>
                <a:ea typeface="Montserrat"/>
                <a:cs typeface="Montserrat"/>
              </a:defRPr>
            </a:pPr>
            <a:r>
              <a:rPr sz="1050" b="1">
                <a:solidFill>
                  <a:srgbClr val="FFFFFF"/>
                </a:solidFill>
                <a:latin typeface="Montserrat"/>
                <a:ea typeface="Montserrat"/>
                <a:cs typeface="Montserrat"/>
              </a:rPr>
              <a:t>L’API est documentée dans Swagger. La capture à droite vient de l’instance locale réellement lancée.</a:t>
            </a:r>
          </a:p>
        </p:txBody>
      </p:sp>
      <p:sp>
        <p:nvSpPr>
          <p:cNvPr id="10" name="">
            <a:extLst xmlns:a="http://schemas.openxmlformats.org/drawingml/2006/main">
              <a:ext uri="{FF2B5EF4-FFF2-40B4-BE49-F238E27FC236}">
                <a16:creationId xmlns:a16="http://schemas.microsoft.com/office/drawing/2014/main" id="{5CDDAC37-E344-4835-84F3-9C7319E34E0E}"/>
              </a:ext>
            </a:extLst>
          </p:cNvPr>
          <p:cNvSpPr>
            <a:spLocks xmlns:a="http://schemas.openxmlformats.org/drawingml/2006/main" noGrp="1"/>
          </p:cNvSpPr>
          <p:nvPr/>
        </p:nvSpPr>
        <p:spPr>
          <a:xfrm xmlns:a="http://schemas.openxmlformats.org/drawingml/2006/main">
            <a:off x="876300" y="4095750"/>
            <a:ext cx="60960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GET</a:t>
            </a:r>
          </a:p>
        </p:txBody>
      </p:sp>
      <p:sp>
        <p:nvSpPr>
          <p:cNvPr id="11" name="">
            <a:extLst xmlns:a="http://schemas.openxmlformats.org/drawingml/2006/main">
              <a:ext uri="{FF2B5EF4-FFF2-40B4-BE49-F238E27FC236}">
                <a16:creationId xmlns:a16="http://schemas.microsoft.com/office/drawing/2014/main" id="{2373E3BB-23B4-4E75-A03F-266A9DDA6FCD}"/>
              </a:ext>
            </a:extLst>
          </p:cNvPr>
          <p:cNvSpPr>
            <a:spLocks xmlns:a="http://schemas.openxmlformats.org/drawingml/2006/main" noGrp="1"/>
          </p:cNvSpPr>
          <p:nvPr/>
        </p:nvSpPr>
        <p:spPr>
          <a:xfrm xmlns:a="http://schemas.openxmlformats.org/drawingml/2006/main">
            <a:off x="1657350" y="41433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/health</a:t>
            </a:r>
          </a:p>
        </p:txBody>
      </p:sp>
      <p:sp>
        <p:nvSpPr>
          <p:cNvPr id="12" name="">
            <a:extLst xmlns:a="http://schemas.openxmlformats.org/drawingml/2006/main">
              <a:ext uri="{FF2B5EF4-FFF2-40B4-BE49-F238E27FC236}">
                <a16:creationId xmlns:a16="http://schemas.microsoft.com/office/drawing/2014/main" id="{3B2CCED0-EDCB-4598-B762-B468EE68C050}"/>
              </a:ext>
            </a:extLst>
          </p:cNvPr>
          <p:cNvSpPr>
            <a:spLocks xmlns:a="http://schemas.openxmlformats.org/drawingml/2006/main" noGrp="1"/>
          </p:cNvSpPr>
          <p:nvPr/>
        </p:nvSpPr>
        <p:spPr>
          <a:xfrm xmlns:a="http://schemas.openxmlformats.org/drawingml/2006/main">
            <a:off x="876300" y="45529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POST</a:t>
            </a:r>
          </a:p>
        </p:txBody>
      </p:sp>
      <p:sp>
        <p:nvSpPr>
          <p:cNvPr id="13" name="">
            <a:extLst xmlns:a="http://schemas.openxmlformats.org/drawingml/2006/main">
              <a:ext uri="{FF2B5EF4-FFF2-40B4-BE49-F238E27FC236}">
                <a16:creationId xmlns:a16="http://schemas.microsoft.com/office/drawing/2014/main" id="{014E4BA5-3AF5-4A19-829C-0E4C2029E558}"/>
              </a:ext>
            </a:extLst>
          </p:cNvPr>
          <p:cNvSpPr>
            <a:spLocks xmlns:a="http://schemas.openxmlformats.org/drawingml/2006/main" noGrp="1"/>
          </p:cNvSpPr>
          <p:nvPr/>
        </p:nvSpPr>
        <p:spPr>
          <a:xfrm xmlns:a="http://schemas.openxmlformats.org/drawingml/2006/main">
            <a:off x="1657350" y="46005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/ask + question</a:t>
            </a:r>
          </a:p>
        </p:txBody>
      </p:sp>
      <p:sp>
        <p:nvSpPr>
          <p:cNvPr id="14" name="">
            <a:extLst xmlns:a="http://schemas.openxmlformats.org/drawingml/2006/main">
              <a:ext uri="{FF2B5EF4-FFF2-40B4-BE49-F238E27FC236}">
                <a16:creationId xmlns:a16="http://schemas.microsoft.com/office/drawing/2014/main" id="{74292CEB-7C11-4902-B6CE-FD629129F805}"/>
              </a:ext>
            </a:extLst>
          </p:cNvPr>
          <p:cNvSpPr>
            <a:spLocks xmlns:a="http://schemas.openxmlformats.org/drawingml/2006/main" noGrp="1"/>
          </p:cNvSpPr>
          <p:nvPr/>
        </p:nvSpPr>
        <p:spPr>
          <a:xfrm xmlns:a="http://schemas.openxmlformats.org/drawingml/2006/main">
            <a:off x="876300" y="50101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7719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ADMIN</a:t>
            </a:r>
          </a:p>
        </p:txBody>
      </p:sp>
      <p:sp>
        <p:nvSpPr>
          <p:cNvPr id="15" name="">
            <a:extLst xmlns:a="http://schemas.openxmlformats.org/drawingml/2006/main">
              <a:ext uri="{FF2B5EF4-FFF2-40B4-BE49-F238E27FC236}">
                <a16:creationId xmlns:a16="http://schemas.microsoft.com/office/drawing/2014/main" id="{E22090C2-08CA-4976-BBF6-543BE4E88D32}"/>
              </a:ext>
            </a:extLst>
          </p:cNvPr>
          <p:cNvSpPr>
            <a:spLocks xmlns:a="http://schemas.openxmlformats.org/drawingml/2006/main" noGrp="1"/>
          </p:cNvSpPr>
          <p:nvPr/>
        </p:nvSpPr>
        <p:spPr>
          <a:xfrm xmlns:a="http://schemas.openxmlformats.org/drawingml/2006/main">
            <a:off x="1657350" y="50577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/rebuild · jeton optionnel</a:t>
            </a:r>
          </a:p>
        </p:txBody>
      </p:sp>
      <p:sp>
        <p:nvSpPr>
          <p:cNvPr id="16" name="">
            <a:extLst xmlns:a="http://schemas.openxmlformats.org/drawingml/2006/main">
              <a:ext uri="{FF2B5EF4-FFF2-40B4-BE49-F238E27FC236}">
                <a16:creationId xmlns:a16="http://schemas.microsoft.com/office/drawing/2014/main" id="{EAB8A9C5-B90F-4EF3-A3DB-BB06EDD9AC24}"/>
              </a:ext>
            </a:extLst>
          </p:cNvPr>
          <p:cNvSpPr>
            <a:spLocks xmlns:a="http://schemas.openxmlformats.org/drawingml/2006/main" noGrp="1"/>
          </p:cNvSpPr>
          <p:nvPr/>
        </p:nvSpPr>
        <p:spPr>
          <a:xfrm xmlns:a="http://schemas.openxmlformats.org/drawingml/2006/main">
            <a:off x="5010150" y="1933575"/>
            <a:ext cx="6572250" cy="371475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b9757df841a455b"/>
          <a:srcRect xmlns:a="http://schemas.openxmlformats.org/drawingml/2006/main" l="5000" t="0" r="5000" b="0"/>
          <a:stretch xmlns:a="http://schemas.openxmlformats.org/drawingml/2006/main">
            <a:fillRect l="0" t="0" r="0" b="0"/>
          </a:stretch>
        </p:blipFill>
        <p:spPr>
          <a:xfrm xmlns:a="http://schemas.openxmlformats.org/drawingml/2006/main">
            <a:off x="5560695" y="2085975"/>
            <a:ext cx="5471160" cy="3419475"/>
          </a:xfrm>
          <a:prstGeom xmlns:a="http://schemas.openxmlformats.org/drawingml/2006/main" prst="roundRect">
            <a:avLst/>
          </a:prstGeom>
        </p:spPr>
      </p:pic>
      <p:sp>
        <p:nvSpPr>
          <p:cNvPr id="18" name="">
            <a:extLst xmlns:a="http://schemas.openxmlformats.org/drawingml/2006/main">
              <a:ext uri="{FF2B5EF4-FFF2-40B4-BE49-F238E27FC236}">
                <a16:creationId xmlns:a16="http://schemas.microsoft.com/office/drawing/2014/main" id="{837CC4DD-C8FD-41C5-B953-B780B8C80DF3}"/>
              </a:ext>
            </a:extLst>
          </p:cNvPr>
          <p:cNvSpPr>
            <a:spLocks xmlns:a="http://schemas.openxmlformats.org/drawingml/2006/main" noGrp="1"/>
          </p:cNvSpPr>
          <p:nvPr/>
        </p:nvSpPr>
        <p:spPr>
          <a:xfrm xmlns:a="http://schemas.openxmlformats.org/drawingml/2006/main">
            <a:off x="609600" y="5867400"/>
            <a:ext cx="21907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5cf0a30796314bb0"/>
              </a:rPr>
              <a:t>DOCKER COMPOSE</a:t>
            </a:r>
          </a:p>
        </p:txBody>
      </p:sp>
      <p:sp>
        <p:nvSpPr>
          <p:cNvPr id="19" name="">
            <a:extLst xmlns:a="http://schemas.openxmlformats.org/drawingml/2006/main">
              <a:ext uri="{FF2B5EF4-FFF2-40B4-BE49-F238E27FC236}">
                <a16:creationId xmlns:a16="http://schemas.microsoft.com/office/drawing/2014/main" id="{63D34DAC-18D3-470A-93E8-36E0A1F467EB}"/>
              </a:ext>
            </a:extLst>
          </p:cNvPr>
          <p:cNvSpPr>
            <a:spLocks xmlns:a="http://schemas.openxmlformats.org/drawingml/2006/main" noGrp="1"/>
          </p:cNvSpPr>
          <p:nvPr/>
        </p:nvSpPr>
        <p:spPr>
          <a:xfrm xmlns:a="http://schemas.openxmlformats.org/drawingml/2006/main">
            <a:off x="2971800" y="5867400"/>
            <a:ext cx="2000250" cy="419100"/>
          </a:xfrm>
          <a:prstGeom xmlns:a="http://schemas.openxmlformats.org/drawingml/2006/main" prst="roundRect">
            <a:avLst>
              <a:gd name="adj" fmla="val 27273"/>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feb706730eea4db7"/>
              </a:rPr>
              <a:t>SWAGGER /docs</a:t>
            </a:r>
          </a:p>
        </p:txBody>
      </p:sp>
      <p:sp>
        <p:nvSpPr>
          <p:cNvPr id="20" name="">
            <a:extLst xmlns:a="http://schemas.openxmlformats.org/drawingml/2006/main">
              <a:ext uri="{FF2B5EF4-FFF2-40B4-BE49-F238E27FC236}">
                <a16:creationId xmlns:a16="http://schemas.microsoft.com/office/drawing/2014/main" id="{2AACE78E-8FE9-4E0A-866F-C725AE49FEF3}"/>
              </a:ext>
            </a:extLst>
          </p:cNvPr>
          <p:cNvSpPr>
            <a:spLocks xmlns:a="http://schemas.openxmlformats.org/drawingml/2006/main" noGrp="1"/>
          </p:cNvSpPr>
          <p:nvPr/>
        </p:nvSpPr>
        <p:spPr>
          <a:xfrm xmlns:a="http://schemas.openxmlformats.org/drawingml/2006/main">
            <a:off x="5314950" y="5934075"/>
            <a:ext cx="626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FastAPI est le guichet. /health montre sa configuration ; /ask exécute la chaîne complète.</a:t>
            </a:r>
          </a:p>
        </p:txBody>
      </p:sp>
      <p:sp>
        <p:nvSpPr>
          <p:cNvPr id="21" name="">
            <a:extLst xmlns:a="http://schemas.openxmlformats.org/drawingml/2006/main">
              <a:ext uri="{FF2B5EF4-FFF2-40B4-BE49-F238E27FC236}">
                <a16:creationId xmlns:a16="http://schemas.microsoft.com/office/drawing/2014/main" id="{1F4DD707-B146-44A8-BA8C-61218DF73B55}"/>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2" name="">
            <a:extLst xmlns:a="http://schemas.openxmlformats.org/drawingml/2006/main">
              <a:ext uri="{FF2B5EF4-FFF2-40B4-BE49-F238E27FC236}">
                <a16:creationId xmlns:a16="http://schemas.microsoft.com/office/drawing/2014/main" id="{91FB7550-1B4B-421B-900C-8732FF4784C7}"/>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3" name="">
            <a:extLst xmlns:a="http://schemas.openxmlformats.org/drawingml/2006/main">
              <a:ext uri="{FF2B5EF4-FFF2-40B4-BE49-F238E27FC236}">
                <a16:creationId xmlns:a16="http://schemas.microsoft.com/office/drawing/2014/main" id="{6BB8B756-AC23-4573-84A6-9E316DE7C30F}"/>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84639265"/>
      </p:ext>
    </p:extLst>
  </p:cSld>
</p:sld>
</file>

<file path=ppt/slides/slide8.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5C8A7CB-C6F1-4A65-B4C2-5704A6BD6506}"/>
              </a:ext>
            </a:extLst>
          </p:cNvPr>
          <p:cNvSpPr>
            <a:spLocks xmlns:a="http://schemas.openxmlformats.org/drawingml/2006/main" noGrp="1"/>
          </p:cNvSpPr>
          <p:nvPr/>
        </p:nvSpPr>
        <p:spPr>
          <a:xfrm xmlns:a="http://schemas.openxmlformats.org/drawingml/2006/main">
            <a:off x="609600" y="438150"/>
            <a:ext cx="67665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F35607E-5989-4F75-A88A-BD6A4DEF7403}"/>
              </a:ext>
            </a:extLst>
          </p:cNvPr>
          <p:cNvSpPr>
            <a:spLocks xmlns:a="http://schemas.openxmlformats.org/drawingml/2006/main" noGrp="1"/>
          </p:cNvSpPr>
          <p:nvPr/>
        </p:nvSpPr>
        <p:spPr>
          <a:xfrm xmlns:a="http://schemas.openxmlformats.org/drawingml/2006/main">
            <a:off x="1286256" y="438150"/>
            <a:ext cx="380619"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D1F135-B32B-4DFA-8CAE-C72311296F02}"/>
              </a:ext>
            </a:extLst>
          </p:cNvPr>
          <p:cNvSpPr>
            <a:spLocks xmlns:a="http://schemas.openxmlformats.org/drawingml/2006/main" noGrp="1"/>
          </p:cNvSpPr>
          <p:nvPr/>
        </p:nvSpPr>
        <p:spPr>
          <a:xfrm xmlns:a="http://schemas.openxmlformats.org/drawingml/2006/main">
            <a:off x="1666875" y="438150"/>
            <a:ext cx="352425"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2C15CD-4148-4D23-9A64-7F327BAFB40B}"/>
              </a:ext>
            </a:extLst>
          </p:cNvPr>
          <p:cNvSpPr>
            <a:spLocks xmlns:a="http://schemas.openxmlformats.org/drawingml/2006/main" noGrp="1"/>
          </p:cNvSpPr>
          <p:nvPr/>
        </p:nvSpPr>
        <p:spPr>
          <a:xfrm xmlns:a="http://schemas.openxmlformats.org/drawingml/2006/main">
            <a:off x="609600" y="6477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DÉMONSTRATION CONTRÔLÉE</a:t>
            </a:r>
          </a:p>
        </p:txBody>
      </p:sp>
      <p:sp>
        <p:nvSpPr>
          <p:cNvPr id="5" name="">
            <a:extLst xmlns:a="http://schemas.openxmlformats.org/drawingml/2006/main">
              <a:ext uri="{FF2B5EF4-FFF2-40B4-BE49-F238E27FC236}">
                <a16:creationId xmlns:a16="http://schemas.microsoft.com/office/drawing/2014/main" id="{E9E18BD5-DD95-46A2-B499-D83F217E8092}"/>
              </a:ext>
            </a:extLst>
          </p:cNvPr>
          <p:cNvSpPr>
            <a:spLocks xmlns:a="http://schemas.openxmlformats.org/drawingml/2006/main" noGrp="1"/>
          </p:cNvSpPr>
          <p:nvPr/>
        </p:nvSpPr>
        <p:spPr>
          <a:xfrm xmlns:a="http://schemas.openxmlformats.org/drawingml/2006/main">
            <a:off x="609600" y="10477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FFFFFF"/>
                </a:solidFill>
                <a:latin typeface="Montserrat"/>
                <a:ea typeface="Montserrat"/>
                <a:cs typeface="Montserrat"/>
              </a:defRPr>
            </a:pPr>
            <a:r>
              <a:rPr sz="2250" b="1">
                <a:solidFill>
                  <a:srgbClr val="FFFFFF"/>
                </a:solidFill>
                <a:latin typeface="Montserrat"/>
                <a:ea typeface="Montserrat"/>
                <a:cs typeface="Montserrat"/>
              </a:rPr>
              <a:t>Au guichet : une fiche trouvée, une demande hors catalogue</a:t>
            </a:r>
          </a:p>
        </p:txBody>
      </p:sp>
      <p:sp>
        <p:nvSpPr>
          <p:cNvPr id="6" name="">
            <a:extLst xmlns:a="http://schemas.openxmlformats.org/drawingml/2006/main">
              <a:ext uri="{FF2B5EF4-FFF2-40B4-BE49-F238E27FC236}">
                <a16:creationId xmlns:a16="http://schemas.microsoft.com/office/drawing/2014/main" id="{3DD622C5-A087-4D7C-942B-371FDEE415D6}"/>
              </a:ext>
            </a:extLst>
          </p:cNvPr>
          <p:cNvSpPr>
            <a:spLocks xmlns:a="http://schemas.openxmlformats.org/drawingml/2006/main" noGrp="1"/>
          </p:cNvSpPr>
          <p:nvPr/>
        </p:nvSpPr>
        <p:spPr>
          <a:xfrm xmlns:a="http://schemas.openxmlformats.org/drawingml/2006/main">
            <a:off x="6096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912EFF6D-7ACC-444E-AA1E-16C8A573E830}"/>
              </a:ext>
            </a:extLst>
          </p:cNvPr>
          <p:cNvSpPr>
            <a:spLocks xmlns:a="http://schemas.openxmlformats.org/drawingml/2006/main" noGrp="1"/>
          </p:cNvSpPr>
          <p:nvPr/>
        </p:nvSpPr>
        <p:spPr>
          <a:xfrm xmlns:a="http://schemas.openxmlformats.org/drawingml/2006/main">
            <a:off x="800100" y="24574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01</a:t>
            </a:r>
          </a:p>
        </p:txBody>
      </p:sp>
      <p:sp>
        <p:nvSpPr>
          <p:cNvPr id="8" name="">
            <a:extLst xmlns:a="http://schemas.openxmlformats.org/drawingml/2006/main">
              <a:ext uri="{FF2B5EF4-FFF2-40B4-BE49-F238E27FC236}">
                <a16:creationId xmlns:a16="http://schemas.microsoft.com/office/drawing/2014/main" id="{8F193623-E6D7-473B-A8CC-B13D1F76F14D}"/>
              </a:ext>
            </a:extLst>
          </p:cNvPr>
          <p:cNvSpPr>
            <a:spLocks xmlns:a="http://schemas.openxmlformats.org/drawingml/2006/main" noGrp="1"/>
          </p:cNvSpPr>
          <p:nvPr/>
        </p:nvSpPr>
        <p:spPr>
          <a:xfrm xmlns:a="http://schemas.openxmlformats.org/drawingml/2006/main">
            <a:off x="8001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HEALTH</a:t>
            </a:r>
          </a:p>
        </p:txBody>
      </p:sp>
      <p:sp>
        <p:nvSpPr>
          <p:cNvPr id="9" name="">
            <a:extLst xmlns:a="http://schemas.openxmlformats.org/drawingml/2006/main">
              <a:ext uri="{FF2B5EF4-FFF2-40B4-BE49-F238E27FC236}">
                <a16:creationId xmlns:a16="http://schemas.microsoft.com/office/drawing/2014/main" id="{71B91188-ED23-42DB-B8DA-860BF6EB9885}"/>
              </a:ext>
            </a:extLst>
          </p:cNvPr>
          <p:cNvSpPr>
            <a:spLocks xmlns:a="http://schemas.openxmlformats.org/drawingml/2006/main" noGrp="1"/>
          </p:cNvSpPr>
          <p:nvPr/>
        </p:nvSpPr>
        <p:spPr>
          <a:xfrm xmlns:a="http://schemas.openxmlformats.org/drawingml/2006/main">
            <a:off x="8001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serveur disponible</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configuration déclarée</a:t>
            </a:r>
          </a:p>
        </p:txBody>
      </p:sp>
      <p:sp>
        <p:nvSpPr>
          <p:cNvPr id="10" name="">
            <a:extLst xmlns:a="http://schemas.openxmlformats.org/drawingml/2006/main">
              <a:ext uri="{FF2B5EF4-FFF2-40B4-BE49-F238E27FC236}">
                <a16:creationId xmlns:a16="http://schemas.microsoft.com/office/drawing/2014/main" id="{ADCC697E-D433-4A44-B109-10A5B8D3C3D6}"/>
              </a:ext>
            </a:extLst>
          </p:cNvPr>
          <p:cNvSpPr>
            <a:spLocks xmlns:a="http://schemas.openxmlformats.org/drawingml/2006/main" noGrp="1"/>
          </p:cNvSpPr>
          <p:nvPr/>
        </p:nvSpPr>
        <p:spPr>
          <a:xfrm xmlns:a="http://schemas.openxmlformats.org/drawingml/2006/main">
            <a:off x="33909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25C88A80-BA23-49CC-A337-0438655AD47C}"/>
              </a:ext>
            </a:extLst>
          </p:cNvPr>
          <p:cNvSpPr>
            <a:spLocks xmlns:a="http://schemas.openxmlformats.org/drawingml/2006/main" noGrp="1"/>
          </p:cNvSpPr>
          <p:nvPr/>
        </p:nvSpPr>
        <p:spPr>
          <a:xfrm xmlns:a="http://schemas.openxmlformats.org/drawingml/2006/main">
            <a:off x="3581400" y="2457450"/>
            <a:ext cx="51435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2" name="">
            <a:extLst xmlns:a="http://schemas.openxmlformats.org/drawingml/2006/main">
              <a:ext uri="{FF2B5EF4-FFF2-40B4-BE49-F238E27FC236}">
                <a16:creationId xmlns:a16="http://schemas.microsoft.com/office/drawing/2014/main" id="{E32A1D0F-37A0-4B15-862F-0D673A46E056}"/>
              </a:ext>
            </a:extLst>
          </p:cNvPr>
          <p:cNvSpPr>
            <a:spLocks xmlns:a="http://schemas.openxmlformats.org/drawingml/2006/main" noGrp="1"/>
          </p:cNvSpPr>
          <p:nvPr/>
        </p:nvSpPr>
        <p:spPr>
          <a:xfrm xmlns:a="http://schemas.openxmlformats.org/drawingml/2006/main">
            <a:off x="35814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PARIS</a:t>
            </a:r>
          </a:p>
        </p:txBody>
      </p:sp>
      <p:sp>
        <p:nvSpPr>
          <p:cNvPr id="13" name="">
            <a:extLst xmlns:a="http://schemas.openxmlformats.org/drawingml/2006/main">
              <a:ext uri="{FF2B5EF4-FFF2-40B4-BE49-F238E27FC236}">
                <a16:creationId xmlns:a16="http://schemas.microsoft.com/office/drawing/2014/main" id="{A9AD5011-C6F5-4ADF-9784-6CA6F66F37F7}"/>
              </a:ext>
            </a:extLst>
          </p:cNvPr>
          <p:cNvSpPr>
            <a:spLocks xmlns:a="http://schemas.openxmlformats.org/drawingml/2006/main" noGrp="1"/>
          </p:cNvSpPr>
          <p:nvPr/>
        </p:nvSpPr>
        <p:spPr>
          <a:xfrm xmlns:a="http://schemas.openxmlformats.org/drawingml/2006/main">
            <a:off x="35814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Concert Fishers</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+ 4 sources</a:t>
            </a:r>
          </a:p>
        </p:txBody>
      </p:sp>
      <p:sp>
        <p:nvSpPr>
          <p:cNvPr id="14" name="">
            <a:extLst xmlns:a="http://schemas.openxmlformats.org/drawingml/2006/main">
              <a:ext uri="{FF2B5EF4-FFF2-40B4-BE49-F238E27FC236}">
                <a16:creationId xmlns:a16="http://schemas.microsoft.com/office/drawing/2014/main" id="{A292ACB4-A017-4131-AA3D-F26614916A78}"/>
              </a:ext>
            </a:extLst>
          </p:cNvPr>
          <p:cNvSpPr>
            <a:spLocks xmlns:a="http://schemas.openxmlformats.org/drawingml/2006/main" noGrp="1"/>
          </p:cNvSpPr>
          <p:nvPr/>
        </p:nvSpPr>
        <p:spPr>
          <a:xfrm xmlns:a="http://schemas.openxmlformats.org/drawingml/2006/main">
            <a:off x="61722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B5514561-6B70-4685-8444-2B88E7B2BA3A}"/>
              </a:ext>
            </a:extLst>
          </p:cNvPr>
          <p:cNvSpPr>
            <a:spLocks xmlns:a="http://schemas.openxmlformats.org/drawingml/2006/main" noGrp="1"/>
          </p:cNvSpPr>
          <p:nvPr/>
        </p:nvSpPr>
        <p:spPr>
          <a:xfrm xmlns:a="http://schemas.openxmlformats.org/drawingml/2006/main">
            <a:off x="6362700" y="2457450"/>
            <a:ext cx="514350" cy="304800"/>
          </a:xfrm>
          <a:prstGeom xmlns:a="http://schemas.openxmlformats.org/drawingml/2006/main" prst="roundRect">
            <a:avLst>
              <a:gd name="adj" fmla="val 50000"/>
            </a:avLst>
          </a:prstGeom>
          <a:solidFill xmlns:a="http://schemas.openxmlformats.org/drawingml/2006/main">
            <a:srgbClr val="2FB274"/>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03</a:t>
            </a:r>
          </a:p>
        </p:txBody>
      </p:sp>
      <p:sp>
        <p:nvSpPr>
          <p:cNvPr id="16" name="">
            <a:extLst xmlns:a="http://schemas.openxmlformats.org/drawingml/2006/main">
              <a:ext uri="{FF2B5EF4-FFF2-40B4-BE49-F238E27FC236}">
                <a16:creationId xmlns:a16="http://schemas.microsoft.com/office/drawing/2014/main" id="{B1B7DA6B-21FE-4564-B4B6-F01B0D72CC73}"/>
              </a:ext>
            </a:extLst>
          </p:cNvPr>
          <p:cNvSpPr>
            <a:spLocks xmlns:a="http://schemas.openxmlformats.org/drawingml/2006/main" noGrp="1"/>
          </p:cNvSpPr>
          <p:nvPr/>
        </p:nvSpPr>
        <p:spPr>
          <a:xfrm xmlns:a="http://schemas.openxmlformats.org/drawingml/2006/main">
            <a:off x="63627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LYON</a:t>
            </a:r>
          </a:p>
        </p:txBody>
      </p:sp>
      <p:sp>
        <p:nvSpPr>
          <p:cNvPr id="17" name="">
            <a:extLst xmlns:a="http://schemas.openxmlformats.org/drawingml/2006/main">
              <a:ext uri="{FF2B5EF4-FFF2-40B4-BE49-F238E27FC236}">
                <a16:creationId xmlns:a16="http://schemas.microsoft.com/office/drawing/2014/main" id="{C5AD2F24-A262-4594-8F71-9A1A3D85C722}"/>
              </a:ext>
            </a:extLst>
          </p:cNvPr>
          <p:cNvSpPr>
            <a:spLocks xmlns:a="http://schemas.openxmlformats.org/drawingml/2006/main" noGrp="1"/>
          </p:cNvSpPr>
          <p:nvPr/>
        </p:nvSpPr>
        <p:spPr>
          <a:xfrm xmlns:a="http://schemas.openxmlformats.org/drawingml/2006/main">
            <a:off x="63627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corpus Paris</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 Je ne sais pas »</a:t>
            </a:r>
          </a:p>
        </p:txBody>
      </p:sp>
      <p:sp>
        <p:nvSpPr>
          <p:cNvPr id="18" name="">
            <a:extLst xmlns:a="http://schemas.openxmlformats.org/drawingml/2006/main">
              <a:ext uri="{FF2B5EF4-FFF2-40B4-BE49-F238E27FC236}">
                <a16:creationId xmlns:a16="http://schemas.microsoft.com/office/drawing/2014/main" id="{D13C952E-73EF-4F5C-8A30-CFE15D59B1A2}"/>
              </a:ext>
            </a:extLst>
          </p:cNvPr>
          <p:cNvSpPr>
            <a:spLocks xmlns:a="http://schemas.openxmlformats.org/drawingml/2006/main" noGrp="1"/>
          </p:cNvSpPr>
          <p:nvPr/>
        </p:nvSpPr>
        <p:spPr>
          <a:xfrm xmlns:a="http://schemas.openxmlformats.org/drawingml/2006/main">
            <a:off x="89535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7FCAF2E3-0947-43BE-BB7B-7E799781F5EF}"/>
              </a:ext>
            </a:extLst>
          </p:cNvPr>
          <p:cNvSpPr>
            <a:spLocks xmlns:a="http://schemas.openxmlformats.org/drawingml/2006/main" noGrp="1"/>
          </p:cNvSpPr>
          <p:nvPr/>
        </p:nvSpPr>
        <p:spPr>
          <a:xfrm xmlns:a="http://schemas.openxmlformats.org/drawingml/2006/main">
            <a:off x="9144000" y="2457450"/>
            <a:ext cx="514350" cy="304800"/>
          </a:xfrm>
          <a:prstGeom xmlns:a="http://schemas.openxmlformats.org/drawingml/2006/main" prst="roundRect">
            <a:avLst>
              <a:gd name="adj" fmla="val 50000"/>
            </a:avLst>
          </a:prstGeom>
          <a:solidFill xmlns:a="http://schemas.openxmlformats.org/drawingml/2006/main">
            <a:srgbClr val="61B0FF"/>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04</a:t>
            </a:r>
          </a:p>
        </p:txBody>
      </p:sp>
      <p:sp>
        <p:nvSpPr>
          <p:cNvPr id="20" name="">
            <a:extLst xmlns:a="http://schemas.openxmlformats.org/drawingml/2006/main">
              <a:ext uri="{FF2B5EF4-FFF2-40B4-BE49-F238E27FC236}">
                <a16:creationId xmlns:a16="http://schemas.microsoft.com/office/drawing/2014/main" id="{836F70BC-CB57-483E-B045-FBD0DB924D15}"/>
              </a:ext>
            </a:extLst>
          </p:cNvPr>
          <p:cNvSpPr>
            <a:spLocks xmlns:a="http://schemas.openxmlformats.org/drawingml/2006/main" noGrp="1"/>
          </p:cNvSpPr>
          <p:nvPr/>
        </p:nvSpPr>
        <p:spPr>
          <a:xfrm xmlns:a="http://schemas.openxmlformats.org/drawingml/2006/main">
            <a:off x="91440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MODE DIRECT</a:t>
            </a:r>
          </a:p>
        </p:txBody>
      </p:sp>
      <p:sp>
        <p:nvSpPr>
          <p:cNvPr id="21" name="">
            <a:extLst xmlns:a="http://schemas.openxmlformats.org/drawingml/2006/main">
              <a:ext uri="{FF2B5EF4-FFF2-40B4-BE49-F238E27FC236}">
                <a16:creationId xmlns:a16="http://schemas.microsoft.com/office/drawing/2014/main" id="{A108198A-C23E-4EC7-AA89-8238AEF0B09E}"/>
              </a:ext>
            </a:extLst>
          </p:cNvPr>
          <p:cNvSpPr>
            <a:spLocks xmlns:a="http://schemas.openxmlformats.org/drawingml/2006/main" noGrp="1"/>
          </p:cNvSpPr>
          <p:nvPr/>
        </p:nvSpPr>
        <p:spPr>
          <a:xfrm xmlns:a="http://schemas.openxmlformats.org/drawingml/2006/main">
            <a:off x="91440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Direct rétabli</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Ministral 8B</a:t>
            </a:r>
          </a:p>
        </p:txBody>
      </p:sp>
      <p:sp>
        <p:nvSpPr>
          <p:cNvPr id="22" name="">
            <a:extLst xmlns:a="http://schemas.openxmlformats.org/drawingml/2006/main">
              <a:ext uri="{FF2B5EF4-FFF2-40B4-BE49-F238E27FC236}">
                <a16:creationId xmlns:a16="http://schemas.microsoft.com/office/drawing/2014/main" id="{248D13D4-F881-4F90-BDBE-353AF218C149}"/>
              </a:ext>
            </a:extLst>
          </p:cNvPr>
          <p:cNvSpPr>
            <a:spLocks xmlns:a="http://schemas.openxmlformats.org/drawingml/2006/main" noGrp="1"/>
          </p:cNvSpPr>
          <p:nvPr/>
        </p:nvSpPr>
        <p:spPr>
          <a:xfrm xmlns:a="http://schemas.openxmlformats.org/drawingml/2006/main">
            <a:off x="609600" y="5048250"/>
            <a:ext cx="20002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3a4064d7bc404002"/>
              </a:rPr>
              <a:t>API</a:t>
            </a:r>
          </a:p>
        </p:txBody>
      </p:sp>
      <p:sp>
        <p:nvSpPr>
          <p:cNvPr id="23" name="">
            <a:extLst xmlns:a="http://schemas.openxmlformats.org/drawingml/2006/main">
              <a:ext uri="{FF2B5EF4-FFF2-40B4-BE49-F238E27FC236}">
                <a16:creationId xmlns:a16="http://schemas.microsoft.com/office/drawing/2014/main" id="{A8B64FE0-7128-4A02-9E72-C59A5BAF8B2E}"/>
              </a:ext>
            </a:extLst>
          </p:cNvPr>
          <p:cNvSpPr>
            <a:spLocks xmlns:a="http://schemas.openxmlformats.org/drawingml/2006/main" noGrp="1"/>
          </p:cNvSpPr>
          <p:nvPr/>
        </p:nvSpPr>
        <p:spPr>
          <a:xfrm xmlns:a="http://schemas.openxmlformats.org/drawingml/2006/main">
            <a:off x="2781300" y="5048250"/>
            <a:ext cx="1809750" cy="419100"/>
          </a:xfrm>
          <a:prstGeom xmlns:a="http://schemas.openxmlformats.org/drawingml/2006/main" prst="roundRect">
            <a:avLst>
              <a:gd name="adj" fmla="val 27273"/>
            </a:avLst>
          </a:prstGeom>
          <a:solidFill xmlns:a="http://schemas.openxmlformats.org/drawingml/2006/main">
            <a:srgbClr val="243558"/>
          </a:solidFill>
          <a:ln xmlns:a="http://schemas.openxmlformats.org/drawingml/2006/main" w="9525">
            <a:solidFill>
              <a:srgbClr val="24355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794867ef118f4cf9"/>
              </a:rPr>
              <a:t>SOURCES</a:t>
            </a:r>
          </a:p>
        </p:txBody>
      </p:sp>
      <p:sp>
        <p:nvSpPr>
          <p:cNvPr id="24" name="">
            <a:extLst xmlns:a="http://schemas.openxmlformats.org/drawingml/2006/main">
              <a:ext uri="{FF2B5EF4-FFF2-40B4-BE49-F238E27FC236}">
                <a16:creationId xmlns:a16="http://schemas.microsoft.com/office/drawing/2014/main" id="{967752A1-F1F3-4A3C-880B-3504E3F1B17E}"/>
              </a:ext>
            </a:extLst>
          </p:cNvPr>
          <p:cNvSpPr>
            <a:spLocks xmlns:a="http://schemas.openxmlformats.org/drawingml/2006/main" noGrp="1"/>
          </p:cNvSpPr>
          <p:nvPr/>
        </p:nvSpPr>
        <p:spPr>
          <a:xfrm xmlns:a="http://schemas.openxmlformats.org/drawingml/2006/main">
            <a:off x="4762500" y="5048250"/>
            <a:ext cx="2000250" cy="419100"/>
          </a:xfrm>
          <a:prstGeom xmlns:a="http://schemas.openxmlformats.org/drawingml/2006/main" prst="roundRect">
            <a:avLst>
              <a:gd name="adj" fmla="val 27273"/>
            </a:avLst>
          </a:prstGeom>
          <a:solidFill xmlns:a="http://schemas.openxmlformats.org/drawingml/2006/main">
            <a:srgbClr val="2FB274"/>
          </a:solidFill>
          <a:ln xmlns:a="http://schemas.openxmlformats.org/drawingml/2006/main" w="9525">
            <a:solidFill>
              <a:srgbClr val="2FB274"/>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dc098d5f9821481a"/>
              </a:rPr>
              <a:t>PRUDENCE</a:t>
            </a:r>
          </a:p>
        </p:txBody>
      </p:sp>
      <p:sp>
        <p:nvSpPr>
          <p:cNvPr id="25" name="">
            <a:extLst xmlns:a="http://schemas.openxmlformats.org/drawingml/2006/main">
              <a:ext uri="{FF2B5EF4-FFF2-40B4-BE49-F238E27FC236}">
                <a16:creationId xmlns:a16="http://schemas.microsoft.com/office/drawing/2014/main" id="{8D3022C1-07CE-4EE1-962F-CC43D85496F7}"/>
              </a:ext>
            </a:extLst>
          </p:cNvPr>
          <p:cNvSpPr>
            <a:spLocks xmlns:a="http://schemas.openxmlformats.org/drawingml/2006/main" noGrp="1"/>
          </p:cNvSpPr>
          <p:nvPr/>
        </p:nvSpPr>
        <p:spPr>
          <a:xfrm xmlns:a="http://schemas.openxmlformats.org/drawingml/2006/main">
            <a:off x="6934200" y="5048250"/>
            <a:ext cx="1809750" cy="419100"/>
          </a:xfrm>
          <a:prstGeom xmlns:a="http://schemas.openxmlformats.org/drawingml/2006/main" prst="roundRect">
            <a:avLst>
              <a:gd name="adj" fmla="val 27273"/>
            </a:avLst>
          </a:prstGeom>
          <a:solidFill xmlns:a="http://schemas.openxmlformats.org/drawingml/2006/main">
            <a:srgbClr val="243558"/>
          </a:solidFill>
          <a:ln xmlns:a="http://schemas.openxmlformats.org/drawingml/2006/main" w="9525">
            <a:solidFill>
              <a:srgbClr val="24355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629276bdb7c94025"/>
              </a:rPr>
              <a:t>DOCKER</a:t>
            </a:r>
          </a:p>
        </p:txBody>
      </p:sp>
      <p:sp>
        <p:nvSpPr>
          <p:cNvPr id="26" name="">
            <a:extLst xmlns:a="http://schemas.openxmlformats.org/drawingml/2006/main">
              <a:ext uri="{FF2B5EF4-FFF2-40B4-BE49-F238E27FC236}">
                <a16:creationId xmlns:a16="http://schemas.microsoft.com/office/drawing/2014/main" id="{D2BF6829-5041-44FA-B8A1-F50715A9508C}"/>
              </a:ext>
            </a:extLst>
          </p:cNvPr>
          <p:cNvSpPr>
            <a:spLocks xmlns:a="http://schemas.openxmlformats.org/drawingml/2006/main" noGrp="1"/>
          </p:cNvSpPr>
          <p:nvPr/>
        </p:nvSpPr>
        <p:spPr>
          <a:xfrm xmlns:a="http://schemas.openxmlformats.org/drawingml/2006/main">
            <a:off x="8934450" y="5048250"/>
            <a:ext cx="2647950" cy="723900"/>
          </a:xfrm>
          <a:prstGeom xmlns:a="http://schemas.openxmlformats.org/drawingml/2006/main" prst="roundRect">
            <a:avLst>
              <a:gd name="adj" fmla="val 18421"/>
            </a:avLst>
          </a:prstGeom>
          <a:solidFill xmlns:a="http://schemas.openxmlformats.org/drawingml/2006/main">
            <a:srgbClr val="FFF0E6"/>
          </a:solidFill>
          <a:ln xmlns:a="http://schemas.openxmlformats.org/drawingml/2006/main" w="9525">
            <a:solidFill>
              <a:srgbClr val="FFF0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7" name="">
            <a:extLst xmlns:a="http://schemas.openxmlformats.org/drawingml/2006/main">
              <a:ext uri="{FF2B5EF4-FFF2-40B4-BE49-F238E27FC236}">
                <a16:creationId xmlns:a16="http://schemas.microsoft.com/office/drawing/2014/main" id="{0714A2B0-7F5C-401A-9971-C36F7BDAF709}"/>
              </a:ext>
            </a:extLst>
          </p:cNvPr>
          <p:cNvSpPr>
            <a:spLocks xmlns:a="http://schemas.openxmlformats.org/drawingml/2006/main" noGrp="1"/>
          </p:cNvSpPr>
          <p:nvPr/>
        </p:nvSpPr>
        <p:spPr>
          <a:xfrm xmlns:a="http://schemas.openxmlformats.org/drawingml/2006/main">
            <a:off x="9144000" y="5181600"/>
            <a:ext cx="2228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Retour attendu → tests et évaluation</a:t>
            </a:r>
          </a:p>
        </p:txBody>
      </p:sp>
      <p:sp>
        <p:nvSpPr>
          <p:cNvPr id="28" name="">
            <a:extLst xmlns:a="http://schemas.openxmlformats.org/drawingml/2006/main">
              <a:ext uri="{FF2B5EF4-FFF2-40B4-BE49-F238E27FC236}">
                <a16:creationId xmlns:a16="http://schemas.microsoft.com/office/drawing/2014/main" id="{4497BF56-1BE6-4E90-9A0D-4217CE045A5C}"/>
              </a:ext>
            </a:extLst>
          </p:cNvPr>
          <p:cNvSpPr>
            <a:spLocks xmlns:a="http://schemas.openxmlformats.org/drawingml/2006/main" noGrp="1"/>
          </p:cNvSpPr>
          <p:nvPr/>
        </p:nvSpPr>
        <p:spPr>
          <a:xfrm xmlns:a="http://schemas.openxmlformats.org/drawingml/2006/main">
            <a:off x="609600" y="606742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Le guichet reçoit deux demandes : une fiche trouvée, puis un refus hors catalogue. Secours enregistré explicite.</a:t>
            </a:r>
          </a:p>
        </p:txBody>
      </p:sp>
    </p:spTree>
    <p:extLst>
      <p:ext uri="{BB962C8B-B14F-4D97-AF65-F5344CB8AC3E}">
        <p14:creationId xmlns:p14="http://schemas.microsoft.com/office/powerpoint/2010/main" val="114150668"/>
      </p:ext>
    </p:extLst>
  </p:cSld>
</p:sld>
</file>

<file path=ppt/slides/slide9.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6FFF29-02D1-44DB-B15E-3C219737C782}"/>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C02D06A-63EF-4FBA-9F5E-F8831BDBDDDF}"/>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2A4B2B8-434C-493C-9F7A-C18E8969AB9D}"/>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5D973C-965A-4F43-9271-DB3D063CC42D}"/>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STRATÉGIE DE QUALITÉ</a:t>
            </a:r>
          </a:p>
        </p:txBody>
      </p:sp>
      <p:sp>
        <p:nvSpPr>
          <p:cNvPr id="5" name="">
            <a:extLst xmlns:a="http://schemas.openxmlformats.org/drawingml/2006/main">
              <a:ext uri="{FF2B5EF4-FFF2-40B4-BE49-F238E27FC236}">
                <a16:creationId xmlns:a16="http://schemas.microsoft.com/office/drawing/2014/main" id="{81885DE1-943E-4F5C-BCAF-995AC98E06C1}"/>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Tester le mécanisme et examiner les réponses</a:t>
            </a:r>
          </a:p>
        </p:txBody>
      </p:sp>
      <p:sp>
        <p:nvSpPr>
          <p:cNvPr id="6" name="">
            <a:extLst xmlns:a="http://schemas.openxmlformats.org/drawingml/2006/main">
              <a:ext uri="{FF2B5EF4-FFF2-40B4-BE49-F238E27FC236}">
                <a16:creationId xmlns:a16="http://schemas.microsoft.com/office/drawing/2014/main" id="{4419C4B8-BF29-4540-BF40-F82765D96BDB}"/>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09</a:t>
            </a:r>
          </a:p>
        </p:txBody>
      </p:sp>
      <p:sp>
        <p:nvSpPr>
          <p:cNvPr id="7" name="">
            <a:extLst xmlns:a="http://schemas.openxmlformats.org/drawingml/2006/main">
              <a:ext uri="{FF2B5EF4-FFF2-40B4-BE49-F238E27FC236}">
                <a16:creationId xmlns:a16="http://schemas.microsoft.com/office/drawing/2014/main" id="{5BD98E8B-388B-4CB0-9A68-EBBF6F2E0EEC}"/>
              </a:ext>
            </a:extLst>
          </p:cNvPr>
          <p:cNvSpPr>
            <a:spLocks xmlns:a="http://schemas.openxmlformats.org/drawingml/2006/main" noGrp="1"/>
          </p:cNvSpPr>
          <p:nvPr/>
        </p:nvSpPr>
        <p:spPr>
          <a:xfrm xmlns:a="http://schemas.openxmlformats.org/drawingml/2006/main">
            <a:off x="609600" y="2095500"/>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F4ACFA5F-2434-44F1-A050-8A45EFA125B7}"/>
              </a:ext>
            </a:extLst>
          </p:cNvPr>
          <p:cNvSpPr>
            <a:spLocks xmlns:a="http://schemas.openxmlformats.org/drawingml/2006/main" noGrp="1"/>
          </p:cNvSpPr>
          <p:nvPr/>
        </p:nvSpPr>
        <p:spPr>
          <a:xfrm xmlns:a="http://schemas.openxmlformats.org/drawingml/2006/main">
            <a:off x="800100" y="2286000"/>
            <a:ext cx="1428750" cy="304800"/>
          </a:xfrm>
          <a:prstGeom xmlns:a="http://schemas.openxmlformats.org/drawingml/2006/main" prst="roundRect">
            <a:avLst>
              <a:gd name="adj" fmla="val 50000"/>
            </a:avLst>
          </a:prstGeom>
          <a:solidFill xmlns:a="http://schemas.openxmlformats.org/drawingml/2006/main">
            <a:srgbClr val="6C4CF1">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INGESTION</a:t>
            </a:r>
          </a:p>
        </p:txBody>
      </p:sp>
      <p:sp>
        <p:nvSpPr>
          <p:cNvPr id="9" name="">
            <a:extLst xmlns:a="http://schemas.openxmlformats.org/drawingml/2006/main">
              <a:ext uri="{FF2B5EF4-FFF2-40B4-BE49-F238E27FC236}">
                <a16:creationId xmlns:a16="http://schemas.microsoft.com/office/drawing/2014/main" id="{C5C2F78A-6FCC-4950-9E61-C75B6CD0D56C}"/>
              </a:ext>
            </a:extLst>
          </p:cNvPr>
          <p:cNvSpPr>
            <a:spLocks xmlns:a="http://schemas.openxmlformats.org/drawingml/2006/main" noGrp="1"/>
          </p:cNvSpPr>
          <p:nvPr/>
        </p:nvSpPr>
        <p:spPr>
          <a:xfrm xmlns:a="http://schemas.openxmlformats.org/drawingml/2006/main">
            <a:off x="2419350" y="231457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pagination</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nettoyage · filtres</a:t>
            </a:r>
          </a:p>
        </p:txBody>
      </p:sp>
      <p:sp>
        <p:nvSpPr>
          <p:cNvPr id="10" name="">
            <a:extLst xmlns:a="http://schemas.openxmlformats.org/drawingml/2006/main">
              <a:ext uri="{FF2B5EF4-FFF2-40B4-BE49-F238E27FC236}">
                <a16:creationId xmlns:a16="http://schemas.microsoft.com/office/drawing/2014/main" id="{D709DC9F-9108-46A8-B56D-359C4115B2DE}"/>
              </a:ext>
            </a:extLst>
          </p:cNvPr>
          <p:cNvSpPr>
            <a:spLocks xmlns:a="http://schemas.openxmlformats.org/drawingml/2006/main" noGrp="1"/>
          </p:cNvSpPr>
          <p:nvPr/>
        </p:nvSpPr>
        <p:spPr>
          <a:xfrm xmlns:a="http://schemas.openxmlformats.org/drawingml/2006/main">
            <a:off x="6324600" y="226695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1" name="">
            <a:extLst xmlns:a="http://schemas.openxmlformats.org/drawingml/2006/main">
              <a:ext uri="{FF2B5EF4-FFF2-40B4-BE49-F238E27FC236}">
                <a16:creationId xmlns:a16="http://schemas.microsoft.com/office/drawing/2014/main" id="{E801EBA1-B08F-43F8-8C6F-ED37B9A35DF5}"/>
              </a:ext>
            </a:extLst>
          </p:cNvPr>
          <p:cNvSpPr>
            <a:spLocks xmlns:a="http://schemas.openxmlformats.org/drawingml/2006/main" noGrp="1"/>
          </p:cNvSpPr>
          <p:nvPr/>
        </p:nvSpPr>
        <p:spPr>
          <a:xfrm xmlns:a="http://schemas.openxmlformats.org/drawingml/2006/main">
            <a:off x="609600" y="2962275"/>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7E4CF8F3-1951-4FF2-8234-7F746E0B8D58}"/>
              </a:ext>
            </a:extLst>
          </p:cNvPr>
          <p:cNvSpPr>
            <a:spLocks xmlns:a="http://schemas.openxmlformats.org/drawingml/2006/main" noGrp="1"/>
          </p:cNvSpPr>
          <p:nvPr/>
        </p:nvSpPr>
        <p:spPr>
          <a:xfrm xmlns:a="http://schemas.openxmlformats.org/drawingml/2006/main">
            <a:off x="800100" y="3152775"/>
            <a:ext cx="1428750" cy="304800"/>
          </a:xfrm>
          <a:prstGeom xmlns:a="http://schemas.openxmlformats.org/drawingml/2006/main" prst="roundRect">
            <a:avLst>
              <a:gd name="adj" fmla="val 50000"/>
            </a:avLst>
          </a:prstGeom>
          <a:solidFill xmlns:a="http://schemas.openxmlformats.org/drawingml/2006/main">
            <a:srgbClr val="FF8A3D">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INDEX</a:t>
            </a:r>
          </a:p>
        </p:txBody>
      </p:sp>
      <p:sp>
        <p:nvSpPr>
          <p:cNvPr id="13" name="">
            <a:extLst xmlns:a="http://schemas.openxmlformats.org/drawingml/2006/main">
              <a:ext uri="{FF2B5EF4-FFF2-40B4-BE49-F238E27FC236}">
                <a16:creationId xmlns:a16="http://schemas.microsoft.com/office/drawing/2014/main" id="{4FDE86F8-0B25-489A-A8B9-06F09F4B65BF}"/>
              </a:ext>
            </a:extLst>
          </p:cNvPr>
          <p:cNvSpPr>
            <a:spLocks xmlns:a="http://schemas.openxmlformats.org/drawingml/2006/main" noGrp="1"/>
          </p:cNvSpPr>
          <p:nvPr/>
        </p:nvSpPr>
        <p:spPr>
          <a:xfrm xmlns:a="http://schemas.openxmlformats.org/drawingml/2006/main">
            <a:off x="2419350" y="31813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chunks</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FAISS · métadonnées</a:t>
            </a:r>
          </a:p>
        </p:txBody>
      </p:sp>
      <p:sp>
        <p:nvSpPr>
          <p:cNvPr id="14" name="">
            <a:extLst xmlns:a="http://schemas.openxmlformats.org/drawingml/2006/main">
              <a:ext uri="{FF2B5EF4-FFF2-40B4-BE49-F238E27FC236}">
                <a16:creationId xmlns:a16="http://schemas.microsoft.com/office/drawing/2014/main" id="{B8FBD5F0-852F-4F3E-BF57-CFC896DD5CEA}"/>
              </a:ext>
            </a:extLst>
          </p:cNvPr>
          <p:cNvSpPr>
            <a:spLocks xmlns:a="http://schemas.openxmlformats.org/drawingml/2006/main" noGrp="1"/>
          </p:cNvSpPr>
          <p:nvPr/>
        </p:nvSpPr>
        <p:spPr>
          <a:xfrm xmlns:a="http://schemas.openxmlformats.org/drawingml/2006/main">
            <a:off x="6324600" y="3133725"/>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5" name="">
            <a:extLst xmlns:a="http://schemas.openxmlformats.org/drawingml/2006/main">
              <a:ext uri="{FF2B5EF4-FFF2-40B4-BE49-F238E27FC236}">
                <a16:creationId xmlns:a16="http://schemas.microsoft.com/office/drawing/2014/main" id="{C748CF74-2375-40FE-AAF5-1E7068E9A446}"/>
              </a:ext>
            </a:extLst>
          </p:cNvPr>
          <p:cNvSpPr>
            <a:spLocks xmlns:a="http://schemas.openxmlformats.org/drawingml/2006/main" noGrp="1"/>
          </p:cNvSpPr>
          <p:nvPr/>
        </p:nvSpPr>
        <p:spPr>
          <a:xfrm xmlns:a="http://schemas.openxmlformats.org/drawingml/2006/main">
            <a:off x="609600" y="3829050"/>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875E5DCB-1BD9-4FC5-846A-48B15FBDD82E}"/>
              </a:ext>
            </a:extLst>
          </p:cNvPr>
          <p:cNvSpPr>
            <a:spLocks xmlns:a="http://schemas.openxmlformats.org/drawingml/2006/main" noGrp="1"/>
          </p:cNvSpPr>
          <p:nvPr/>
        </p:nvSpPr>
        <p:spPr>
          <a:xfrm xmlns:a="http://schemas.openxmlformats.org/drawingml/2006/main">
            <a:off x="800100" y="4019550"/>
            <a:ext cx="1428750" cy="304800"/>
          </a:xfrm>
          <a:prstGeom xmlns:a="http://schemas.openxmlformats.org/drawingml/2006/main" prst="roundRect">
            <a:avLst>
              <a:gd name="adj" fmla="val 50000"/>
            </a:avLst>
          </a:prstGeom>
          <a:solidFill xmlns:a="http://schemas.openxmlformats.org/drawingml/2006/main">
            <a:srgbClr val="2FB274">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API</a:t>
            </a:r>
          </a:p>
        </p:txBody>
      </p:sp>
      <p:sp>
        <p:nvSpPr>
          <p:cNvPr id="17" name="">
            <a:extLst xmlns:a="http://schemas.openxmlformats.org/drawingml/2006/main">
              <a:ext uri="{FF2B5EF4-FFF2-40B4-BE49-F238E27FC236}">
                <a16:creationId xmlns:a16="http://schemas.microsoft.com/office/drawing/2014/main" id="{15BB7B87-87D2-4E19-9F7E-51B91F9A5DD8}"/>
              </a:ext>
            </a:extLst>
          </p:cNvPr>
          <p:cNvSpPr>
            <a:spLocks xmlns:a="http://schemas.openxmlformats.org/drawingml/2006/main" noGrp="1"/>
          </p:cNvSpPr>
          <p:nvPr/>
        </p:nvSpPr>
        <p:spPr>
          <a:xfrm xmlns:a="http://schemas.openxmlformats.org/drawingml/2006/main">
            <a:off x="2419350" y="40481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health</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ask · erreurs</a:t>
            </a:r>
          </a:p>
        </p:txBody>
      </p:sp>
      <p:sp>
        <p:nvSpPr>
          <p:cNvPr id="18" name="">
            <a:extLst xmlns:a="http://schemas.openxmlformats.org/drawingml/2006/main">
              <a:ext uri="{FF2B5EF4-FFF2-40B4-BE49-F238E27FC236}">
                <a16:creationId xmlns:a16="http://schemas.microsoft.com/office/drawing/2014/main" id="{CF930378-BC1D-410F-A821-DB41242F19D3}"/>
              </a:ext>
            </a:extLst>
          </p:cNvPr>
          <p:cNvSpPr>
            <a:spLocks xmlns:a="http://schemas.openxmlformats.org/drawingml/2006/main" noGrp="1"/>
          </p:cNvSpPr>
          <p:nvPr/>
        </p:nvSpPr>
        <p:spPr>
          <a:xfrm xmlns:a="http://schemas.openxmlformats.org/drawingml/2006/main">
            <a:off x="6324600" y="400050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B01F6D8A-7023-442D-AF47-C8A8C201B1EA}"/>
              </a:ext>
            </a:extLst>
          </p:cNvPr>
          <p:cNvSpPr>
            <a:spLocks xmlns:a="http://schemas.openxmlformats.org/drawingml/2006/main" noGrp="1"/>
          </p:cNvSpPr>
          <p:nvPr/>
        </p:nvSpPr>
        <p:spPr>
          <a:xfrm xmlns:a="http://schemas.openxmlformats.org/drawingml/2006/main">
            <a:off x="609600" y="4695825"/>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0B13DD06-CDEB-4086-A627-D5BC32598AD7}"/>
              </a:ext>
            </a:extLst>
          </p:cNvPr>
          <p:cNvSpPr>
            <a:spLocks xmlns:a="http://schemas.openxmlformats.org/drawingml/2006/main" noGrp="1"/>
          </p:cNvSpPr>
          <p:nvPr/>
        </p:nvSpPr>
        <p:spPr>
          <a:xfrm xmlns:a="http://schemas.openxmlformats.org/drawingml/2006/main">
            <a:off x="800100" y="4886325"/>
            <a:ext cx="1428750" cy="304800"/>
          </a:xfrm>
          <a:prstGeom xmlns:a="http://schemas.openxmlformats.org/drawingml/2006/main" prst="roundRect">
            <a:avLst>
              <a:gd name="adj" fmla="val 50000"/>
            </a:avLst>
          </a:prstGeom>
          <a:solidFill xmlns:a="http://schemas.openxmlformats.org/drawingml/2006/main">
            <a:srgbClr val="61B0FF">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ÉVALUATION</a:t>
            </a:r>
          </a:p>
        </p:txBody>
      </p:sp>
      <p:sp>
        <p:nvSpPr>
          <p:cNvPr id="21" name="">
            <a:extLst xmlns:a="http://schemas.openxmlformats.org/drawingml/2006/main">
              <a:ext uri="{FF2B5EF4-FFF2-40B4-BE49-F238E27FC236}">
                <a16:creationId xmlns:a16="http://schemas.microsoft.com/office/drawing/2014/main" id="{DE7A0F9D-C269-493E-85EB-19D88B4A1220}"/>
              </a:ext>
            </a:extLst>
          </p:cNvPr>
          <p:cNvSpPr>
            <a:spLocks xmlns:a="http://schemas.openxmlformats.org/drawingml/2006/main" noGrp="1"/>
          </p:cNvSpPr>
          <p:nvPr/>
        </p:nvSpPr>
        <p:spPr>
          <a:xfrm xmlns:a="http://schemas.openxmlformats.org/drawingml/2006/main">
            <a:off x="2419350" y="49149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jeu annoté</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RAGAS</a:t>
            </a:r>
          </a:p>
        </p:txBody>
      </p:sp>
      <p:sp>
        <p:nvSpPr>
          <p:cNvPr id="22" name="">
            <a:extLst xmlns:a="http://schemas.openxmlformats.org/drawingml/2006/main">
              <a:ext uri="{FF2B5EF4-FFF2-40B4-BE49-F238E27FC236}">
                <a16:creationId xmlns:a16="http://schemas.microsoft.com/office/drawing/2014/main" id="{9F946D60-B96A-4415-94C0-FCCCCAFE50E1}"/>
              </a:ext>
            </a:extLst>
          </p:cNvPr>
          <p:cNvSpPr>
            <a:spLocks xmlns:a="http://schemas.openxmlformats.org/drawingml/2006/main" noGrp="1"/>
          </p:cNvSpPr>
          <p:nvPr/>
        </p:nvSpPr>
        <p:spPr>
          <a:xfrm xmlns:a="http://schemas.openxmlformats.org/drawingml/2006/main">
            <a:off x="6324600" y="4867275"/>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3" name="">
            <a:extLst xmlns:a="http://schemas.openxmlformats.org/drawingml/2006/main">
              <a:ext uri="{FF2B5EF4-FFF2-40B4-BE49-F238E27FC236}">
                <a16:creationId xmlns:a16="http://schemas.microsoft.com/office/drawing/2014/main" id="{35D235D7-E697-4A6C-A839-FEF16F6622D8}"/>
              </a:ext>
            </a:extLst>
          </p:cNvPr>
          <p:cNvSpPr>
            <a:spLocks xmlns:a="http://schemas.openxmlformats.org/drawingml/2006/main" noGrp="1"/>
          </p:cNvSpPr>
          <p:nvPr/>
        </p:nvSpPr>
        <p:spPr>
          <a:xfrm xmlns:a="http://schemas.openxmlformats.org/drawingml/2006/main">
            <a:off x="7486650" y="2095500"/>
            <a:ext cx="4095750" cy="3286125"/>
          </a:xfrm>
          <a:prstGeom xmlns:a="http://schemas.openxmlformats.org/drawingml/2006/main" prst="roundRect">
            <a:avLst>
              <a:gd name="adj" fmla="val 6957"/>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4" name="">
            <a:extLst xmlns:a="http://schemas.openxmlformats.org/drawingml/2006/main">
              <a:ext uri="{FF2B5EF4-FFF2-40B4-BE49-F238E27FC236}">
                <a16:creationId xmlns:a16="http://schemas.microsoft.com/office/drawing/2014/main" id="{52C2024F-53A5-4504-BD85-D03C7A312236}"/>
              </a:ext>
            </a:extLst>
          </p:cNvPr>
          <p:cNvSpPr>
            <a:spLocks xmlns:a="http://schemas.openxmlformats.org/drawingml/2006/main" noGrp="1"/>
          </p:cNvSpPr>
          <p:nvPr/>
        </p:nvSpPr>
        <p:spPr>
          <a:xfrm xmlns:a="http://schemas.openxmlformats.org/drawingml/2006/main">
            <a:off x="7962900" y="2628900"/>
            <a:ext cx="3143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850" b="1">
                <a:solidFill>
                  <a:srgbClr val="FFFFFF"/>
                </a:solidFill>
                <a:latin typeface="Montserrat"/>
                <a:ea typeface="Montserrat"/>
                <a:cs typeface="Montserrat"/>
              </a:defRPr>
            </a:pPr>
            <a:r>
              <a:rPr sz="2850" b="1">
                <a:solidFill>
                  <a:srgbClr val="FFFFFF"/>
                </a:solidFill>
                <a:latin typeface="Montserrat"/>
                <a:ea typeface="Montserrat"/>
                <a:cs typeface="Montserrat"/>
              </a:rPr>
              <a:t>76</a:t>
            </a:r>
          </a:p>
        </p:txBody>
      </p:sp>
      <p:sp>
        <p:nvSpPr>
          <p:cNvPr id="25" name="">
            <a:extLst xmlns:a="http://schemas.openxmlformats.org/drawingml/2006/main">
              <a:ext uri="{FF2B5EF4-FFF2-40B4-BE49-F238E27FC236}">
                <a16:creationId xmlns:a16="http://schemas.microsoft.com/office/drawing/2014/main" id="{BDBC7D63-D9B1-47B6-9766-7B443DD659FE}"/>
              </a:ext>
            </a:extLst>
          </p:cNvPr>
          <p:cNvSpPr>
            <a:spLocks xmlns:a="http://schemas.openxmlformats.org/drawingml/2006/main" noGrp="1"/>
          </p:cNvSpPr>
          <p:nvPr/>
        </p:nvSpPr>
        <p:spPr>
          <a:xfrm xmlns:a="http://schemas.openxmlformats.org/drawingml/2006/main">
            <a:off x="7962900" y="3733800"/>
            <a:ext cx="314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Montserrat"/>
                <a:ea typeface="Montserrat"/>
                <a:cs typeface="Montserrat"/>
              </a:defRPr>
            </a:pPr>
            <a:r>
              <a:rPr sz="975" b="1">
                <a:solidFill>
                  <a:srgbClr val="FFFFFF"/>
                </a:solidFill>
                <a:latin typeface="Montserrat"/>
                <a:ea typeface="Montserrat"/>
                <a:cs typeface="Montserrat"/>
              </a:rPr>
              <a:t>tests</a:t>
            </a:r>
          </a:p>
        </p:txBody>
      </p:sp>
      <p:sp>
        <p:nvSpPr>
          <p:cNvPr id="26" name="">
            <a:extLst xmlns:a="http://schemas.openxmlformats.org/drawingml/2006/main">
              <a:ext uri="{FF2B5EF4-FFF2-40B4-BE49-F238E27FC236}">
                <a16:creationId xmlns:a16="http://schemas.microsoft.com/office/drawing/2014/main" id="{54BC1996-836C-4F8F-889C-6014D4D163B6}"/>
              </a:ext>
            </a:extLst>
          </p:cNvPr>
          <p:cNvSpPr>
            <a:spLocks xmlns:a="http://schemas.openxmlformats.org/drawingml/2006/main" noGrp="1"/>
          </p:cNvSpPr>
          <p:nvPr/>
        </p:nvSpPr>
        <p:spPr>
          <a:xfrm xmlns:a="http://schemas.openxmlformats.org/drawingml/2006/main">
            <a:off x="8058150" y="4391025"/>
            <a:ext cx="2952750" cy="133350"/>
          </a:xfrm>
          <a:prstGeom xmlns:a="http://schemas.openxmlformats.org/drawingml/2006/main" prst="rect">
            <a:avLst/>
          </a:prstGeom>
          <a:solidFill xmlns:a="http://schemas.openxmlformats.org/drawingml/2006/main">
            <a:srgbClr val="35486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4FEA3A5-C9B7-4F9F-B60D-DFF708C84FD1}"/>
              </a:ext>
            </a:extLst>
          </p:cNvPr>
          <p:cNvSpPr>
            <a:spLocks xmlns:a="http://schemas.openxmlformats.org/drawingml/2006/main" noGrp="1"/>
          </p:cNvSpPr>
          <p:nvPr/>
        </p:nvSpPr>
        <p:spPr>
          <a:xfrm xmlns:a="http://schemas.openxmlformats.org/drawingml/2006/main">
            <a:off x="8058150" y="4391025"/>
            <a:ext cx="2867025" cy="13335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0357B7-948C-4557-B089-4A21D3075FC5}"/>
              </a:ext>
            </a:extLst>
          </p:cNvPr>
          <p:cNvSpPr>
            <a:spLocks xmlns:a="http://schemas.openxmlformats.org/drawingml/2006/main" noGrp="1"/>
          </p:cNvSpPr>
          <p:nvPr/>
        </p:nvSpPr>
        <p:spPr>
          <a:xfrm xmlns:a="http://schemas.openxmlformats.org/drawingml/2006/main">
            <a:off x="7867650" y="48101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17234C"/>
                </a:solidFill>
                <a:latin typeface="Noto Sans Mono"/>
                <a:ea typeface="Noto Sans Mono"/>
                <a:cs typeface="Noto Sans Mono"/>
              </a:defRPr>
            </a:pPr>
            <a:r>
              <a:rPr sz="900" b="1">
                <a:solidFill>
                  <a:srgbClr val="17234C"/>
                </a:solidFill>
                <a:latin typeface="Noto Sans Mono"/>
                <a:ea typeface="Noto Sans Mono"/>
                <a:cs typeface="Noto Sans Mono"/>
              </a:rPr>
              <a:t>01/10/2026 · 76 tests passent</a:t>
            </a:r>
          </a:p>
        </p:txBody>
      </p:sp>
      <p:sp>
        <p:nvSpPr>
          <p:cNvPr id="29" name="">
            <a:extLst xmlns:a="http://schemas.openxmlformats.org/drawingml/2006/main">
              <a:ext uri="{FF2B5EF4-FFF2-40B4-BE49-F238E27FC236}">
                <a16:creationId xmlns:a16="http://schemas.microsoft.com/office/drawing/2014/main" id="{9CF71EF3-E5E7-4EA9-B059-BD8318843C08}"/>
              </a:ext>
            </a:extLst>
          </p:cNvPr>
          <p:cNvSpPr>
            <a:spLocks xmlns:a="http://schemas.openxmlformats.org/drawingml/2006/main" noGrp="1"/>
          </p:cNvSpPr>
          <p:nvPr/>
        </p:nvSpPr>
        <p:spPr>
          <a:xfrm xmlns:a="http://schemas.openxmlformats.org/drawingml/2006/main">
            <a:off x="609600" y="5715000"/>
            <a:ext cx="10972800" cy="495300"/>
          </a:xfrm>
          <a:prstGeom xmlns:a="http://schemas.openxmlformats.org/drawingml/2006/main" prst="roundRect">
            <a:avLst>
              <a:gd name="adj" fmla="val 25000"/>
            </a:avLst>
          </a:prstGeom>
          <a:solidFill xmlns:a="http://schemas.openxmlformats.org/drawingml/2006/main">
            <a:srgbClr val="EEEAFE"/>
          </a:solidFill>
          <a:ln xmlns:a="http://schemas.openxmlformats.org/drawingml/2006/main" w="9525">
            <a:solidFill>
              <a:srgbClr val="EEEAF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F005B64F-F80E-44C5-A3DC-37E19A18B8B7}"/>
              </a:ext>
            </a:extLst>
          </p:cNvPr>
          <p:cNvSpPr>
            <a:spLocks xmlns:a="http://schemas.openxmlformats.org/drawingml/2006/main" noGrp="1"/>
          </p:cNvSpPr>
          <p:nvPr/>
        </p:nvSpPr>
        <p:spPr>
          <a:xfrm xmlns:a="http://schemas.openxmlformats.org/drawingml/2006/main">
            <a:off x="838200" y="5857875"/>
            <a:ext cx="10515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76 tests vérifient les rayons et le guichet ; quatre questions annotées examinent les réponses. Pas de CI/CD.</a:t>
            </a:r>
          </a:p>
        </p:txBody>
      </p:sp>
      <p:sp>
        <p:nvSpPr>
          <p:cNvPr id="31" name="">
            <a:extLst xmlns:a="http://schemas.openxmlformats.org/drawingml/2006/main">
              <a:ext uri="{FF2B5EF4-FFF2-40B4-BE49-F238E27FC236}">
                <a16:creationId xmlns:a16="http://schemas.microsoft.com/office/drawing/2014/main" id="{038319EA-8E7A-4C5F-9990-9FC2A4C716CE}"/>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2" name="">
            <a:extLst xmlns:a="http://schemas.openxmlformats.org/drawingml/2006/main">
              <a:ext uri="{FF2B5EF4-FFF2-40B4-BE49-F238E27FC236}">
                <a16:creationId xmlns:a16="http://schemas.microsoft.com/office/drawing/2014/main" id="{530EFEAD-D965-4881-924F-F1C991333A60}"/>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3" name="">
            <a:extLst xmlns:a="http://schemas.openxmlformats.org/drawingml/2006/main">
              <a:ext uri="{FF2B5EF4-FFF2-40B4-BE49-F238E27FC236}">
                <a16:creationId xmlns:a16="http://schemas.microsoft.com/office/drawing/2014/main" id="{E28570D3-6C97-4F39-901A-3D58368EE974}"/>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64077578"/>
      </p:ext>
    </p:extLst>
  </p:cSld>
</p:sld>
</file>

<file path=ppt/slides/slide10.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2234156-CD1C-4E7B-AECE-AF8BD0147FFF}"/>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EDF622F-53E9-417B-80CE-33E2A5E4B70D}"/>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9996663-505C-4C83-98C2-141B439A003D}"/>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C07B8A-99CB-4F46-8426-BDF991FEBEC9}"/>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ÉVALUATION RAGAS</a:t>
            </a:r>
          </a:p>
        </p:txBody>
      </p:sp>
      <p:sp>
        <p:nvSpPr>
          <p:cNvPr id="5" name="">
            <a:extLst xmlns:a="http://schemas.openxmlformats.org/drawingml/2006/main">
              <a:ext uri="{FF2B5EF4-FFF2-40B4-BE49-F238E27FC236}">
                <a16:creationId xmlns:a16="http://schemas.microsoft.com/office/drawing/2014/main" id="{32A251EB-1FC7-434F-BF54-D7C25C30AD79}"/>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Le lecteur contrôle les extraits et la rédaction</a:t>
            </a:r>
          </a:p>
        </p:txBody>
      </p:sp>
      <p:sp>
        <p:nvSpPr>
          <p:cNvPr id="6" name="">
            <a:extLst xmlns:a="http://schemas.openxmlformats.org/drawingml/2006/main">
              <a:ext uri="{FF2B5EF4-FFF2-40B4-BE49-F238E27FC236}">
                <a16:creationId xmlns:a16="http://schemas.microsoft.com/office/drawing/2014/main" id="{15A38E2A-3319-4DA1-A7B0-B942558DF70A}"/>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10</a:t>
            </a:r>
          </a:p>
        </p:txBody>
      </p:sp>
      <p:sp>
        <p:nvSpPr>
          <p:cNvPr id="7" name="">
            <a:extLst xmlns:a="http://schemas.openxmlformats.org/drawingml/2006/main">
              <a:ext uri="{FF2B5EF4-FFF2-40B4-BE49-F238E27FC236}">
                <a16:creationId xmlns:a16="http://schemas.microsoft.com/office/drawing/2014/main" id="{9EEB6776-A6A7-4B1F-8472-2CDF495EC06D}"/>
              </a:ext>
            </a:extLst>
          </p:cNvPr>
          <p:cNvSpPr>
            <a:spLocks xmlns:a="http://schemas.openxmlformats.org/drawingml/2006/main" noGrp="1"/>
          </p:cNvSpPr>
          <p:nvPr/>
        </p:nvSpPr>
        <p:spPr>
          <a:xfrm xmlns:a="http://schemas.openxmlformats.org/drawingml/2006/main">
            <a:off x="6096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AD142654-B2B3-4B68-B874-5EEAE1288F5B}"/>
              </a:ext>
            </a:extLst>
          </p:cNvPr>
          <p:cNvSpPr>
            <a:spLocks xmlns:a="http://schemas.openxmlformats.org/drawingml/2006/main" noGrp="1"/>
          </p:cNvSpPr>
          <p:nvPr/>
        </p:nvSpPr>
        <p:spPr>
          <a:xfrm xmlns:a="http://schemas.openxmlformats.org/drawingml/2006/main">
            <a:off x="609600" y="2038350"/>
            <a:ext cx="76200" cy="10668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AF877FA-6689-49E6-A80F-DEDF8A279437}"/>
              </a:ext>
            </a:extLst>
          </p:cNvPr>
          <p:cNvSpPr>
            <a:spLocks xmlns:a="http://schemas.openxmlformats.org/drawingml/2006/main" noGrp="1"/>
          </p:cNvSpPr>
          <p:nvPr/>
        </p:nvSpPr>
        <p:spPr>
          <a:xfrm xmlns:a="http://schemas.openxmlformats.org/drawingml/2006/main">
            <a:off x="8382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33BF82"/>
                </a:solidFill>
                <a:latin typeface="Montserrat"/>
                <a:ea typeface="Montserrat"/>
                <a:cs typeface="Montserrat"/>
              </a:defRPr>
            </a:pPr>
            <a:r>
              <a:rPr sz="1875" b="1">
                <a:solidFill>
                  <a:srgbClr val="33BF82"/>
                </a:solidFill>
                <a:latin typeface="Montserrat"/>
                <a:ea typeface="Montserrat"/>
                <a:cs typeface="Montserrat"/>
              </a:rPr>
              <a:t>0,900</a:t>
            </a:r>
          </a:p>
        </p:txBody>
      </p:sp>
      <p:sp>
        <p:nvSpPr>
          <p:cNvPr id="10" name="">
            <a:extLst xmlns:a="http://schemas.openxmlformats.org/drawingml/2006/main">
              <a:ext uri="{FF2B5EF4-FFF2-40B4-BE49-F238E27FC236}">
                <a16:creationId xmlns:a16="http://schemas.microsoft.com/office/drawing/2014/main" id="{E0F99D37-5156-49E1-8D61-D9BEDC6521A2}"/>
              </a:ext>
            </a:extLst>
          </p:cNvPr>
          <p:cNvSpPr>
            <a:spLocks xmlns:a="http://schemas.openxmlformats.org/drawingml/2006/main" noGrp="1"/>
          </p:cNvSpPr>
          <p:nvPr/>
        </p:nvSpPr>
        <p:spPr>
          <a:xfrm xmlns:a="http://schemas.openxmlformats.org/drawingml/2006/main">
            <a:off x="8382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fidélité</a:t>
            </a:r>
          </a:p>
        </p:txBody>
      </p:sp>
      <p:sp>
        <p:nvSpPr>
          <p:cNvPr id="11" name="">
            <a:extLst xmlns:a="http://schemas.openxmlformats.org/drawingml/2006/main">
              <a:ext uri="{FF2B5EF4-FFF2-40B4-BE49-F238E27FC236}">
                <a16:creationId xmlns:a16="http://schemas.microsoft.com/office/drawing/2014/main" id="{7CD0ADF8-87A4-4882-9F0B-8E3F98BA6C70}"/>
              </a:ext>
            </a:extLst>
          </p:cNvPr>
          <p:cNvSpPr>
            <a:spLocks xmlns:a="http://schemas.openxmlformats.org/drawingml/2006/main" noGrp="1"/>
          </p:cNvSpPr>
          <p:nvPr/>
        </p:nvSpPr>
        <p:spPr>
          <a:xfrm xmlns:a="http://schemas.openxmlformats.org/drawingml/2006/main">
            <a:off x="28575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CBF9C8CA-5ACD-4674-AEB6-AD95F07F7A29}"/>
              </a:ext>
            </a:extLst>
          </p:cNvPr>
          <p:cNvSpPr>
            <a:spLocks xmlns:a="http://schemas.openxmlformats.org/drawingml/2006/main" noGrp="1"/>
          </p:cNvSpPr>
          <p:nvPr/>
        </p:nvSpPr>
        <p:spPr>
          <a:xfrm xmlns:a="http://schemas.openxmlformats.org/drawingml/2006/main">
            <a:off x="2857500" y="20383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389493C-55DE-45DE-B1F2-72CE25AC7F7A}"/>
              </a:ext>
            </a:extLst>
          </p:cNvPr>
          <p:cNvSpPr>
            <a:spLocks xmlns:a="http://schemas.openxmlformats.org/drawingml/2006/main" noGrp="1"/>
          </p:cNvSpPr>
          <p:nvPr/>
        </p:nvSpPr>
        <p:spPr>
          <a:xfrm xmlns:a="http://schemas.openxmlformats.org/drawingml/2006/main">
            <a:off x="30861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6847FF"/>
                </a:solidFill>
                <a:latin typeface="Montserrat"/>
                <a:ea typeface="Montserrat"/>
                <a:cs typeface="Montserrat"/>
              </a:defRPr>
            </a:pPr>
            <a:r>
              <a:rPr sz="1875" b="1">
                <a:solidFill>
                  <a:srgbClr val="6847FF"/>
                </a:solidFill>
                <a:latin typeface="Montserrat"/>
                <a:ea typeface="Montserrat"/>
                <a:cs typeface="Montserrat"/>
              </a:rPr>
              <a:t>0,846</a:t>
            </a:r>
          </a:p>
        </p:txBody>
      </p:sp>
      <p:sp>
        <p:nvSpPr>
          <p:cNvPr id="14" name="">
            <a:extLst xmlns:a="http://schemas.openxmlformats.org/drawingml/2006/main">
              <a:ext uri="{FF2B5EF4-FFF2-40B4-BE49-F238E27FC236}">
                <a16:creationId xmlns:a16="http://schemas.microsoft.com/office/drawing/2014/main" id="{942C865D-1A1A-44AF-A053-9F58CB684ADD}"/>
              </a:ext>
            </a:extLst>
          </p:cNvPr>
          <p:cNvSpPr>
            <a:spLocks xmlns:a="http://schemas.openxmlformats.org/drawingml/2006/main" noGrp="1"/>
          </p:cNvSpPr>
          <p:nvPr/>
        </p:nvSpPr>
        <p:spPr>
          <a:xfrm xmlns:a="http://schemas.openxmlformats.org/drawingml/2006/main">
            <a:off x="30861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pertinence</a:t>
            </a:r>
          </a:p>
        </p:txBody>
      </p:sp>
      <p:sp>
        <p:nvSpPr>
          <p:cNvPr id="15" name="">
            <a:extLst xmlns:a="http://schemas.openxmlformats.org/drawingml/2006/main">
              <a:ext uri="{FF2B5EF4-FFF2-40B4-BE49-F238E27FC236}">
                <a16:creationId xmlns:a16="http://schemas.microsoft.com/office/drawing/2014/main" id="{4BA37480-163C-46C5-8F15-2E0B6DB8C8FA}"/>
              </a:ext>
            </a:extLst>
          </p:cNvPr>
          <p:cNvSpPr>
            <a:spLocks xmlns:a="http://schemas.openxmlformats.org/drawingml/2006/main" noGrp="1"/>
          </p:cNvSpPr>
          <p:nvPr/>
        </p:nvSpPr>
        <p:spPr>
          <a:xfrm xmlns:a="http://schemas.openxmlformats.org/drawingml/2006/main">
            <a:off x="51054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AD42FC29-310A-458E-AD49-78F8A389F87B}"/>
              </a:ext>
            </a:extLst>
          </p:cNvPr>
          <p:cNvSpPr>
            <a:spLocks xmlns:a="http://schemas.openxmlformats.org/drawingml/2006/main" noGrp="1"/>
          </p:cNvSpPr>
          <p:nvPr/>
        </p:nvSpPr>
        <p:spPr>
          <a:xfrm xmlns:a="http://schemas.openxmlformats.org/drawingml/2006/main">
            <a:off x="5105400" y="2038350"/>
            <a:ext cx="76200" cy="10668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672C560-A606-46A9-B4C8-D350A53B5279}"/>
              </a:ext>
            </a:extLst>
          </p:cNvPr>
          <p:cNvSpPr>
            <a:spLocks xmlns:a="http://schemas.openxmlformats.org/drawingml/2006/main" noGrp="1"/>
          </p:cNvSpPr>
          <p:nvPr/>
        </p:nvSpPr>
        <p:spPr>
          <a:xfrm xmlns:a="http://schemas.openxmlformats.org/drawingml/2006/main">
            <a:off x="53340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FF7A45"/>
                </a:solidFill>
                <a:latin typeface="Montserrat"/>
                <a:ea typeface="Montserrat"/>
                <a:cs typeface="Montserrat"/>
              </a:defRPr>
            </a:pPr>
            <a:r>
              <a:rPr sz="1875" b="1">
                <a:solidFill>
                  <a:srgbClr val="FF7A45"/>
                </a:solidFill>
                <a:latin typeface="Montserrat"/>
                <a:ea typeface="Montserrat"/>
                <a:cs typeface="Montserrat"/>
              </a:rPr>
              <a:t>1,000</a:t>
            </a:r>
          </a:p>
        </p:txBody>
      </p:sp>
      <p:sp>
        <p:nvSpPr>
          <p:cNvPr id="18" name="">
            <a:extLst xmlns:a="http://schemas.openxmlformats.org/drawingml/2006/main">
              <a:ext uri="{FF2B5EF4-FFF2-40B4-BE49-F238E27FC236}">
                <a16:creationId xmlns:a16="http://schemas.microsoft.com/office/drawing/2014/main" id="{55AED187-9E1C-4C26-B72A-E385CAC781DD}"/>
              </a:ext>
            </a:extLst>
          </p:cNvPr>
          <p:cNvSpPr>
            <a:spLocks xmlns:a="http://schemas.openxmlformats.org/drawingml/2006/main" noGrp="1"/>
          </p:cNvSpPr>
          <p:nvPr/>
        </p:nvSpPr>
        <p:spPr>
          <a:xfrm xmlns:a="http://schemas.openxmlformats.org/drawingml/2006/main">
            <a:off x="53340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précision du contexte</a:t>
            </a:r>
          </a:p>
        </p:txBody>
      </p:sp>
      <p:sp>
        <p:nvSpPr>
          <p:cNvPr id="19" name="">
            <a:extLst xmlns:a="http://schemas.openxmlformats.org/drawingml/2006/main">
              <a:ext uri="{FF2B5EF4-FFF2-40B4-BE49-F238E27FC236}">
                <a16:creationId xmlns:a16="http://schemas.microsoft.com/office/drawing/2014/main" id="{C8C66719-B82B-4D91-8F32-CADED2E28260}"/>
              </a:ext>
            </a:extLst>
          </p:cNvPr>
          <p:cNvSpPr>
            <a:spLocks xmlns:a="http://schemas.openxmlformats.org/drawingml/2006/main" noGrp="1"/>
          </p:cNvSpPr>
          <p:nvPr/>
        </p:nvSpPr>
        <p:spPr>
          <a:xfrm xmlns:a="http://schemas.openxmlformats.org/drawingml/2006/main">
            <a:off x="609600" y="3333750"/>
            <a:ext cx="6534150" cy="245745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DBEA4918-10A3-4B96-9D03-D3725FDB9397}"/>
              </a:ext>
            </a:extLst>
          </p:cNvPr>
          <p:cNvSpPr>
            <a:spLocks xmlns:a="http://schemas.openxmlformats.org/drawingml/2006/main" noGrp="1"/>
          </p:cNvSpPr>
          <p:nvPr/>
        </p:nvSpPr>
        <p:spPr>
          <a:xfrm xmlns:a="http://schemas.openxmlformats.org/drawingml/2006/main">
            <a:off x="857250" y="3600450"/>
            <a:ext cx="381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Entrées RAGAS</a:t>
            </a:r>
          </a:p>
        </p:txBody>
      </p:sp>
      <p:sp>
        <p:nvSpPr>
          <p:cNvPr id="21" name="">
            <a:extLst xmlns:a="http://schemas.openxmlformats.org/drawingml/2006/main">
              <a:ext uri="{FF2B5EF4-FFF2-40B4-BE49-F238E27FC236}">
                <a16:creationId xmlns:a16="http://schemas.microsoft.com/office/drawing/2014/main" id="{AA56D46A-0AE8-48A8-801F-CE427DC24332}"/>
              </a:ext>
            </a:extLst>
          </p:cNvPr>
          <p:cNvSpPr>
            <a:spLocks xmlns:a="http://schemas.openxmlformats.org/drawingml/2006/main" noGrp="1"/>
          </p:cNvSpPr>
          <p:nvPr/>
        </p:nvSpPr>
        <p:spPr>
          <a:xfrm xmlns:a="http://schemas.openxmlformats.org/drawingml/2006/main">
            <a:off x="857250" y="4095750"/>
            <a:ext cx="582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193"/>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3 cas factuels</a:t>
            </a:r>
          </a:p>
          <a:p xmlns:a="http://schemas.openxmlformats.org/drawingml/2006/main">
            <a:pPr algn="l">
              <a:buNone/>
              <a:defRPr sz="1500" b="1">
                <a:solidFill>
                  <a:srgbClr val="62708A"/>
                </a:solidFill>
                <a:latin typeface="Noto Sans"/>
                <a:ea typeface="Noto Sans"/>
                <a:cs typeface="Noto Sans"/>
              </a:defRPr>
            </a:pPr>
            <a:r>
              <a:rPr sz="1500" b="1">
                <a:solidFill>
                  <a:srgbClr val="62708A"/>
                </a:solidFill>
                <a:latin typeface="Noto Sans"/>
                <a:ea typeface="Noto Sans"/>
                <a:cs typeface="Noto Sans"/>
              </a:rPr>
              <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question</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contextes récupérés</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réponse générée</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référence humaine</a:t>
            </a:r>
          </a:p>
        </p:txBody>
      </p:sp>
      <p:sp>
        <p:nvSpPr>
          <p:cNvPr id="22" name="">
            <a:extLst xmlns:a="http://schemas.openxmlformats.org/drawingml/2006/main">
              <a:ext uri="{FF2B5EF4-FFF2-40B4-BE49-F238E27FC236}">
                <a16:creationId xmlns:a16="http://schemas.microsoft.com/office/drawing/2014/main" id="{C29009CC-3C57-4803-BA04-230471E2AA8B}"/>
              </a:ext>
            </a:extLst>
          </p:cNvPr>
          <p:cNvSpPr>
            <a:spLocks xmlns:a="http://schemas.openxmlformats.org/drawingml/2006/main" noGrp="1"/>
          </p:cNvSpPr>
          <p:nvPr/>
        </p:nvSpPr>
        <p:spPr>
          <a:xfrm xmlns:a="http://schemas.openxmlformats.org/drawingml/2006/main">
            <a:off x="857250" y="5219700"/>
            <a:ext cx="2095500" cy="304800"/>
          </a:xfrm>
          <a:prstGeom xmlns:a="http://schemas.openxmlformats.org/drawingml/2006/main" prst="roundRect">
            <a:avLst>
              <a:gd name="adj" fmla="val 50000"/>
            </a:avLst>
          </a:prstGeom>
          <a:solidFill xmlns:a="http://schemas.openxmlformats.org/drawingml/2006/main">
            <a:srgbClr val="E9F8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BON CONTEXTE</a:t>
            </a:r>
          </a:p>
        </p:txBody>
      </p:sp>
      <p:sp>
        <p:nvSpPr>
          <p:cNvPr id="23" name="">
            <a:extLst xmlns:a="http://schemas.openxmlformats.org/drawingml/2006/main">
              <a:ext uri="{FF2B5EF4-FFF2-40B4-BE49-F238E27FC236}">
                <a16:creationId xmlns:a16="http://schemas.microsoft.com/office/drawing/2014/main" id="{CE657C91-BAC9-4CD1-B41A-AA44C440B279}"/>
              </a:ext>
            </a:extLst>
          </p:cNvPr>
          <p:cNvSpPr>
            <a:spLocks xmlns:a="http://schemas.openxmlformats.org/drawingml/2006/main" noGrp="1"/>
          </p:cNvSpPr>
          <p:nvPr/>
        </p:nvSpPr>
        <p:spPr>
          <a:xfrm xmlns:a="http://schemas.openxmlformats.org/drawingml/2006/main">
            <a:off x="3143250" y="5219700"/>
            <a:ext cx="203835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RÉPONSE ANCRÉE</a:t>
            </a:r>
          </a:p>
        </p:txBody>
      </p:sp>
      <p:sp>
        <p:nvSpPr>
          <p:cNvPr id="24" name="">
            <a:extLst xmlns:a="http://schemas.openxmlformats.org/drawingml/2006/main">
              <a:ext uri="{FF2B5EF4-FFF2-40B4-BE49-F238E27FC236}">
                <a16:creationId xmlns:a16="http://schemas.microsoft.com/office/drawing/2014/main" id="{035244EC-6D87-418A-BB7A-B0A67C36795B}"/>
              </a:ext>
            </a:extLst>
          </p:cNvPr>
          <p:cNvSpPr>
            <a:spLocks xmlns:a="http://schemas.openxmlformats.org/drawingml/2006/main" noGrp="1"/>
          </p:cNvSpPr>
          <p:nvPr/>
        </p:nvSpPr>
        <p:spPr>
          <a:xfrm xmlns:a="http://schemas.openxmlformats.org/drawingml/2006/main">
            <a:off x="5372100" y="5219700"/>
            <a:ext cx="16192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3 CAS · 23/07/2026</a:t>
            </a:r>
          </a:p>
        </p:txBody>
      </p:sp>
      <p:sp>
        <p:nvSpPr>
          <p:cNvPr id="25" name="">
            <a:extLst xmlns:a="http://schemas.openxmlformats.org/drawingml/2006/main">
              <a:ext uri="{FF2B5EF4-FFF2-40B4-BE49-F238E27FC236}">
                <a16:creationId xmlns:a16="http://schemas.microsoft.com/office/drawing/2014/main" id="{C1977CE7-6C53-49BC-BCE2-33870E34D7C8}"/>
              </a:ext>
            </a:extLst>
          </p:cNvPr>
          <p:cNvSpPr>
            <a:spLocks xmlns:a="http://schemas.openxmlformats.org/drawingml/2006/main" noGrp="1"/>
          </p:cNvSpPr>
          <p:nvPr/>
        </p:nvSpPr>
        <p:spPr>
          <a:xfrm xmlns:a="http://schemas.openxmlformats.org/drawingml/2006/main">
            <a:off x="7486650" y="2038350"/>
            <a:ext cx="4095750" cy="3752850"/>
          </a:xfrm>
          <a:prstGeom xmlns:a="http://schemas.openxmlformats.org/drawingml/2006/main" prst="roundRect">
            <a:avLst>
              <a:gd name="adj" fmla="val 5584"/>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E33207B0-4E43-45DA-9E6E-5E0059688C78}"/>
              </a:ext>
            </a:extLst>
          </p:cNvPr>
          <p:cNvSpPr>
            <a:spLocks xmlns:a="http://schemas.openxmlformats.org/drawingml/2006/main" noGrp="1"/>
          </p:cNvSpPr>
          <p:nvPr/>
        </p:nvSpPr>
        <p:spPr>
          <a:xfrm xmlns:a="http://schemas.openxmlformats.org/drawingml/2006/main">
            <a:off x="7848600" y="2362200"/>
            <a:ext cx="3371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PRIORITÉ</a:t>
            </a:r>
          </a:p>
        </p:txBody>
      </p:sp>
      <p:sp>
        <p:nvSpPr>
          <p:cNvPr id="27" name="">
            <a:extLst xmlns:a="http://schemas.openxmlformats.org/drawingml/2006/main">
              <a:ext uri="{FF2B5EF4-FFF2-40B4-BE49-F238E27FC236}">
                <a16:creationId xmlns:a16="http://schemas.microsoft.com/office/drawing/2014/main" id="{B9222B25-B695-492A-8F99-B8C82FD339E2}"/>
              </a:ext>
            </a:extLst>
          </p:cNvPr>
          <p:cNvSpPr>
            <a:spLocks xmlns:a="http://schemas.openxmlformats.org/drawingml/2006/main" noGrp="1"/>
          </p:cNvSpPr>
          <p:nvPr/>
        </p:nvSpPr>
        <p:spPr>
          <a:xfrm xmlns:a="http://schemas.openxmlformats.org/drawingml/2006/main">
            <a:off x="7848600" y="2838450"/>
            <a:ext cx="3371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700" b="1">
                <a:solidFill>
                  <a:srgbClr val="FFFFFF"/>
                </a:solidFill>
                <a:latin typeface="Montserrat"/>
                <a:ea typeface="Montserrat"/>
                <a:cs typeface="Montserrat"/>
              </a:defRPr>
            </a:pPr>
            <a:r>
              <a:rPr sz="2700" b="1">
                <a:solidFill>
                  <a:srgbClr val="FFFFFF"/>
                </a:solidFill>
                <a:latin typeface="Montserrat"/>
                <a:ea typeface="Montserrat"/>
                <a:cs typeface="Montserrat"/>
              </a:rPr>
              <a:t>0,683</a:t>
            </a:r>
          </a:p>
        </p:txBody>
      </p:sp>
      <p:sp>
        <p:nvSpPr>
          <p:cNvPr id="28" name="">
            <a:extLst xmlns:a="http://schemas.openxmlformats.org/drawingml/2006/main">
              <a:ext uri="{FF2B5EF4-FFF2-40B4-BE49-F238E27FC236}">
                <a16:creationId xmlns:a16="http://schemas.microsoft.com/office/drawing/2014/main" id="{E83539F5-68E6-4CD5-81AD-1120445661E7}"/>
              </a:ext>
            </a:extLst>
          </p:cNvPr>
          <p:cNvSpPr>
            <a:spLocks xmlns:a="http://schemas.openxmlformats.org/drawingml/2006/main" noGrp="1"/>
          </p:cNvSpPr>
          <p:nvPr/>
        </p:nvSpPr>
        <p:spPr>
          <a:xfrm xmlns:a="http://schemas.openxmlformats.org/drawingml/2006/main">
            <a:off x="7848600" y="3752850"/>
            <a:ext cx="3371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correction</a:t>
            </a:r>
          </a:p>
        </p:txBody>
      </p:sp>
      <p:sp>
        <p:nvSpPr>
          <p:cNvPr id="29" name="">
            <a:extLst xmlns:a="http://schemas.openxmlformats.org/drawingml/2006/main">
              <a:ext uri="{FF2B5EF4-FFF2-40B4-BE49-F238E27FC236}">
                <a16:creationId xmlns:a16="http://schemas.microsoft.com/office/drawing/2014/main" id="{D7E84A95-8AFC-48B9-A4E1-CB85AAA7EF2B}"/>
              </a:ext>
            </a:extLst>
          </p:cNvPr>
          <p:cNvSpPr>
            <a:spLocks xmlns:a="http://schemas.openxmlformats.org/drawingml/2006/main" noGrp="1"/>
          </p:cNvSpPr>
          <p:nvPr/>
        </p:nvSpPr>
        <p:spPr>
          <a:xfrm xmlns:a="http://schemas.openxmlformats.org/drawingml/2006/main">
            <a:off x="7981950" y="4362450"/>
            <a:ext cx="3105150" cy="152400"/>
          </a:xfrm>
          <a:prstGeom xmlns:a="http://schemas.openxmlformats.org/drawingml/2006/main" prst="rect">
            <a:avLst/>
          </a:prstGeom>
          <a:solidFill xmlns:a="http://schemas.openxmlformats.org/drawingml/2006/main">
            <a:srgbClr val="35486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629F429C-DB31-414E-A435-59F4C9CEB34A}"/>
              </a:ext>
            </a:extLst>
          </p:cNvPr>
          <p:cNvSpPr>
            <a:spLocks xmlns:a="http://schemas.openxmlformats.org/drawingml/2006/main" noGrp="1"/>
          </p:cNvSpPr>
          <p:nvPr/>
        </p:nvSpPr>
        <p:spPr>
          <a:xfrm xmlns:a="http://schemas.openxmlformats.org/drawingml/2006/main">
            <a:off x="7981950" y="4362450"/>
            <a:ext cx="1943100" cy="1524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F79C2F7-E679-484A-AAB6-8FBA01B6FD54}"/>
              </a:ext>
            </a:extLst>
          </p:cNvPr>
          <p:cNvSpPr>
            <a:spLocks xmlns:a="http://schemas.openxmlformats.org/drawingml/2006/main" noGrp="1"/>
          </p:cNvSpPr>
          <p:nvPr/>
        </p:nvSpPr>
        <p:spPr>
          <a:xfrm xmlns:a="http://schemas.openxmlformats.org/drawingml/2006/main">
            <a:off x="9467850" y="4267200"/>
            <a:ext cx="38100" cy="342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243FA05-E596-4A5A-A09C-3C297782C4AE}"/>
              </a:ext>
            </a:extLst>
          </p:cNvPr>
          <p:cNvSpPr>
            <a:spLocks xmlns:a="http://schemas.openxmlformats.org/drawingml/2006/main" noGrp="1"/>
          </p:cNvSpPr>
          <p:nvPr/>
        </p:nvSpPr>
        <p:spPr>
          <a:xfrm xmlns:a="http://schemas.openxmlformats.org/drawingml/2006/main">
            <a:off x="8858250" y="4705350"/>
            <a:ext cx="1295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965"/>
          </a:bodyPr>
          <a:lstStyle xmlns:a="http://schemas.openxmlformats.org/drawingml/2006/main"/>
          <a:p xmlns:a="http://schemas.openxmlformats.org/drawingml/2006/main">
            <a:pPr algn="ctr">
              <a:buNone/>
              <a:defRPr sz="975" b="1">
                <a:solidFill>
                  <a:srgbClr val="FFFFFF"/>
                </a:solidFill>
                <a:latin typeface="Noto Sans Mono"/>
                <a:ea typeface="Noto Sans Mono"/>
                <a:cs typeface="Noto Sans Mono"/>
              </a:defRPr>
            </a:pPr>
            <a:r>
              <a:rPr sz="975" b="1">
                <a:solidFill>
                  <a:srgbClr val="FFFFFF"/>
                </a:solidFill>
                <a:latin typeface="Noto Sans Mono"/>
                <a:ea typeface="Noto Sans Mono"/>
                <a:cs typeface="Noto Sans Mono"/>
              </a:rPr>
              <a:t>→ structurer la réponse</a:t>
            </a:r>
          </a:p>
          <a:p xmlns:a="http://schemas.openxmlformats.org/drawingml/2006/main">
            <a:pPr algn="ctr">
              <a:buNone/>
              <a:defRPr sz="975" b="1">
                <a:solidFill>
                  <a:srgbClr val="FFFFFF"/>
                </a:solidFill>
                <a:latin typeface="Noto Sans Mono"/>
                <a:ea typeface="Noto Sans Mono"/>
                <a:cs typeface="Noto Sans Mono"/>
              </a:defRPr>
            </a:pPr>
            <a:r>
              <a:rPr sz="975" b="1">
                <a:solidFill>
                  <a:srgbClr val="FFFFFF"/>
                </a:solidFill>
                <a:latin typeface="Noto Sans Mono"/>
                <a:ea typeface="Noto Sans Mono"/>
                <a:cs typeface="Noto Sans Mono"/>
              </a:rPr>
              <a:t>→ élargir le benchmark</a:t>
            </a:r>
          </a:p>
        </p:txBody>
      </p:sp>
      <p:sp>
        <p:nvSpPr>
          <p:cNvPr id="33" name="">
            <a:extLst xmlns:a="http://schemas.openxmlformats.org/drawingml/2006/main">
              <a:ext uri="{FF2B5EF4-FFF2-40B4-BE49-F238E27FC236}">
                <a16:creationId xmlns:a16="http://schemas.microsoft.com/office/drawing/2014/main" id="{C03576E6-F7A0-4AB2-ADA0-C18581A72E3A}"/>
              </a:ext>
            </a:extLst>
          </p:cNvPr>
          <p:cNvSpPr>
            <a:spLocks xmlns:a="http://schemas.openxmlformats.org/drawingml/2006/main" noGrp="1"/>
          </p:cNvSpPr>
          <p:nvPr/>
        </p:nvSpPr>
        <p:spPr>
          <a:xfrm xmlns:a="http://schemas.openxmlformats.org/drawingml/2006/main">
            <a:off x="8134350" y="5200650"/>
            <a:ext cx="280035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825" b="1">
                <a:solidFill>
                  <a:srgbClr val="FFFFFF"/>
                </a:solidFill>
                <a:latin typeface="Montserrat"/>
                <a:ea typeface="Montserrat"/>
                <a:cs typeface="Montserrat"/>
              </a:defRPr>
            </a:pPr>
            <a:r>
              <a:rPr sz="825" b="1">
                <a:solidFill>
                  <a:srgbClr val="FFFFFF"/>
                </a:solidFill>
                <a:latin typeface="Montserrat"/>
                <a:ea typeface="Montserrat"/>
                <a:cs typeface="Montserrat"/>
              </a:rPr>
              <a:t>PAS UNE PERFORMANCE GÉNÉRALE</a:t>
            </a:r>
          </a:p>
        </p:txBody>
      </p:sp>
      <p:sp>
        <p:nvSpPr>
          <p:cNvPr id="34" name="">
            <a:extLst xmlns:a="http://schemas.openxmlformats.org/drawingml/2006/main">
              <a:ext uri="{FF2B5EF4-FFF2-40B4-BE49-F238E27FC236}">
                <a16:creationId xmlns:a16="http://schemas.microsoft.com/office/drawing/2014/main" id="{2DA30AAD-3B8E-468D-9B16-6B5CE652AEA2}"/>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5" name="">
            <a:extLst xmlns:a="http://schemas.openxmlformats.org/drawingml/2006/main">
              <a:ext uri="{FF2B5EF4-FFF2-40B4-BE49-F238E27FC236}">
                <a16:creationId xmlns:a16="http://schemas.microsoft.com/office/drawing/2014/main" id="{81149FC8-143A-49A2-983F-0E73B8C4A52D}"/>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6" name="">
            <a:extLst xmlns:a="http://schemas.openxmlformats.org/drawingml/2006/main">
              <a:ext uri="{FF2B5EF4-FFF2-40B4-BE49-F238E27FC236}">
                <a16:creationId xmlns:a16="http://schemas.microsoft.com/office/drawing/2014/main" id="{6909C2D2-A68D-4518-9D05-B5964B98CB71}"/>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016592169"/>
      </p:ext>
    </p:extLst>
  </p:cSld>
</p:sld>
</file>

<file path=ppt/slides/slide1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E2AE98-6F84-44BC-AEF6-94F33614948F}"/>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EAC6DE8-E8BC-41D7-A298-6E964A66BB87}"/>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81BBB18-4384-4816-B575-F0F9952AE383}"/>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EC2AE5-A915-4A74-97A2-97DBAFB98D3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LIMITES ET SUITE</a:t>
            </a:r>
          </a:p>
        </p:txBody>
      </p:sp>
      <p:sp>
        <p:nvSpPr>
          <p:cNvPr id="5" name="">
            <a:extLst xmlns:a="http://schemas.openxmlformats.org/drawingml/2006/main">
              <a:ext uri="{FF2B5EF4-FFF2-40B4-BE49-F238E27FC236}">
                <a16:creationId xmlns:a16="http://schemas.microsoft.com/office/drawing/2014/main" id="{553726A3-6712-4EE2-B19B-BE01B0BBAE92}"/>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Un catalogue daté, une recherche imparfaite, un rédacteur externe</a:t>
            </a:r>
          </a:p>
        </p:txBody>
      </p:sp>
      <p:sp>
        <p:nvSpPr>
          <p:cNvPr id="6" name="">
            <a:extLst xmlns:a="http://schemas.openxmlformats.org/drawingml/2006/main">
              <a:ext uri="{FF2B5EF4-FFF2-40B4-BE49-F238E27FC236}">
                <a16:creationId xmlns:a16="http://schemas.microsoft.com/office/drawing/2014/main" id="{0247CF83-5612-44E7-9CFC-7D48D922D18E}"/>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11</a:t>
            </a:r>
          </a:p>
        </p:txBody>
      </p:sp>
      <p:sp>
        <p:nvSpPr>
          <p:cNvPr id="7" name="">
            <a:extLst xmlns:a="http://schemas.openxmlformats.org/drawingml/2006/main">
              <a:ext uri="{FF2B5EF4-FFF2-40B4-BE49-F238E27FC236}">
                <a16:creationId xmlns:a16="http://schemas.microsoft.com/office/drawing/2014/main" id="{628AF4B9-1172-416D-8643-DAA81AC0FB07}"/>
              </a:ext>
            </a:extLst>
          </p:cNvPr>
          <p:cNvSpPr>
            <a:spLocks xmlns:a="http://schemas.openxmlformats.org/drawingml/2006/main" noGrp="1"/>
          </p:cNvSpPr>
          <p:nvPr/>
        </p:nvSpPr>
        <p:spPr>
          <a:xfrm xmlns:a="http://schemas.openxmlformats.org/drawingml/2006/main">
            <a:off x="6096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32CDB16-CE54-47D0-82ED-49C4AA0AE531}"/>
              </a:ext>
            </a:extLst>
          </p:cNvPr>
          <p:cNvSpPr>
            <a:spLocks xmlns:a="http://schemas.openxmlformats.org/drawingml/2006/main" noGrp="1"/>
          </p:cNvSpPr>
          <p:nvPr/>
        </p:nvSpPr>
        <p:spPr>
          <a:xfrm xmlns:a="http://schemas.openxmlformats.org/drawingml/2006/main">
            <a:off x="8382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DONNÉES</a:t>
            </a:r>
          </a:p>
        </p:txBody>
      </p:sp>
      <p:sp>
        <p:nvSpPr>
          <p:cNvPr id="9" name="">
            <a:extLst xmlns:a="http://schemas.openxmlformats.org/drawingml/2006/main">
              <a:ext uri="{FF2B5EF4-FFF2-40B4-BE49-F238E27FC236}">
                <a16:creationId xmlns:a16="http://schemas.microsoft.com/office/drawing/2014/main" id="{82789801-853B-4488-AF31-8934786E39C5}"/>
              </a:ext>
            </a:extLst>
          </p:cNvPr>
          <p:cNvSpPr>
            <a:spLocks xmlns:a="http://schemas.openxmlformats.org/drawingml/2006/main" noGrp="1"/>
          </p:cNvSpPr>
          <p:nvPr/>
        </p:nvSpPr>
        <p:spPr>
          <a:xfrm xmlns:a="http://schemas.openxmlformats.org/drawingml/2006/main">
            <a:off x="8382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Paris uniquement</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snapshot figé</a:t>
            </a:r>
          </a:p>
        </p:txBody>
      </p:sp>
      <p:sp>
        <p:nvSpPr>
          <p:cNvPr id="10" name="">
            <a:extLst xmlns:a="http://schemas.openxmlformats.org/drawingml/2006/main">
              <a:ext uri="{FF2B5EF4-FFF2-40B4-BE49-F238E27FC236}">
                <a16:creationId xmlns:a16="http://schemas.microsoft.com/office/drawing/2014/main" id="{0BE13440-1BD0-40DA-9B19-102209E3F3BA}"/>
              </a:ext>
            </a:extLst>
          </p:cNvPr>
          <p:cNvSpPr>
            <a:spLocks xmlns:a="http://schemas.openxmlformats.org/drawingml/2006/main" noGrp="1"/>
          </p:cNvSpPr>
          <p:nvPr/>
        </p:nvSpPr>
        <p:spPr>
          <a:xfrm xmlns:a="http://schemas.openxmlformats.org/drawingml/2006/main">
            <a:off x="8382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11" name="">
            <a:extLst xmlns:a="http://schemas.openxmlformats.org/drawingml/2006/main">
              <a:ext uri="{FF2B5EF4-FFF2-40B4-BE49-F238E27FC236}">
                <a16:creationId xmlns:a16="http://schemas.microsoft.com/office/drawing/2014/main" id="{C34DFFC3-7A6D-47AE-8060-64110A3AA23D}"/>
              </a:ext>
            </a:extLst>
          </p:cNvPr>
          <p:cNvSpPr>
            <a:spLocks xmlns:a="http://schemas.openxmlformats.org/drawingml/2006/main" noGrp="1"/>
          </p:cNvSpPr>
          <p:nvPr/>
        </p:nvSpPr>
        <p:spPr>
          <a:xfrm xmlns:a="http://schemas.openxmlformats.org/drawingml/2006/main">
            <a:off x="8382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12" name="">
            <a:extLst xmlns:a="http://schemas.openxmlformats.org/drawingml/2006/main">
              <a:ext uri="{FF2B5EF4-FFF2-40B4-BE49-F238E27FC236}">
                <a16:creationId xmlns:a16="http://schemas.microsoft.com/office/drawing/2014/main" id="{7370AA9B-B5A8-429A-A4B4-02E7E27AE64D}"/>
              </a:ext>
            </a:extLst>
          </p:cNvPr>
          <p:cNvSpPr>
            <a:spLocks xmlns:a="http://schemas.openxmlformats.org/drawingml/2006/main" noGrp="1"/>
          </p:cNvSpPr>
          <p:nvPr/>
        </p:nvSpPr>
        <p:spPr>
          <a:xfrm xmlns:a="http://schemas.openxmlformats.org/drawingml/2006/main">
            <a:off x="8382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collecte planifiée</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 multi-villes</a:t>
            </a:r>
          </a:p>
        </p:txBody>
      </p:sp>
      <p:sp>
        <p:nvSpPr>
          <p:cNvPr id="13" name="">
            <a:extLst xmlns:a="http://schemas.openxmlformats.org/drawingml/2006/main">
              <a:ext uri="{FF2B5EF4-FFF2-40B4-BE49-F238E27FC236}">
                <a16:creationId xmlns:a16="http://schemas.microsoft.com/office/drawing/2014/main" id="{D90C1E56-F4A9-4C73-BB9B-38E0C8903A16}"/>
              </a:ext>
            </a:extLst>
          </p:cNvPr>
          <p:cNvSpPr>
            <a:spLocks xmlns:a="http://schemas.openxmlformats.org/drawingml/2006/main" noGrp="1"/>
          </p:cNvSpPr>
          <p:nvPr/>
        </p:nvSpPr>
        <p:spPr>
          <a:xfrm xmlns:a="http://schemas.openxmlformats.org/drawingml/2006/main">
            <a:off x="42672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560887CF-6601-4072-9FFB-62C7D1DFF865}"/>
              </a:ext>
            </a:extLst>
          </p:cNvPr>
          <p:cNvSpPr>
            <a:spLocks xmlns:a="http://schemas.openxmlformats.org/drawingml/2006/main" noGrp="1"/>
          </p:cNvSpPr>
          <p:nvPr/>
        </p:nvSpPr>
        <p:spPr>
          <a:xfrm xmlns:a="http://schemas.openxmlformats.org/drawingml/2006/main">
            <a:off x="44958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RECHERCHE</a:t>
            </a:r>
          </a:p>
        </p:txBody>
      </p:sp>
      <p:sp>
        <p:nvSpPr>
          <p:cNvPr id="15" name="">
            <a:extLst xmlns:a="http://schemas.openxmlformats.org/drawingml/2006/main">
              <a:ext uri="{FF2B5EF4-FFF2-40B4-BE49-F238E27FC236}">
                <a16:creationId xmlns:a16="http://schemas.microsoft.com/office/drawing/2014/main" id="{7E7148D3-37CD-4256-AF80-F0F944A0142B}"/>
              </a:ext>
            </a:extLst>
          </p:cNvPr>
          <p:cNvSpPr>
            <a:spLocks xmlns:a="http://schemas.openxmlformats.org/drawingml/2006/main" noGrp="1"/>
          </p:cNvSpPr>
          <p:nvPr/>
        </p:nvSpPr>
        <p:spPr>
          <a:xfrm xmlns:a="http://schemas.openxmlformats.org/drawingml/2006/main">
            <a:off x="44958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top-k sans seuil</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refus par prompt</a:t>
            </a:r>
          </a:p>
        </p:txBody>
      </p:sp>
      <p:sp>
        <p:nvSpPr>
          <p:cNvPr id="16" name="">
            <a:extLst xmlns:a="http://schemas.openxmlformats.org/drawingml/2006/main">
              <a:ext uri="{FF2B5EF4-FFF2-40B4-BE49-F238E27FC236}">
                <a16:creationId xmlns:a16="http://schemas.microsoft.com/office/drawing/2014/main" id="{8C5B9C4E-B2BE-47B2-8EE3-BE230A798241}"/>
              </a:ext>
            </a:extLst>
          </p:cNvPr>
          <p:cNvSpPr>
            <a:spLocks xmlns:a="http://schemas.openxmlformats.org/drawingml/2006/main" noGrp="1"/>
          </p:cNvSpPr>
          <p:nvPr/>
        </p:nvSpPr>
        <p:spPr>
          <a:xfrm xmlns:a="http://schemas.openxmlformats.org/drawingml/2006/main">
            <a:off x="44958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17" name="">
            <a:extLst xmlns:a="http://schemas.openxmlformats.org/drawingml/2006/main">
              <a:ext uri="{FF2B5EF4-FFF2-40B4-BE49-F238E27FC236}">
                <a16:creationId xmlns:a16="http://schemas.microsoft.com/office/drawing/2014/main" id="{0728A3EE-1B65-4600-99F2-9DB0CC743AEA}"/>
              </a:ext>
            </a:extLst>
          </p:cNvPr>
          <p:cNvSpPr>
            <a:spLocks xmlns:a="http://schemas.openxmlformats.org/drawingml/2006/main" noGrp="1"/>
          </p:cNvSpPr>
          <p:nvPr/>
        </p:nvSpPr>
        <p:spPr>
          <a:xfrm xmlns:a="http://schemas.openxmlformats.org/drawingml/2006/main">
            <a:off x="44958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18" name="">
            <a:extLst xmlns:a="http://schemas.openxmlformats.org/drawingml/2006/main">
              <a:ext uri="{FF2B5EF4-FFF2-40B4-BE49-F238E27FC236}">
                <a16:creationId xmlns:a16="http://schemas.microsoft.com/office/drawing/2014/main" id="{FDD225BC-C8F3-4F5D-B2E5-6062133CB8B7}"/>
              </a:ext>
            </a:extLst>
          </p:cNvPr>
          <p:cNvSpPr>
            <a:spLocks xmlns:a="http://schemas.openxmlformats.org/drawingml/2006/main" noGrp="1"/>
          </p:cNvSpPr>
          <p:nvPr/>
        </p:nvSpPr>
        <p:spPr>
          <a:xfrm xmlns:a="http://schemas.openxmlformats.org/drawingml/2006/main">
            <a:off x="44958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benchmark large</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 seuil métier</a:t>
            </a:r>
          </a:p>
        </p:txBody>
      </p:sp>
      <p:sp>
        <p:nvSpPr>
          <p:cNvPr id="19" name="">
            <a:extLst xmlns:a="http://schemas.openxmlformats.org/drawingml/2006/main">
              <a:ext uri="{FF2B5EF4-FFF2-40B4-BE49-F238E27FC236}">
                <a16:creationId xmlns:a16="http://schemas.microsoft.com/office/drawing/2014/main" id="{D1A41203-4F7F-4165-8A5E-62251B7C152D}"/>
              </a:ext>
            </a:extLst>
          </p:cNvPr>
          <p:cNvSpPr>
            <a:spLocks xmlns:a="http://schemas.openxmlformats.org/drawingml/2006/main" noGrp="1"/>
          </p:cNvSpPr>
          <p:nvPr/>
        </p:nvSpPr>
        <p:spPr>
          <a:xfrm xmlns:a="http://schemas.openxmlformats.org/drawingml/2006/main">
            <a:off x="79248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7BBD3045-8CD9-4482-83CD-2DDD73587207}"/>
              </a:ext>
            </a:extLst>
          </p:cNvPr>
          <p:cNvSpPr>
            <a:spLocks xmlns:a="http://schemas.openxmlformats.org/drawingml/2006/main" noGrp="1"/>
          </p:cNvSpPr>
          <p:nvPr/>
        </p:nvSpPr>
        <p:spPr>
          <a:xfrm xmlns:a="http://schemas.openxmlformats.org/drawingml/2006/main">
            <a:off x="81534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EXPLOITATION</a:t>
            </a:r>
          </a:p>
        </p:txBody>
      </p:sp>
      <p:sp>
        <p:nvSpPr>
          <p:cNvPr id="21" name="">
            <a:extLst xmlns:a="http://schemas.openxmlformats.org/drawingml/2006/main">
              <a:ext uri="{FF2B5EF4-FFF2-40B4-BE49-F238E27FC236}">
                <a16:creationId xmlns:a16="http://schemas.microsoft.com/office/drawing/2014/main" id="{229B3343-7321-4699-9BD9-5AB2EA7686BF}"/>
              </a:ext>
            </a:extLst>
          </p:cNvPr>
          <p:cNvSpPr>
            <a:spLocks xmlns:a="http://schemas.openxmlformats.org/drawingml/2006/main" noGrp="1"/>
          </p:cNvSpPr>
          <p:nvPr/>
        </p:nvSpPr>
        <p:spPr>
          <a:xfrm xmlns:a="http://schemas.openxmlformats.org/drawingml/2006/main">
            <a:off x="81534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Mistral distant</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quota / débit</a:t>
            </a:r>
          </a:p>
        </p:txBody>
      </p:sp>
      <p:sp>
        <p:nvSpPr>
          <p:cNvPr id="22" name="">
            <a:extLst xmlns:a="http://schemas.openxmlformats.org/drawingml/2006/main">
              <a:ext uri="{FF2B5EF4-FFF2-40B4-BE49-F238E27FC236}">
                <a16:creationId xmlns:a16="http://schemas.microsoft.com/office/drawing/2014/main" id="{2927ED06-BDEB-4445-86CF-42B39032214E}"/>
              </a:ext>
            </a:extLst>
          </p:cNvPr>
          <p:cNvSpPr>
            <a:spLocks xmlns:a="http://schemas.openxmlformats.org/drawingml/2006/main" noGrp="1"/>
          </p:cNvSpPr>
          <p:nvPr/>
        </p:nvSpPr>
        <p:spPr>
          <a:xfrm xmlns:a="http://schemas.openxmlformats.org/drawingml/2006/main">
            <a:off x="81534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3" name="">
            <a:extLst xmlns:a="http://schemas.openxmlformats.org/drawingml/2006/main">
              <a:ext uri="{FF2B5EF4-FFF2-40B4-BE49-F238E27FC236}">
                <a16:creationId xmlns:a16="http://schemas.microsoft.com/office/drawing/2014/main" id="{30C0ED5F-70E1-4D32-A55B-6EC3A4F3C689}"/>
              </a:ext>
            </a:extLst>
          </p:cNvPr>
          <p:cNvSpPr>
            <a:spLocks xmlns:a="http://schemas.openxmlformats.org/drawingml/2006/main" noGrp="1"/>
          </p:cNvSpPr>
          <p:nvPr/>
        </p:nvSpPr>
        <p:spPr>
          <a:xfrm xmlns:a="http://schemas.openxmlformats.org/drawingml/2006/main">
            <a:off x="81534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24" name="">
            <a:extLst xmlns:a="http://schemas.openxmlformats.org/drawingml/2006/main">
              <a:ext uri="{FF2B5EF4-FFF2-40B4-BE49-F238E27FC236}">
                <a16:creationId xmlns:a16="http://schemas.microsoft.com/office/drawing/2014/main" id="{984040EC-FF7B-4491-B79F-BF2DD2ED08E7}"/>
              </a:ext>
            </a:extLst>
          </p:cNvPr>
          <p:cNvSpPr>
            <a:spLocks xmlns:a="http://schemas.openxmlformats.org/drawingml/2006/main" noGrp="1"/>
          </p:cNvSpPr>
          <p:nvPr/>
        </p:nvSpPr>
        <p:spPr>
          <a:xfrm xmlns:a="http://schemas.openxmlformats.org/drawingml/2006/main">
            <a:off x="81534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logs · sécurité</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charge · alertes</a:t>
            </a:r>
          </a:p>
        </p:txBody>
      </p:sp>
      <p:sp>
        <p:nvSpPr>
          <p:cNvPr id="25" name="">
            <a:extLst xmlns:a="http://schemas.openxmlformats.org/drawingml/2006/main">
              <a:ext uri="{FF2B5EF4-FFF2-40B4-BE49-F238E27FC236}">
                <a16:creationId xmlns:a16="http://schemas.microsoft.com/office/drawing/2014/main" id="{0AABA9EF-4277-4655-9CEC-1F57A89A6E9F}"/>
              </a:ext>
            </a:extLst>
          </p:cNvPr>
          <p:cNvSpPr>
            <a:spLocks xmlns:a="http://schemas.openxmlformats.org/drawingml/2006/main" noGrp="1"/>
          </p:cNvSpPr>
          <p:nvPr/>
        </p:nvSpPr>
        <p:spPr>
          <a:xfrm xmlns:a="http://schemas.openxmlformats.org/drawingml/2006/main">
            <a:off x="2438400" y="5791200"/>
            <a:ext cx="7315200" cy="457200"/>
          </a:xfrm>
          <a:prstGeom xmlns:a="http://schemas.openxmlformats.org/drawingml/2006/main" prst="roundRect">
            <a:avLst>
              <a:gd name="adj" fmla="val 25000"/>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2E1BCD00-E69F-4BF0-BC09-F66F5FE81F95}"/>
              </a:ext>
            </a:extLst>
          </p:cNvPr>
          <p:cNvSpPr>
            <a:spLocks xmlns:a="http://schemas.openxmlformats.org/drawingml/2006/main" noGrp="1"/>
          </p:cNvSpPr>
          <p:nvPr/>
        </p:nvSpPr>
        <p:spPr>
          <a:xfrm xmlns:a="http://schemas.openxmlformats.org/drawingml/2006/main">
            <a:off x="2647950" y="5905500"/>
            <a:ext cx="689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Catalogue à actualiser ; recherche à calibrer ; rédacteur à contrôler et modèle alternatif à réévaluer.</a:t>
            </a:r>
          </a:p>
        </p:txBody>
      </p:sp>
      <p:sp>
        <p:nvSpPr>
          <p:cNvPr id="27" name="">
            <a:extLst xmlns:a="http://schemas.openxmlformats.org/drawingml/2006/main">
              <a:ext uri="{FF2B5EF4-FFF2-40B4-BE49-F238E27FC236}">
                <a16:creationId xmlns:a16="http://schemas.microsoft.com/office/drawing/2014/main" id="{4C87A1B1-CF9B-4774-8B4E-8F163142C9F9}"/>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8" name="">
            <a:extLst xmlns:a="http://schemas.openxmlformats.org/drawingml/2006/main">
              <a:ext uri="{FF2B5EF4-FFF2-40B4-BE49-F238E27FC236}">
                <a16:creationId xmlns:a16="http://schemas.microsoft.com/office/drawing/2014/main" id="{915C1770-29F0-4AE5-99A6-B89B6E03F8D6}"/>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9" name="">
            <a:extLst xmlns:a="http://schemas.openxmlformats.org/drawingml/2006/main">
              <a:ext uri="{FF2B5EF4-FFF2-40B4-BE49-F238E27FC236}">
                <a16:creationId xmlns:a16="http://schemas.microsoft.com/office/drawing/2014/main" id="{E363508A-FAE1-42AC-A5C0-6E030DAB3F0A}"/>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560594752"/>
      </p:ext>
    </p:extLst>
  </p:cSld>
</p:sld>
</file>

<file path=ppt/slides/slide12.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CEDC87F-1928-4F6A-B5B5-BE8A6903B2B3}"/>
              </a:ext>
            </a:extLst>
          </p:cNvPr>
          <p:cNvSpPr>
            <a:spLocks xmlns:a="http://schemas.openxmlformats.org/drawingml/2006/main" noGrp="1"/>
          </p:cNvSpPr>
          <p:nvPr/>
        </p:nvSpPr>
        <p:spPr>
          <a:xfrm xmlns:a="http://schemas.openxmlformats.org/drawingml/2006/main">
            <a:off x="609600" y="457200"/>
            <a:ext cx="804672"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B8F9A6-071A-41A6-999D-9FFD9A2308CB}"/>
              </a:ext>
            </a:extLst>
          </p:cNvPr>
          <p:cNvSpPr>
            <a:spLocks xmlns:a="http://schemas.openxmlformats.org/drawingml/2006/main" noGrp="1"/>
          </p:cNvSpPr>
          <p:nvPr/>
        </p:nvSpPr>
        <p:spPr>
          <a:xfrm xmlns:a="http://schemas.openxmlformats.org/drawingml/2006/main">
            <a:off x="1414272" y="457200"/>
            <a:ext cx="452628"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B98D588-EA10-4383-9934-656A4667F1F4}"/>
              </a:ext>
            </a:extLst>
          </p:cNvPr>
          <p:cNvSpPr>
            <a:spLocks xmlns:a="http://schemas.openxmlformats.org/drawingml/2006/main" noGrp="1"/>
          </p:cNvSpPr>
          <p:nvPr/>
        </p:nvSpPr>
        <p:spPr>
          <a:xfrm xmlns:a="http://schemas.openxmlformats.org/drawingml/2006/main">
            <a:off x="1866900" y="457200"/>
            <a:ext cx="4191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977BBC-917C-4CF2-AD7D-4B130B398F8E}"/>
              </a:ext>
            </a:extLst>
          </p:cNvPr>
          <p:cNvSpPr>
            <a:spLocks xmlns:a="http://schemas.openxmlformats.org/drawingml/2006/main" noGrp="1"/>
          </p:cNvSpPr>
          <p:nvPr/>
        </p:nvSpPr>
        <p:spPr>
          <a:xfrm xmlns:a="http://schemas.openxmlformats.org/drawingml/2006/main">
            <a:off x="609600" y="6858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CONCLUSION POUR JÉRÉMY</a:t>
            </a:r>
          </a:p>
        </p:txBody>
      </p:sp>
      <p:sp>
        <p:nvSpPr>
          <p:cNvPr id="5" name="">
            <a:extLst xmlns:a="http://schemas.openxmlformats.org/drawingml/2006/main">
              <a:ext uri="{FF2B5EF4-FFF2-40B4-BE49-F238E27FC236}">
                <a16:creationId xmlns:a16="http://schemas.microsoft.com/office/drawing/2014/main" id="{A7DB0AD8-9AF5-4FCF-86FB-0BED45F6215C}"/>
              </a:ext>
            </a:extLst>
          </p:cNvPr>
          <p:cNvSpPr>
            <a:spLocks xmlns:a="http://schemas.openxmlformats.org/drawingml/2006/main" noGrp="1"/>
          </p:cNvSpPr>
          <p:nvPr/>
        </p:nvSpPr>
        <p:spPr>
          <a:xfrm xmlns:a="http://schemas.openxmlformats.org/drawingml/2006/main">
            <a:off x="609600" y="1181100"/>
            <a:ext cx="685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2400" b="1">
                <a:solidFill>
                  <a:srgbClr val="FFFFFF"/>
                </a:solidFill>
                <a:latin typeface="Montserrat"/>
                <a:ea typeface="Montserrat"/>
                <a:cs typeface="Montserrat"/>
              </a:defRPr>
            </a:pPr>
            <a:r>
              <a:rPr sz="2400" b="1">
                <a:solidFill>
                  <a:srgbClr val="FFFFFF"/>
                </a:solidFill>
                <a:latin typeface="Montserrat"/>
                <a:ea typeface="Montserrat"/>
                <a:cs typeface="Montserrat"/>
              </a:rPr>
              <a:t>Une bibliothèque testable.</a:t>
            </a:r>
          </a:p>
          <a:p xmlns:a="http://schemas.openxmlformats.org/drawingml/2006/main">
            <a:pPr algn="l">
              <a:lnSpc>
                <a:spcPct val="94000"/>
              </a:lnSpc>
              <a:buNone/>
              <a:defRPr sz="2400" b="1">
                <a:solidFill>
                  <a:srgbClr val="FFFFFF"/>
                </a:solidFill>
                <a:latin typeface="Montserrat"/>
                <a:ea typeface="Montserrat"/>
                <a:cs typeface="Montserrat"/>
              </a:defRPr>
            </a:pPr>
            <a:r>
              <a:rPr sz="2400" b="1">
                <a:solidFill>
                  <a:srgbClr val="FFFFFF"/>
                </a:solidFill>
                <a:latin typeface="Montserrat"/>
                <a:ea typeface="Montserrat"/>
                <a:cs typeface="Montserrat"/>
              </a:rPr>
              <a:t>Un pilote à mesurer.</a:t>
            </a:r>
          </a:p>
        </p:txBody>
      </p:sp>
      <p:sp>
        <p:nvSpPr>
          <p:cNvPr id="6" name="">
            <a:extLst xmlns:a="http://schemas.openxmlformats.org/drawingml/2006/main">
              <a:ext uri="{FF2B5EF4-FFF2-40B4-BE49-F238E27FC236}">
                <a16:creationId xmlns:a16="http://schemas.microsoft.com/office/drawing/2014/main" id="{4CE9CE0D-3F1D-42E3-A7CE-1EE554C8A6CE}"/>
              </a:ext>
            </a:extLst>
          </p:cNvPr>
          <p:cNvSpPr>
            <a:spLocks xmlns:a="http://schemas.openxmlformats.org/drawingml/2006/main" noGrp="1"/>
          </p:cNvSpPr>
          <p:nvPr/>
        </p:nvSpPr>
        <p:spPr>
          <a:xfrm xmlns:a="http://schemas.openxmlformats.org/drawingml/2006/main">
            <a:off x="60960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DFD726C-406D-4511-BEF5-194C16CAC2A8}"/>
              </a:ext>
            </a:extLst>
          </p:cNvPr>
          <p:cNvSpPr>
            <a:spLocks xmlns:a="http://schemas.openxmlformats.org/drawingml/2006/main" noGrp="1"/>
          </p:cNvSpPr>
          <p:nvPr/>
        </p:nvSpPr>
        <p:spPr>
          <a:xfrm xmlns:a="http://schemas.openxmlformats.org/drawingml/2006/main">
            <a:off x="60960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8" name="">
            <a:extLst xmlns:a="http://schemas.openxmlformats.org/drawingml/2006/main">
              <a:ext uri="{FF2B5EF4-FFF2-40B4-BE49-F238E27FC236}">
                <a16:creationId xmlns:a16="http://schemas.microsoft.com/office/drawing/2014/main" id="{D508FDA2-9E12-4332-86B3-B26FE5E936DE}"/>
              </a:ext>
            </a:extLst>
          </p:cNvPr>
          <p:cNvSpPr>
            <a:spLocks xmlns:a="http://schemas.openxmlformats.org/drawingml/2006/main" noGrp="1"/>
          </p:cNvSpPr>
          <p:nvPr/>
        </p:nvSpPr>
        <p:spPr>
          <a:xfrm xmlns:a="http://schemas.openxmlformats.org/drawingml/2006/main">
            <a:off x="108585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Données réelles</a:t>
            </a:r>
          </a:p>
        </p:txBody>
      </p:sp>
      <p:sp>
        <p:nvSpPr>
          <p:cNvPr id="9" name="">
            <a:extLst xmlns:a="http://schemas.openxmlformats.org/drawingml/2006/main">
              <a:ext uri="{FF2B5EF4-FFF2-40B4-BE49-F238E27FC236}">
                <a16:creationId xmlns:a16="http://schemas.microsoft.com/office/drawing/2014/main" id="{5315CB68-B297-45D2-80AD-A9EB8FD8D280}"/>
              </a:ext>
            </a:extLst>
          </p:cNvPr>
          <p:cNvSpPr>
            <a:spLocks xmlns:a="http://schemas.openxmlformats.org/drawingml/2006/main" noGrp="1"/>
          </p:cNvSpPr>
          <p:nvPr/>
        </p:nvSpPr>
        <p:spPr>
          <a:xfrm xmlns:a="http://schemas.openxmlformats.org/drawingml/2006/main">
            <a:off x="318135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1C806A-889E-42E6-83BE-4D6C474AD4EF}"/>
              </a:ext>
            </a:extLst>
          </p:cNvPr>
          <p:cNvSpPr>
            <a:spLocks xmlns:a="http://schemas.openxmlformats.org/drawingml/2006/main" noGrp="1"/>
          </p:cNvSpPr>
          <p:nvPr/>
        </p:nvSpPr>
        <p:spPr>
          <a:xfrm xmlns:a="http://schemas.openxmlformats.org/drawingml/2006/main">
            <a:off x="318135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1" name="">
            <a:extLst xmlns:a="http://schemas.openxmlformats.org/drawingml/2006/main">
              <a:ext uri="{FF2B5EF4-FFF2-40B4-BE49-F238E27FC236}">
                <a16:creationId xmlns:a16="http://schemas.microsoft.com/office/drawing/2014/main" id="{B7193168-16EF-4D04-B261-74C60403C1E7}"/>
              </a:ext>
            </a:extLst>
          </p:cNvPr>
          <p:cNvSpPr>
            <a:spLocks xmlns:a="http://schemas.openxmlformats.org/drawingml/2006/main" noGrp="1"/>
          </p:cNvSpPr>
          <p:nvPr/>
        </p:nvSpPr>
        <p:spPr>
          <a:xfrm xmlns:a="http://schemas.openxmlformats.org/drawingml/2006/main">
            <a:off x="365760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RAG + API</a:t>
            </a:r>
          </a:p>
        </p:txBody>
      </p:sp>
      <p:sp>
        <p:nvSpPr>
          <p:cNvPr id="12" name="">
            <a:extLst xmlns:a="http://schemas.openxmlformats.org/drawingml/2006/main">
              <a:ext uri="{FF2B5EF4-FFF2-40B4-BE49-F238E27FC236}">
                <a16:creationId xmlns:a16="http://schemas.microsoft.com/office/drawing/2014/main" id="{12D74869-E621-42D7-B2E2-2E21226D0934}"/>
              </a:ext>
            </a:extLst>
          </p:cNvPr>
          <p:cNvSpPr>
            <a:spLocks xmlns:a="http://schemas.openxmlformats.org/drawingml/2006/main" noGrp="1"/>
          </p:cNvSpPr>
          <p:nvPr/>
        </p:nvSpPr>
        <p:spPr>
          <a:xfrm xmlns:a="http://schemas.openxmlformats.org/drawingml/2006/main">
            <a:off x="575310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39F40C-0632-4B92-8C00-3685254DFDF0}"/>
              </a:ext>
            </a:extLst>
          </p:cNvPr>
          <p:cNvSpPr>
            <a:spLocks xmlns:a="http://schemas.openxmlformats.org/drawingml/2006/main" noGrp="1"/>
          </p:cNvSpPr>
          <p:nvPr/>
        </p:nvSpPr>
        <p:spPr>
          <a:xfrm xmlns:a="http://schemas.openxmlformats.org/drawingml/2006/main">
            <a:off x="575310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4" name="">
            <a:extLst xmlns:a="http://schemas.openxmlformats.org/drawingml/2006/main">
              <a:ext uri="{FF2B5EF4-FFF2-40B4-BE49-F238E27FC236}">
                <a16:creationId xmlns:a16="http://schemas.microsoft.com/office/drawing/2014/main" id="{3FE66186-AEB9-4084-ABE6-0293084C35C2}"/>
              </a:ext>
            </a:extLst>
          </p:cNvPr>
          <p:cNvSpPr>
            <a:spLocks xmlns:a="http://schemas.openxmlformats.org/drawingml/2006/main" noGrp="1"/>
          </p:cNvSpPr>
          <p:nvPr/>
        </p:nvSpPr>
        <p:spPr>
          <a:xfrm xmlns:a="http://schemas.openxmlformats.org/drawingml/2006/main">
            <a:off x="622935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76 tests + RAGAS</a:t>
            </a:r>
          </a:p>
        </p:txBody>
      </p:sp>
      <p:sp>
        <p:nvSpPr>
          <p:cNvPr id="15" name="">
            <a:extLst xmlns:a="http://schemas.openxmlformats.org/drawingml/2006/main">
              <a:ext uri="{FF2B5EF4-FFF2-40B4-BE49-F238E27FC236}">
                <a16:creationId xmlns:a16="http://schemas.microsoft.com/office/drawing/2014/main" id="{485D8D1C-51E0-4BFC-B394-BCF8391E4A57}"/>
              </a:ext>
            </a:extLst>
          </p:cNvPr>
          <p:cNvSpPr>
            <a:spLocks xmlns:a="http://schemas.openxmlformats.org/drawingml/2006/main" noGrp="1"/>
          </p:cNvSpPr>
          <p:nvPr/>
        </p:nvSpPr>
        <p:spPr>
          <a:xfrm xmlns:a="http://schemas.openxmlformats.org/drawingml/2006/main">
            <a:off x="609600" y="384810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BBAD70D-F844-4759-8861-26EE2F7A5213}"/>
              </a:ext>
            </a:extLst>
          </p:cNvPr>
          <p:cNvSpPr>
            <a:spLocks xmlns:a="http://schemas.openxmlformats.org/drawingml/2006/main" noGrp="1"/>
          </p:cNvSpPr>
          <p:nvPr/>
        </p:nvSpPr>
        <p:spPr>
          <a:xfrm xmlns:a="http://schemas.openxmlformats.org/drawingml/2006/main">
            <a:off x="609600" y="388620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7" name="">
            <a:extLst xmlns:a="http://schemas.openxmlformats.org/drawingml/2006/main">
              <a:ext uri="{FF2B5EF4-FFF2-40B4-BE49-F238E27FC236}">
                <a16:creationId xmlns:a16="http://schemas.microsoft.com/office/drawing/2014/main" id="{626609FE-59EE-4FA4-BEC8-1F6B43FE722D}"/>
              </a:ext>
            </a:extLst>
          </p:cNvPr>
          <p:cNvSpPr>
            <a:spLocks xmlns:a="http://schemas.openxmlformats.org/drawingml/2006/main" noGrp="1"/>
          </p:cNvSpPr>
          <p:nvPr/>
        </p:nvSpPr>
        <p:spPr>
          <a:xfrm xmlns:a="http://schemas.openxmlformats.org/drawingml/2006/main">
            <a:off x="1085850" y="38862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Docker + démo</a:t>
            </a:r>
          </a:p>
        </p:txBody>
      </p:sp>
      <p:sp>
        <p:nvSpPr>
          <p:cNvPr id="18" name="">
            <a:extLst xmlns:a="http://schemas.openxmlformats.org/drawingml/2006/main">
              <a:ext uri="{FF2B5EF4-FFF2-40B4-BE49-F238E27FC236}">
                <a16:creationId xmlns:a16="http://schemas.microsoft.com/office/drawing/2014/main" id="{C0A7518F-66B7-4678-AFD3-61F61AD921FB}"/>
              </a:ext>
            </a:extLst>
          </p:cNvPr>
          <p:cNvSpPr>
            <a:spLocks xmlns:a="http://schemas.openxmlformats.org/drawingml/2006/main" noGrp="1"/>
          </p:cNvSpPr>
          <p:nvPr/>
        </p:nvSpPr>
        <p:spPr>
          <a:xfrm xmlns:a="http://schemas.openxmlformats.org/drawingml/2006/main">
            <a:off x="3181350" y="384810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B797DA-EECB-4634-9E64-9B87B7ED81AE}"/>
              </a:ext>
            </a:extLst>
          </p:cNvPr>
          <p:cNvSpPr>
            <a:spLocks xmlns:a="http://schemas.openxmlformats.org/drawingml/2006/main" noGrp="1"/>
          </p:cNvSpPr>
          <p:nvPr/>
        </p:nvSpPr>
        <p:spPr>
          <a:xfrm xmlns:a="http://schemas.openxmlformats.org/drawingml/2006/main">
            <a:off x="3181350" y="388620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20" name="">
            <a:extLst xmlns:a="http://schemas.openxmlformats.org/drawingml/2006/main">
              <a:ext uri="{FF2B5EF4-FFF2-40B4-BE49-F238E27FC236}">
                <a16:creationId xmlns:a16="http://schemas.microsoft.com/office/drawing/2014/main" id="{A4E6DEC2-ECC2-49DC-920A-31D28089F0E8}"/>
              </a:ext>
            </a:extLst>
          </p:cNvPr>
          <p:cNvSpPr>
            <a:spLocks xmlns:a="http://schemas.openxmlformats.org/drawingml/2006/main" noGrp="1"/>
          </p:cNvSpPr>
          <p:nvPr/>
        </p:nvSpPr>
        <p:spPr>
          <a:xfrm xmlns:a="http://schemas.openxmlformats.org/drawingml/2006/main">
            <a:off x="3657600" y="38862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Sources vérifiables</a:t>
            </a:r>
          </a:p>
        </p:txBody>
      </p:sp>
      <p:sp>
        <p:nvSpPr>
          <p:cNvPr id="21" name="">
            <a:extLst xmlns:a="http://schemas.openxmlformats.org/drawingml/2006/main">
              <a:ext uri="{FF2B5EF4-FFF2-40B4-BE49-F238E27FC236}">
                <a16:creationId xmlns:a16="http://schemas.microsoft.com/office/drawing/2014/main" id="{9B62A0E3-891C-4380-AFCA-4E33B8E1654B}"/>
              </a:ext>
            </a:extLst>
          </p:cNvPr>
          <p:cNvSpPr>
            <a:spLocks xmlns:a="http://schemas.openxmlformats.org/drawingml/2006/main" noGrp="1"/>
          </p:cNvSpPr>
          <p:nvPr/>
        </p:nvSpPr>
        <p:spPr>
          <a:xfrm xmlns:a="http://schemas.openxmlformats.org/drawingml/2006/main">
            <a:off x="7981950" y="1219200"/>
            <a:ext cx="3600450" cy="3943350"/>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9525">
            <a:solidFill>
              <a:srgbClr val="FFFFFF"/>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3F607552-565D-441F-A762-0C0E2B5F5D16}"/>
              </a:ext>
            </a:extLst>
          </p:cNvPr>
          <p:cNvSpPr>
            <a:spLocks xmlns:a="http://schemas.openxmlformats.org/drawingml/2006/main" noGrp="1"/>
          </p:cNvSpPr>
          <p:nvPr/>
        </p:nvSpPr>
        <p:spPr>
          <a:xfrm xmlns:a="http://schemas.openxmlformats.org/drawingml/2006/main">
            <a:off x="8343900" y="1600200"/>
            <a:ext cx="2876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DÉCISION PROPOSÉE</a:t>
            </a:r>
          </a:p>
        </p:txBody>
      </p:sp>
      <p:sp>
        <p:nvSpPr>
          <p:cNvPr id="23" name="">
            <a:extLst xmlns:a="http://schemas.openxmlformats.org/drawingml/2006/main">
              <a:ext uri="{FF2B5EF4-FFF2-40B4-BE49-F238E27FC236}">
                <a16:creationId xmlns:a16="http://schemas.microsoft.com/office/drawing/2014/main" id="{C226B615-A681-4FD7-9724-27379ABB810D}"/>
              </a:ext>
            </a:extLst>
          </p:cNvPr>
          <p:cNvSpPr>
            <a:spLocks xmlns:a="http://schemas.openxmlformats.org/drawingml/2006/main" noGrp="1"/>
          </p:cNvSpPr>
          <p:nvPr/>
        </p:nvSpPr>
        <p:spPr>
          <a:xfrm xmlns:a="http://schemas.openxmlformats.org/drawingml/2006/main">
            <a:off x="8343900" y="2190750"/>
            <a:ext cx="28765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96000"/>
              </a:lnSpc>
              <a:buNone/>
              <a:defRPr sz="1950" b="1">
                <a:solidFill>
                  <a:srgbClr val="17234C"/>
                </a:solidFill>
                <a:latin typeface="Montserrat"/>
                <a:ea typeface="Montserrat"/>
                <a:cs typeface="Montserrat"/>
              </a:defRPr>
            </a:pPr>
            <a:r>
              <a:rPr sz="1950" b="1">
                <a:solidFill>
                  <a:srgbClr val="17234C"/>
                </a:solidFill>
                <a:latin typeface="Montserrat"/>
                <a:ea typeface="Montserrat"/>
                <a:cs typeface="Montserrat"/>
              </a:rPr>
              <a:t>Valider un</a:t>
            </a:r>
          </a:p>
          <a:p xmlns:a="http://schemas.openxmlformats.org/drawingml/2006/main">
            <a:pPr algn="ctr">
              <a:lnSpc>
                <a:spcPct val="96000"/>
              </a:lnSpc>
              <a:buNone/>
              <a:defRPr sz="1950" b="1">
                <a:solidFill>
                  <a:srgbClr val="17234C"/>
                </a:solidFill>
                <a:latin typeface="Montserrat"/>
                <a:ea typeface="Montserrat"/>
                <a:cs typeface="Montserrat"/>
              </a:defRPr>
            </a:pPr>
            <a:r>
              <a:rPr sz="1950" b="1">
                <a:solidFill>
                  <a:srgbClr val="17234C"/>
                </a:solidFill>
                <a:latin typeface="Montserrat"/>
                <a:ea typeface="Montserrat"/>
                <a:cs typeface="Montserrat"/>
              </a:rPr>
              <a:t>pilote mesuré</a:t>
            </a:r>
          </a:p>
        </p:txBody>
      </p:sp>
      <p:sp>
        <p:nvSpPr>
          <p:cNvPr id="24" name="">
            <a:extLst xmlns:a="http://schemas.openxmlformats.org/drawingml/2006/main">
              <a:ext uri="{FF2B5EF4-FFF2-40B4-BE49-F238E27FC236}">
                <a16:creationId xmlns:a16="http://schemas.microsoft.com/office/drawing/2014/main" id="{75479DA3-32D3-4435-97D7-53CD56515CFE}"/>
              </a:ext>
            </a:extLst>
          </p:cNvPr>
          <p:cNvSpPr>
            <a:spLocks xmlns:a="http://schemas.openxmlformats.org/drawingml/2006/main" noGrp="1"/>
          </p:cNvSpPr>
          <p:nvPr/>
        </p:nvSpPr>
        <p:spPr>
          <a:xfrm xmlns:a="http://schemas.openxmlformats.org/drawingml/2006/main">
            <a:off x="8401050" y="3543300"/>
            <a:ext cx="2762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1. actualiser le catalogue et filtrer</a:t>
            </a:r>
          </a:p>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2. contrôler les réponses sur plus de cas</a:t>
            </a:r>
          </a:p>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3. mesurer un pilote avant industrialisation</a:t>
            </a:r>
          </a:p>
        </p:txBody>
      </p:sp>
      <p:sp>
        <p:nvSpPr>
          <p:cNvPr id="25" name="">
            <a:extLst xmlns:a="http://schemas.openxmlformats.org/drawingml/2006/main">
              <a:ext uri="{FF2B5EF4-FFF2-40B4-BE49-F238E27FC236}">
                <a16:creationId xmlns:a16="http://schemas.microsoft.com/office/drawing/2014/main" id="{F804AFA4-1AB8-4EE2-AA7B-63F6443415DB}"/>
              </a:ext>
            </a:extLst>
          </p:cNvPr>
          <p:cNvSpPr>
            <a:spLocks xmlns:a="http://schemas.openxmlformats.org/drawingml/2006/main" noGrp="1"/>
          </p:cNvSpPr>
          <p:nvPr/>
        </p:nvSpPr>
        <p:spPr>
          <a:xfrm xmlns:a="http://schemas.openxmlformats.org/drawingml/2006/main">
            <a:off x="8724900" y="4705350"/>
            <a:ext cx="21145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825" b="1">
                <a:solidFill>
                  <a:srgbClr val="FFFFFF"/>
                </a:solidFill>
                <a:latin typeface="Montserrat"/>
                <a:ea typeface="Montserrat"/>
                <a:cs typeface="Montserrat"/>
              </a:defRPr>
            </a:pPr>
            <a:r>
              <a:rPr sz="825" b="1">
                <a:solidFill>
                  <a:srgbClr val="FFFFFF"/>
                </a:solidFill>
                <a:latin typeface="Montserrat"/>
                <a:ea typeface="Montserrat"/>
                <a:cs typeface="Montserrat"/>
              </a:rPr>
              <a:t>QUESTIONS ?</a:t>
            </a:r>
          </a:p>
        </p:txBody>
      </p:sp>
      <p:sp>
        <p:nvSpPr>
          <p:cNvPr id="26" name="">
            <a:extLst xmlns:a="http://schemas.openxmlformats.org/drawingml/2006/main">
              <a:ext uri="{FF2B5EF4-FFF2-40B4-BE49-F238E27FC236}">
                <a16:creationId xmlns:a16="http://schemas.microsoft.com/office/drawing/2014/main" id="{48D57C2E-AB27-4EBE-9B2F-CD33DCF6050E}"/>
              </a:ext>
            </a:extLst>
          </p:cNvPr>
          <p:cNvSpPr>
            <a:spLocks xmlns:a="http://schemas.openxmlformats.org/drawingml/2006/main" noGrp="1"/>
          </p:cNvSpPr>
          <p:nvPr/>
        </p:nvSpPr>
        <p:spPr>
          <a:xfrm xmlns:a="http://schemas.openxmlformats.org/drawingml/2006/main">
            <a:off x="609600" y="59626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FFFFFF"/>
                </a:solidFill>
                <a:latin typeface="Noto Sans"/>
                <a:ea typeface="Noto Sans"/>
                <a:cs typeface="Noto Sans"/>
              </a:defRPr>
            </a:pPr>
            <a:r>
              <a:rPr sz="825" b="1">
                <a:solidFill>
                  <a:srgbClr val="FFFFFF"/>
                </a:solidFill>
                <a:latin typeface="Noto Sans"/>
                <a:ea typeface="Noto Sans"/>
                <a:cs typeface="Noto Sans"/>
              </a:rPr>
              <a:t>Rapport, dépôt, scripts et résultats : preuves consultables pour la discussion technique</a:t>
            </a:r>
          </a:p>
        </p:txBody>
      </p:sp>
    </p:spTree>
    <p:extLst>
      <p:ext uri="{BB962C8B-B14F-4D97-AF65-F5344CB8AC3E}">
        <p14:creationId xmlns:p14="http://schemas.microsoft.com/office/powerpoint/2010/main" val="940665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2026-10-01T09:40:59.0120000Z</dcterms:created>
  <dcterms:modified xsi:type="dcterms:W3CDTF">2026-10-01T09:40:59.0120000Z</dcterms:modified>
</coreProperties>
</file>