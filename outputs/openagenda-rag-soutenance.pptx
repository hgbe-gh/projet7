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cc342a0b6924db6" /><Relationship Type="http://schemas.openxmlformats.org/officeDocument/2006/relationships/extended-properties" Target="/docProps/app.xml" Id="Re9faea9cf3c244a3" /><Relationship Type="http://schemas.openxmlformats.org/officeDocument/2006/relationships/officeDocument" Target="/ppt/presentation.xml" Id="R44dcdf28e8614c5c" /></Relationships>
</file>

<file path=ppt/presentation.xml><?xml version="1.0" encoding="utf-8"?>
<p:presentation xmlns:p="http://schemas.openxmlformats.org/presentationml/2006/main">
  <p:sldMasterIdLst>
    <p:sldMasterId xmlns:r="http://schemas.openxmlformats.org/officeDocument/2006/relationships" id="2147483648" r:id="R0c4ce5f575344090"/>
  </p:sldMasterIdLst>
  <p:notesMasterIdLst>
    <p:notesMasterId xmlns:r="http://schemas.openxmlformats.org/officeDocument/2006/relationships" r:id="R9878131349574acd"/>
  </p:notesMasterIdLst>
  <p:sldIdLst>
    <p:sldId xmlns:r="http://schemas.openxmlformats.org/officeDocument/2006/relationships" id="256" r:id="R3fe5f7ac9ccf4ec1"/>
    <p:sldId xmlns:r="http://schemas.openxmlformats.org/officeDocument/2006/relationships" id="257" r:id="Rf5af42d7f7334af6"/>
    <p:sldId xmlns:r="http://schemas.openxmlformats.org/officeDocument/2006/relationships" id="258" r:id="Rac5abf5d86f440d5"/>
    <p:sldId xmlns:r="http://schemas.openxmlformats.org/officeDocument/2006/relationships" id="259" r:id="R09612ff802c04b3e"/>
    <p:sldId xmlns:r="http://schemas.openxmlformats.org/officeDocument/2006/relationships" id="260" r:id="R181ef84705e1404d"/>
    <p:sldId xmlns:r="http://schemas.openxmlformats.org/officeDocument/2006/relationships" id="261" r:id="R98fed0fed9484d2b"/>
    <p:sldId xmlns:r="http://schemas.openxmlformats.org/officeDocument/2006/relationships" id="262" r:id="R34a5d4dcec8f405a"/>
    <p:sldId xmlns:r="http://schemas.openxmlformats.org/officeDocument/2006/relationships" id="263" r:id="Rf26d3073974448a0"/>
    <p:sldId xmlns:r="http://schemas.openxmlformats.org/officeDocument/2006/relationships" id="264" r:id="Rdbfabeda44f54b1d"/>
    <p:sldId xmlns:r="http://schemas.openxmlformats.org/officeDocument/2006/relationships" id="265" r:id="R69f248d2b8594c80"/>
    <p:sldId xmlns:r="http://schemas.openxmlformats.org/officeDocument/2006/relationships" id="266" r:id="R1226d918212740e5"/>
    <p:sldId xmlns:r="http://schemas.openxmlformats.org/officeDocument/2006/relationships" id="267" r:id="R9547a0108aca485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2114e6dd9624ab7" /><Relationship Type="http://schemas.openxmlformats.org/officeDocument/2006/relationships/slideMaster" Target="/ppt/slideMasters/slideMaster1.xml" Id="R0c4ce5f575344090" /><Relationship Type="http://schemas.openxmlformats.org/officeDocument/2006/relationships/notesMaster" Target="/ppt/notesMasters/notesMaster1.xml" Id="R9878131349574acd" /><Relationship Type="http://schemas.openxmlformats.org/officeDocument/2006/relationships/presProps" Target="/ppt/presProps.xml" Id="Rd7637b04867d4a59" /><Relationship Type="http://schemas.openxmlformats.org/officeDocument/2006/relationships/tableStyles" Target="/ppt/tableStyles.xml" Id="Rdbef0be0b7a745cf" /><Relationship Type="http://schemas.openxmlformats.org/officeDocument/2006/relationships/slide" Target="/ppt/slides/slide1.xml" Id="R3fe5f7ac9ccf4ec1" /><Relationship Type="http://schemas.openxmlformats.org/officeDocument/2006/relationships/slide" Target="/ppt/slides/slide2.xml" Id="Rf5af42d7f7334af6" /><Relationship Type="http://schemas.openxmlformats.org/officeDocument/2006/relationships/slide" Target="/ppt/slides/slide3.xml" Id="Rac5abf5d86f440d5" /><Relationship Type="http://schemas.openxmlformats.org/officeDocument/2006/relationships/slide" Target="/ppt/slides/slide4.xml" Id="R09612ff802c04b3e" /><Relationship Type="http://schemas.openxmlformats.org/officeDocument/2006/relationships/slide" Target="/ppt/slides/slide5.xml" Id="R181ef84705e1404d" /><Relationship Type="http://schemas.openxmlformats.org/officeDocument/2006/relationships/slide" Target="/ppt/slides/slide6.xml" Id="R98fed0fed9484d2b" /><Relationship Type="http://schemas.openxmlformats.org/officeDocument/2006/relationships/slide" Target="/ppt/slides/slide7.xml" Id="R34a5d4dcec8f405a" /><Relationship Type="http://schemas.openxmlformats.org/officeDocument/2006/relationships/slide" Target="/ppt/slides/slide8.xml" Id="Rf26d3073974448a0" /><Relationship Type="http://schemas.openxmlformats.org/officeDocument/2006/relationships/slide" Target="/ppt/slides/slide9.xml" Id="Rdbfabeda44f54b1d" /><Relationship Type="http://schemas.openxmlformats.org/officeDocument/2006/relationships/slide" Target="/ppt/slides/slide10.xml" Id="R69f248d2b8594c80" /><Relationship Type="http://schemas.openxmlformats.org/officeDocument/2006/relationships/slide" Target="/ppt/slides/slide11.xml" Id="R1226d918212740e5" /><Relationship Type="http://schemas.openxmlformats.org/officeDocument/2006/relationships/slide" Target="/ppt/slides/slide12.xml" Id="R9547a0108aca48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00cbafda8147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3b49b08d044018" /><Relationship Type="http://schemas.openxmlformats.org/officeDocument/2006/relationships/notesMaster" Target="/ppt/notesMasters/notesMaster1.xml" Id="Red859834369142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b2f5dd10804387" /><Relationship Type="http://schemas.openxmlformats.org/officeDocument/2006/relationships/notesMaster" Target="/ppt/notesMasters/notesMaster1.xml" Id="R258662f712ea41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16b704e5d447a0" /><Relationship Type="http://schemas.openxmlformats.org/officeDocument/2006/relationships/notesMaster" Target="/ppt/notesMasters/notesMaster1.xml" Id="R6b2acf40814944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10a18794624e55" /><Relationship Type="http://schemas.openxmlformats.org/officeDocument/2006/relationships/notesMaster" Target="/ppt/notesMasters/notesMaster1.xml" Id="R2d62dff31d6e44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3df940d93d4057" /><Relationship Type="http://schemas.openxmlformats.org/officeDocument/2006/relationships/notesMaster" Target="/ppt/notesMasters/notesMaster1.xml" Id="Rf93449fe458648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83d304f58e4b9e" /><Relationship Type="http://schemas.openxmlformats.org/officeDocument/2006/relationships/notesMaster" Target="/ppt/notesMasters/notesMaster1.xml" Id="R8a10438f224c4b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ae6849a0ae41bb" /><Relationship Type="http://schemas.openxmlformats.org/officeDocument/2006/relationships/notesMaster" Target="/ppt/notesMasters/notesMaster1.xml" Id="R64f81c50c5444f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d2ac31a44449c0" /><Relationship Type="http://schemas.openxmlformats.org/officeDocument/2006/relationships/notesMaster" Target="/ppt/notesMasters/notesMaster1.xml" Id="R5c9a890cd29a4fd4"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e94a046bf14723" /><Relationship Type="http://schemas.openxmlformats.org/officeDocument/2006/relationships/notesMaster" Target="/ppt/notesMasters/notesMaster1.xml" Id="R3f589e3ad70643b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d8b3671ad34a63" /><Relationship Type="http://schemas.openxmlformats.org/officeDocument/2006/relationships/notesMaster" Target="/ppt/notesMasters/notesMaster1.xml" Id="R1242787b7b9c4fe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d10bd886544dc2" /><Relationship Type="http://schemas.openxmlformats.org/officeDocument/2006/relationships/notesMaster" Target="/ppt/notesMasters/notesMaster1.xml" Id="Radab108a90c541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a6fbdfbe55b459c" /><Relationship Type="http://schemas.openxmlformats.org/officeDocument/2006/relationships/notesMaster" Target="/ppt/notesMasters/notesMaster1.xml" Id="Rfa551afb629242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50 secondes.</a:t>
            </a:r>
          </a:p>
          <a:p xmlns:a="http://schemas.openxmlformats.org/drawingml/2006/main">
            <a:r>
              <a:t>Bonjour Jérémy. Je vais vous présenter le POC que j’ai réalisé pour répondre à une question simple : Puls-Events peut-il proposer un assistant qui recommande des événements réels, sans les inventer ?</a:t>
            </a:r>
          </a:p>
          <a:p xmlns:a="http://schemas.openxmlformats.org/drawingml/2006/main">
            <a:r>
              <a:t>Le résultat n’est pas seulement un chatbot. J’ai préparé 7 586 événements OpenAgenda, produit 14 903 passages recherchables, construit une API Docker et couvert la chaîne par 59 tests automatisés.</a:t>
            </a:r>
          </a:p>
          <a:p xmlns:a="http://schemas.openxmlformats.org/drawingml/2006/main">
            <a:r>
              <a:t>Mon objectif aujourd’hui est de vous montrer la méthode, les preuves et les limites afin de vous proposer une décision de suite réaliste : un pilote mesuré, et non une mise en production immédiate.</a:t>
            </a:r>
          </a:p>
          <a:p xmlns:a="http://schemas.openxmlformats.org/drawingml/2006/main">
            <a:r>
              <a:t>Transition : pour comprendre ce choix, je pars du risque métier à éviter.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60 secondes.</a:t>
            </a:r>
          </a:p>
          <a:p xmlns:a="http://schemas.openxmlformats.org/drawingml/2006/main">
            <a:r>
              <a:t>Un utilisateur ne formule pas sa demande avec les mots exacts du catalogue. Il peut demander une sortie calme, une activité avec des enfants ou un concert électro sans connaître le titre de l’événement.</a:t>
            </a:r>
          </a:p>
          <a:p xmlns:a="http://schemas.openxmlformats.org/drawingml/2006/main">
            <a:r>
              <a:t>Une recherche par mots-clés est utile pour des filtres précis, mais elle comprend mal les variantes de formulation. À l’inverse, un LLM seul est agréable à utiliser mais ne connaît pas naturellement le catalogue Puls-Events : il peut produire une recommandation plausible mais fausse.</a:t>
            </a:r>
          </a:p>
          <a:p xmlns:a="http://schemas.openxmlformats.org/drawingml/2006/main">
            <a:r>
              <a:t>Le RAG combine les deux. Il cherche d’abord dans les données réelles, puis il demande au modèle de formuler une réponse à partir du contexte retrouvé. Les sources restent visibles. Le RAG ne garantit pas zéro erreur ; il réduit le risque et rend le résultat contrôlable.</a:t>
            </a:r>
          </a:p>
          <a:p xmlns:a="http://schemas.openxmlformats.org/drawingml/2006/main">
            <a:r>
              <a:t>Transition : cette qualité dépend d’abord de la qualité des données préparées.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70 secondes.</a:t>
            </a:r>
          </a:p>
          <a:p xmlns:a="http://schemas.openxmlformats.org/drawingml/2006/main">
            <a:r>
              <a:t>Je pars d’OpenAgenda via son miroir Opendatasoft. Le flux est public et riche, mais il n’est pas directement prêt pour un RAG : les descriptions peuvent contenir du HTML, certains champs sont absents, les formats sont hétérogènes et plusieurs lignes peuvent correspondre au même événement.</a:t>
            </a:r>
          </a:p>
          <a:p xmlns:a="http://schemas.openxmlformats.org/drawingml/2006/main">
            <a:r>
              <a:t>Mon script applique d’abord le périmètre choisi : Paris et une fenêtre d’un an, du 10 juillet 2025 au 10 juillet 2026. Ensuite il nettoie les textes, retire le HTML, harmonise les valeurs de lieu, dates et catégories, puis déduplique avec event_uid.</a:t>
            </a:r>
          </a:p>
          <a:p xmlns:a="http://schemas.openxmlformats.org/drawingml/2006/main">
            <a:r>
              <a:t>Je ne garde pas seulement une description : je conserve les métadonnées qui permettront de prouver une recommandation, notamment le titre, le lieu, la date et l’URL. Le résultat est un snapshot de 7 586 événements. Il est reproductible, mais il n’est pas encore actualisé automatiquement : c’est une limite assumée que je traiterai plus tard.</a:t>
            </a:r>
          </a:p>
          <a:p xmlns:a="http://schemas.openxmlformats.org/drawingml/2006/main">
            <a:r>
              <a:t>Transition : je vais maintenant montrer comment un de ces événements devient recherché par le sens.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70 secondes.</a:t>
            </a:r>
          </a:p>
          <a:p xmlns:a="http://schemas.openxmlformats.org/drawingml/2006/main">
            <a:r>
              <a:t>Voici un exemple concret avec l’événement CHIMERE. Sa description préparée contient 10 273 caractères. La chercher en entier réduirait la précision et l’envoyer en entier au modèle augmenterait inutilement le contexte.</a:t>
            </a:r>
          </a:p>
          <a:p xmlns:a="http://schemas.openxmlformats.org/drawingml/2006/main">
            <a:r>
              <a:t>Je découpe donc ce texte en passages. La taille cible est de 1 000 caractères et le chevauchement est de 200 caractères. Le chevauchement signifie qu’une zone de fin de chunk est reprise au début du suivant. Ainsi, une information comme une date ou un lieu ne disparaît pas si elle se trouve à la frontière.</a:t>
            </a:r>
          </a:p>
          <a:p xmlns:a="http://schemas.openxmlformats.org/drawingml/2006/main">
            <a:r>
              <a:t>Chaque passage est envoyé à mistral-embed, qui le représente par un vecteur de 1 024 nombres. Ces nombres ne sont pas une réponse : ils servent à comparer le sens des textes. FAISS stocke ces vecteurs et retrouve les passages proches de la question. Les métadonnées restent liées au passage pour pouvoir revenir à la source.</a:t>
            </a:r>
          </a:p>
          <a:p xmlns:a="http://schemas.openxmlformats.org/drawingml/2006/main">
            <a:r>
              <a:t>Ces paramètres sont des choix de POC à calibrer. Je ne prétends pas qu’ils sont optimaux : je les comparerais sur un jeu d’évaluation plus grand.</a:t>
            </a:r>
          </a:p>
          <a:p xmlns:a="http://schemas.openxmlformats.org/drawingml/2006/main">
            <a:r>
              <a:t>Transition : une fois les bons passages retrouvés, je dois encadrer ce que le modèle a le droit de dire.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65 secondes.</a:t>
            </a:r>
          </a:p>
          <a:p xmlns:a="http://schemas.openxmlformats.org/drawingml/2006/main">
            <a:r>
              <a:t>La question de l’utilisateur passe d’abord dans le même modèle d’embedding que les chunks. FAISS compare alors son vecteur aux 14 903 passages et retourne les quatre voisins les plus proches : top_k vaut 4.</a:t>
            </a:r>
          </a:p>
          <a:p xmlns:a="http://schemas.openxmlformats.org/drawingml/2006/main">
            <a:r>
              <a:t>Le code construit ensuite le prompt. Il comporte un message système très clair : répondre uniquement à partir du contexte, dire qu’il ne sait pas lorsque le contexte est insuffisant, citer les titres, les lieux, les dates et les URLs quand ils existent, et ne jamais inventer un événement, une date ou un lien.</a:t>
            </a:r>
          </a:p>
          <a:p xmlns:a="http://schemas.openxmlformats.org/drawingml/2006/main">
            <a:r>
              <a:t>Le prompt utilisateur ajoute les quatre passages, avec leurs métadonnées, puis la question. Mistral Small rédige la réponse. J’ai choisi mistral-embed pour la recherche sémantique et mistral-small-latest pour la génération : le premier retrouve, le second reformule. La température à 0,1 stabilise la démonstration.</a:t>
            </a:r>
          </a:p>
          <a:p xmlns:a="http://schemas.openxmlformats.org/drawingml/2006/main">
            <a:r>
              <a:t>Transition : ces traitements sont organisés dans une architecture où chaque responsabilité est séparée.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55 secondes.</a:t>
            </a:r>
          </a:p>
          <a:p xmlns:a="http://schemas.openxmlformats.org/drawingml/2006/main">
            <a:r>
              <a:t>Cette slide sépare les traitements hors ligne et la réponse en ligne. Hors ligne, je collecte, nettoie et indexe. Ces étapes peuvent prendre du temps mais elles sont reproductibles et n’ont pas à être relancées lorsqu’un utilisateur pose une question.</a:t>
            </a:r>
          </a:p>
          <a:p xmlns:a="http://schemas.openxmlformats.org/drawingml/2006/main">
            <a:r>
              <a:t>En ligne, FastAPI charge l’index persistant, le retriever FAISS et le modèle de chat. Une requête utilise donc uniquement la recherche, le prompt et la génération. Cette séparation réduit la latence et rend chaque brique testable : je peux tester la normalisation sans Mistral, l’indexation sur un petit corpus, puis le contrat API indépendamment.</a:t>
            </a:r>
          </a:p>
          <a:p xmlns:a="http://schemas.openxmlformats.org/drawingml/2006/main">
            <a:r>
              <a:t>Transition : le résultat de cette architecture est une API exploitable et conteneurisée.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50 secondes.</a:t>
            </a:r>
          </a:p>
          <a:p xmlns:a="http://schemas.openxmlformats.org/drawingml/2006/main">
            <a:r>
              <a:t>FastAPI expose le POC avec un contrat simple. POST /ask reçoit une question et renvoie une réponse, les sources et le nombre de chunks récupérés. GET /health me permet de vérifier que l’index est chargé et de connaître les modèles actifs. Swagger, sur /docs, documente les endpoints.</a:t>
            </a:r>
          </a:p>
          <a:p xmlns:a="http://schemas.openxmlformats.org/drawingml/2006/main">
            <a:r>
              <a:t>L’index et le modèle sont chargés au démarrage. Chaque question ne reconstruit donc ni le corpus ni FAISS. Docker Compose rend ce runtime reproductible. Le endpoint de reconstruction est séparé et protégé, car reconstruire l’index est une tâche d’administration.</a:t>
            </a:r>
          </a:p>
          <a:p xmlns:a="http://schemas.openxmlformats.org/drawingml/2006/main">
            <a:r>
              <a:t>Je vais maintenant montrer deux scénarios : un cas où le POC apporte de la valeur et un cas où il doit reconnaître sa limite.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25 secondes avant la démo, puis 2 minutes en terminal.</a:t>
            </a:r>
          </a:p>
          <a:p xmlns:a="http://schemas.openxmlformats.org/drawingml/2006/main">
            <a:r>
              <a:t>Je vais exécuter le script de démonstration. Il vérifie l’état de Docker, appelle health, puis envoie les deux scénarios à la même API.</a:t>
            </a:r>
          </a:p>
          <a:p xmlns:a="http://schemas.openxmlformats.org/drawingml/2006/main">
            <a:r>
              <a:t>Sur le cas Paris, je regarde seulement les éléments métier : une réponse claire, le titre, la date, le lieu et l’URL. Sur le cas Lyon, mon objectif n’est pas de proposer Lyon correctement, puisque le corpus ne le couvre pas. Je vérifie que le système reste prudent et n’invente pas.</a:t>
            </a:r>
          </a:p>
          <a:p xmlns:a="http://schemas.openxmlformats.org/drawingml/2006/main">
            <a:r>
              <a:t>Après la démo, je reviens à la slide suivante : ces observations doivent être soutenues par une stratégie de tests et d’évaluation.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75 secondes.</a:t>
            </a:r>
          </a:p>
          <a:p xmlns:a="http://schemas.openxmlformats.org/drawingml/2006/main">
            <a:r>
              <a:t>Les 59 tests ne servent pas à prouver qu’une réponse est toujours excellente. Ils servent à éviter les régressions de code. La suite couvre la collecte et la pagination, la normalisation, les filtres, la construction et le rechargement de FAISS, le moteur RAG, le contrat de l’API, le jeu annoté et l’automatisation RAGAS.</a:t>
            </a:r>
          </a:p>
          <a:p xmlns:a="http://schemas.openxmlformats.org/drawingml/2006/main">
            <a:r>
              <a:t>Le rapport de test répond à deux questions : est-ce que les briques techniques fonctionnent encore, et est-ce que les scénarios métier attendus restent couverts ? Les quatre cas fonctionnels comprennent trois demandes positives et un cas hors périmètre. Ils testent le comportement direct, via l’API et dans Docker.</a:t>
            </a:r>
          </a:p>
          <a:p xmlns:a="http://schemas.openxmlformats.org/drawingml/2006/main">
            <a:r>
              <a:t>Je dois être précis sur la CI/CD : elle n’est pas implémentée dans ce POC. C’est la prochaine étape d’industrialisation. À chaque push, la CI installerait l’environnement, lancerait pytest, construirait l’image Docker, lancerait un healthcheck, publierait un rapport, puis bloquerait le déploiement en cas d’échec. Les métriques RAGAS pourraient aussi devenir des quality gates après élargissement du benchmark.</a:t>
            </a:r>
          </a:p>
          <a:p xmlns:a="http://schemas.openxmlformats.org/drawingml/2006/main">
            <a:r>
              <a:t>Transition : au-delà des tests de code, j’évalue maintenant la qualité de la chaîne 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80 secondes.</a:t>
            </a:r>
          </a:p>
          <a:p xmlns:a="http://schemas.openxmlformats.org/drawingml/2006/main">
            <a:r>
              <a:t>RAGAS est un framework d’évaluation spécifique aux systèmes RAG. Son intérêt est de ne pas réduire la qualité à un seul score. Pour chaque cas, j’ai une question, les contextes réellement récupérés, la réponse générée et une référence humaine.</a:t>
            </a:r>
          </a:p>
          <a:p xmlns:a="http://schemas.openxmlformats.org/drawingml/2006/main">
            <a:r>
              <a:t>La fidélité à 0,900 mesure si la réponse est soutenue par le contexte. La pertinence à 0,846 mesure si elle répond à la question. La précision du contexte à 1,000 signifie que les passages récupérés sont utiles sur cet échantillon. La correction à 0,683 compare plus directement la réponse à la référence et reste le point à améliorer.</a:t>
            </a:r>
          </a:p>
          <a:p xmlns:a="http://schemas.openxmlformats.org/drawingml/2006/main">
            <a:r>
              <a:t>L’interprétation est importante : je ne dis pas que le chatbot est exact à 90 %. Les trois cas démontrent la méthode et donnent un signal. Ils montrent que la recherche est solide, mais que la synthèse peut omettre un détail attendu. La suite est donc de structurer davantage la réponse et d’élargir le jeu annoté avant de changer de modèle à l’aveugle.</a:t>
            </a:r>
          </a:p>
          <a:p xmlns:a="http://schemas.openxmlformats.org/drawingml/2006/main">
            <a:r>
              <a:t>Transition : ces résultats sont encourageants mais le POC a des limites que je dois rendre explicites.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60 secondes.</a:t>
            </a:r>
          </a:p>
          <a:p xmlns:a="http://schemas.openxmlformats.org/drawingml/2006/main">
            <a:r>
              <a:t>La première limite concerne les données : le périmètre est Paris, le corpus est un snapshot et la qualité dépend de la source. Je propose une collecte planifiée, des contrôles de qualité et l’élargissement progressif des villes.</a:t>
            </a:r>
          </a:p>
          <a:p xmlns:a="http://schemas.openxmlformats.org/drawingml/2006/main">
            <a:r>
              <a:t>La deuxième concerne la recherche et le modèle. Il n’y a pas encore de seuil de similarité déterministe qui empêcherait la génération si le contexte est trop faible. Le modèle Mistral dépend d’un service en ligne. Les paramètres de chunking et top_k restent à calibrer. Je propose des filtres métier, un seuil de refus et un benchmark élargi.</a:t>
            </a:r>
          </a:p>
          <a:p xmlns:a="http://schemas.openxmlformats.org/drawingml/2006/main">
            <a:r>
              <a:t>Enfin, l’évaluation et l’exploitation restent limitées : trois cas RAGAS ne suffisent pas pour un benchmark et le POC n’a pas de test de charge ni d’observabilité continue. Je les présente comme des chantiers concrets, pas comme des défauts cachés.</a:t>
            </a:r>
          </a:p>
          <a:p xmlns:a="http://schemas.openxmlformats.org/drawingml/2006/main">
            <a:r>
              <a:t>Transition : ces limites conduisent directement à ma recommandation.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55 secondes.</a:t>
            </a:r>
          </a:p>
          <a:p xmlns:a="http://schemas.openxmlformats.org/drawingml/2006/main">
            <a:r>
              <a:t>Ma recommandation est un pilote multi-villes mesuré, et non un déploiement généralisé immédiat. La chaîne actuelle prouve que le produit est techniquement faisable et qu’il peut répondre avec des sources vérifiables.</a:t>
            </a:r>
          </a:p>
          <a:p xmlns:a="http://schemas.openxmlformats.org/drawingml/2006/main">
            <a:r>
              <a:t>Le pilote doit élargir les villes et le jeu annoté, mesurer l’utilité des réponses, la présence de sources, la latence et les refus corrects. Ensuite, j’ajouterais des filtres de ville, date et catégorie, un seuil de similarité et une réponse structurée. Enfin seulement, j’industrialiserais avec collecte planifiée, CI/CD, supervision, sécurité et tests de charge.</a:t>
            </a:r>
          </a:p>
          <a:p xmlns:a="http://schemas.openxmlformats.org/drawingml/2006/main">
            <a:r>
              <a:t>Après cette slide, je montre le rapport pendant vingt secondes et l’arborescence du dépôt pendant vingt secondes. Je termine : les livrables sont reproductibles, les méthodes sont documentées et la prochaine décision raisonnable est le pilote mesuré.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bb3b4e48af44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881134447e4972" /><Relationship Type="http://schemas.openxmlformats.org/officeDocument/2006/relationships/slideLayout" Target="/ppt/slideLayouts/slideLayout1.xml" Id="R232d96a5902848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2d96a5902848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71da9e200134463" /><Relationship Type="http://schemas.openxmlformats.org/officeDocument/2006/relationships/notesSlide" Target="/ppt/notesSlides/notesSlide1.xml" Id="Rf25e858166bb41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3e681cebd1c4d39" /><Relationship Type="http://schemas.openxmlformats.org/officeDocument/2006/relationships/notesSlide" Target="/ppt/notesSlides/notesSlide2.xml" Id="R16277283407140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a67b255521f4bf0" /><Relationship Type="http://schemas.openxmlformats.org/officeDocument/2006/relationships/notesSlide" Target="/ppt/notesSlides/notesSlide3.xml" Id="Rdcb0db1f468945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314eea20b284f81" /><Relationship Type="http://schemas.openxmlformats.org/officeDocument/2006/relationships/notesSlide" Target="/ppt/notesSlides/notesSlide4.xml" Id="R04c933a18e0548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852c36826a4ef3" /><Relationship Type="http://schemas.openxmlformats.org/officeDocument/2006/relationships/notesSlide" Target="/ppt/notesSlides/notesSlide5.xml" Id="R0b11e92b6dea41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9f17839571c47d7" /><Relationship Type="http://schemas.openxmlformats.org/officeDocument/2006/relationships/notesSlide" Target="/ppt/notesSlides/notesSlide6.xml" Id="R549c94da96684e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6bb5c2cdf584185" /><Relationship Type="http://schemas.openxmlformats.org/officeDocument/2006/relationships/notesSlide" Target="/ppt/notesSlides/notesSlide7.xml" Id="Rb45c13445a1a4a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ae14da0a7844cee" /><Relationship Type="http://schemas.openxmlformats.org/officeDocument/2006/relationships/notesSlide" Target="/ppt/notesSlides/notesSlide8.xml" Id="R889e3783a9194f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d6a41884ce74571" /><Relationship Type="http://schemas.openxmlformats.org/officeDocument/2006/relationships/notesSlide" Target="/ppt/notesSlides/notesSlide9.xml" Id="Rf8421fc7e81c41e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fb13bc0ad444331" /><Relationship Type="http://schemas.openxmlformats.org/officeDocument/2006/relationships/notesSlide" Target="/ppt/notesSlides/notesSlide10.xml" Id="R03875ba8dd124e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65b85a16cec4eac" /><Relationship Type="http://schemas.openxmlformats.org/officeDocument/2006/relationships/notesSlide" Target="/ppt/notesSlides/notesSlide11.xml" Id="R327ad72f40a04a2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84b4c530dca46b8" /><Relationship Type="http://schemas.openxmlformats.org/officeDocument/2006/relationships/notesSlide" Target="/ppt/notesSlides/notesSlide12.xml" Id="R996d2bb8ace44bd9" /></Relationships>
</file>

<file path=ppt/slides/slide1.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CA900C4-AD42-441D-BC1C-CCB3BCDB4517}"/>
              </a:ext>
            </a:extLst>
          </p:cNvPr>
          <p:cNvSpPr>
            <a:spLocks xmlns:a="http://schemas.openxmlformats.org/drawingml/2006/main" noGrp="1"/>
          </p:cNvSpPr>
          <p:nvPr/>
        </p:nvSpPr>
        <p:spPr>
          <a:xfrm xmlns:a="http://schemas.openxmlformats.org/drawingml/2006/main">
            <a:off x="7239000" y="552450"/>
            <a:ext cx="4000500" cy="5753100"/>
          </a:xfrm>
          <a:prstGeom xmlns:a="http://schemas.openxmlformats.org/drawingml/2006/main" prst="roundRect">
            <a:avLst>
              <a:gd name="adj" fmla="val 3810"/>
            </a:avLst>
          </a:prstGeom>
          <a:solidFill xmlns:a="http://schemas.openxmlformats.org/drawingml/2006/main">
            <a:srgbClr val="EFE8DD"/>
          </a:solidFill>
          <a:ln xmlns:a="http://schemas.openxmlformats.org/drawingml/2006/main" w="9525">
            <a:solidFill>
              <a:srgbClr val="D9D2C7"/>
            </a:solidFill>
            <a:prstDash val="solid"/>
          </a:ln>
        </p:spPr>
      </p:sp>
      <p:sp>
        <p:nvSpPr>
          <p:cNvPr id="2" name="">
            <a:extLst xmlns:a="http://schemas.openxmlformats.org/drawingml/2006/main">
              <a:ext uri="{FF2B5EF4-FFF2-40B4-BE49-F238E27FC236}">
                <a16:creationId xmlns:a16="http://schemas.microsoft.com/office/drawing/2014/main" id="{CBACC180-FBF0-4EE3-98B8-C4202608047D}"/>
              </a:ext>
            </a:extLst>
          </p:cNvPr>
          <p:cNvSpPr>
            <a:spLocks xmlns:a="http://schemas.openxmlformats.org/drawingml/2006/main" noGrp="1"/>
          </p:cNvSpPr>
          <p:nvPr/>
        </p:nvSpPr>
        <p:spPr>
          <a:xfrm xmlns:a="http://schemas.openxmlformats.org/drawingml/2006/main">
            <a:off x="685800" y="1066800"/>
            <a:ext cx="1257300" cy="76200"/>
          </a:xfrm>
          <a:prstGeom xmlns:a="http://schemas.openxmlformats.org/drawingml/2006/main" prst="rect">
            <a:avLst/>
          </a:prstGeom>
          <a:solidFill xmlns:a="http://schemas.openxmlformats.org/drawingml/2006/main">
            <a:srgbClr val="C65A3D"/>
          </a:solidFill>
          <a:ln xmlns:a="http://schemas.openxmlformats.org/drawingml/2006/main" w="0">
            <a:solidFill>
              <a:srgbClr val="C65A3D"/>
            </a:solidFill>
            <a:prstDash val="solid"/>
          </a:ln>
        </p:spPr>
      </p:sp>
      <p:sp>
        <p:nvSpPr>
          <p:cNvPr id="3" name="">
            <a:extLst xmlns:a="http://schemas.openxmlformats.org/drawingml/2006/main">
              <a:ext uri="{FF2B5EF4-FFF2-40B4-BE49-F238E27FC236}">
                <a16:creationId xmlns:a16="http://schemas.microsoft.com/office/drawing/2014/main" id="{2E300945-5BA9-43E3-AFFC-750395B7ACFA}"/>
              </a:ext>
            </a:extLst>
          </p:cNvPr>
          <p:cNvSpPr>
            <a:spLocks xmlns:a="http://schemas.openxmlformats.org/drawingml/2006/main" noGrp="1"/>
          </p:cNvSpPr>
          <p:nvPr/>
        </p:nvSpPr>
        <p:spPr>
          <a:xfrm xmlns:a="http://schemas.openxmlformats.org/drawingml/2006/main">
            <a:off x="685800" y="1447800"/>
            <a:ext cx="5905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300" b="1">
                <a:solidFill>
                  <a:srgbClr val="132A3A"/>
                </a:solidFill>
              </a:defRPr>
            </a:pPr>
            <a:r>
              <a:rPr sz="3300" b="1">
                <a:solidFill>
                  <a:srgbClr val="132A3A"/>
                </a:solidFill>
              </a:rPr>
              <a:t>Peut-on recommander sans inventer ?</a:t>
            </a:r>
          </a:p>
        </p:txBody>
      </p:sp>
      <p:sp>
        <p:nvSpPr>
          <p:cNvPr id="4" name="">
            <a:extLst xmlns:a="http://schemas.openxmlformats.org/drawingml/2006/main">
              <a:ext uri="{FF2B5EF4-FFF2-40B4-BE49-F238E27FC236}">
                <a16:creationId xmlns:a16="http://schemas.microsoft.com/office/drawing/2014/main" id="{59D88034-CCCB-4F66-962D-DABFD1BFAEEB}"/>
              </a:ext>
            </a:extLst>
          </p:cNvPr>
          <p:cNvSpPr>
            <a:spLocks xmlns:a="http://schemas.openxmlformats.org/drawingml/2006/main" noGrp="1"/>
          </p:cNvSpPr>
          <p:nvPr/>
        </p:nvSpPr>
        <p:spPr>
          <a:xfrm xmlns:a="http://schemas.openxmlformats.org/drawingml/2006/main">
            <a:off x="685800" y="3429000"/>
            <a:ext cx="5334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5F6B73"/>
                </a:solidFill>
              </a:defRPr>
            </a:pPr>
            <a:r>
              <a:rPr sz="1575" b="0">
                <a:solidFill>
                  <a:srgbClr val="5F6B73"/>
                </a:solidFill>
              </a:rPr>
              <a:t>Le POC RAG de Puls-Events apporte des réponses culturelles vérifiables.</a:t>
            </a:r>
          </a:p>
        </p:txBody>
      </p:sp>
      <p:sp>
        <p:nvSpPr>
          <p:cNvPr id="5" name="">
            <a:extLst xmlns:a="http://schemas.openxmlformats.org/drawingml/2006/main">
              <a:ext uri="{FF2B5EF4-FFF2-40B4-BE49-F238E27FC236}">
                <a16:creationId xmlns:a16="http://schemas.microsoft.com/office/drawing/2014/main" id="{C7A38340-9E74-49C3-8B70-7C03ADA4D9F2}"/>
              </a:ext>
            </a:extLst>
          </p:cNvPr>
          <p:cNvSpPr>
            <a:spLocks xmlns:a="http://schemas.openxmlformats.org/drawingml/2006/main" noGrp="1"/>
          </p:cNvSpPr>
          <p:nvPr/>
        </p:nvSpPr>
        <p:spPr>
          <a:xfrm xmlns:a="http://schemas.openxmlformats.org/drawingml/2006/main">
            <a:off x="685800" y="533400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0B6B69"/>
                </a:solidFill>
              </a:defRPr>
            </a:pPr>
            <a:r>
              <a:rPr sz="975" b="1">
                <a:solidFill>
                  <a:srgbClr val="0B6B69"/>
                </a:solidFill>
              </a:rPr>
              <a:t>Soutenance · reprise</a:t>
            </a:r>
          </a:p>
        </p:txBody>
      </p:sp>
      <p:sp>
        <p:nvSpPr>
          <p:cNvPr id="6" name="">
            <a:extLst xmlns:a="http://schemas.openxmlformats.org/drawingml/2006/main">
              <a:ext uri="{FF2B5EF4-FFF2-40B4-BE49-F238E27FC236}">
                <a16:creationId xmlns:a16="http://schemas.microsoft.com/office/drawing/2014/main" id="{07AD294F-21FE-40DE-814B-88C080E516F6}"/>
              </a:ext>
            </a:extLst>
          </p:cNvPr>
          <p:cNvSpPr>
            <a:spLocks xmlns:a="http://schemas.openxmlformats.org/drawingml/2006/main" noGrp="1"/>
          </p:cNvSpPr>
          <p:nvPr/>
        </p:nvSpPr>
        <p:spPr>
          <a:xfrm xmlns:a="http://schemas.openxmlformats.org/drawingml/2006/main">
            <a:off x="7696200" y="1009650"/>
            <a:ext cx="304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132A3A"/>
                </a:solidFill>
              </a:defRPr>
            </a:pPr>
            <a:r>
              <a:rPr sz="1350" b="1">
                <a:solidFill>
                  <a:srgbClr val="132A3A"/>
                </a:solidFill>
              </a:rPr>
              <a:t>Preuves apportées</a:t>
            </a:r>
          </a:p>
        </p:txBody>
      </p:sp>
      <p:sp>
        <p:nvSpPr>
          <p:cNvPr id="7" name="">
            <a:extLst xmlns:a="http://schemas.openxmlformats.org/drawingml/2006/main">
              <a:ext uri="{FF2B5EF4-FFF2-40B4-BE49-F238E27FC236}">
                <a16:creationId xmlns:a16="http://schemas.microsoft.com/office/drawing/2014/main" id="{AFB8D6A6-BF3E-4E7A-9F25-83C7491A257F}"/>
              </a:ext>
            </a:extLst>
          </p:cNvPr>
          <p:cNvSpPr>
            <a:spLocks xmlns:a="http://schemas.openxmlformats.org/drawingml/2006/main" noGrp="1"/>
          </p:cNvSpPr>
          <p:nvPr/>
        </p:nvSpPr>
        <p:spPr>
          <a:xfrm xmlns:a="http://schemas.openxmlformats.org/drawingml/2006/main">
            <a:off x="7696200" y="1657350"/>
            <a:ext cx="3048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b="1">
                <a:solidFill>
                  <a:srgbClr val="132A3A"/>
                </a:solidFill>
              </a:defRPr>
            </a:pPr>
            <a:r>
              <a:rPr sz="1950" b="1">
                <a:solidFill>
                  <a:srgbClr val="132A3A"/>
                </a:solidFill>
              </a:rPr>
              <a:t>7 586</a:t>
            </a:r>
          </a:p>
          <a:p xmlns:a="http://schemas.openxmlformats.org/drawingml/2006/main">
            <a:pPr>
              <a:defRPr sz="1950" b="1">
                <a:solidFill>
                  <a:srgbClr val="132A3A"/>
                </a:solidFill>
              </a:defRPr>
            </a:pPr>
            <a:r>
              <a:rPr sz="1950" b="1">
                <a:solidFill>
                  <a:srgbClr val="132A3A"/>
                </a:solidFill>
              </a:rPr>
              <a:t>événements</a:t>
            </a:r>
          </a:p>
          <a:p xmlns:a="http://schemas.openxmlformats.org/drawingml/2006/main">
            <a:pPr>
              <a:buNone/>
              <a:defRPr sz="1575" b="1">
                <a:solidFill>
                  <a:srgbClr val="132A3A"/>
                </a:solidFill>
              </a:defRPr>
            </a:pPr>
            <a:r>
              <a:rPr sz="1575" b="1">
                <a:solidFill>
                  <a:srgbClr val="132A3A"/>
                </a:solidFill>
              </a:rPr>
              <a:t/>
            </a:r>
          </a:p>
          <a:p xmlns:a="http://schemas.openxmlformats.org/drawingml/2006/main">
            <a:pPr>
              <a:defRPr sz="1950" b="1">
                <a:solidFill>
                  <a:srgbClr val="132A3A"/>
                </a:solidFill>
              </a:defRPr>
            </a:pPr>
            <a:r>
              <a:rPr sz="1950" b="1">
                <a:solidFill>
                  <a:srgbClr val="132A3A"/>
                </a:solidFill>
              </a:rPr>
              <a:t>14 903</a:t>
            </a:r>
          </a:p>
          <a:p xmlns:a="http://schemas.openxmlformats.org/drawingml/2006/main">
            <a:pPr>
              <a:buNone/>
              <a:defRPr sz="1950" b="1">
                <a:solidFill>
                  <a:srgbClr val="132A3A"/>
                </a:solidFill>
              </a:defRPr>
            </a:pPr>
            <a:r>
              <a:rPr sz="1950" b="1">
                <a:solidFill>
                  <a:srgbClr val="132A3A"/>
                </a:solidFill>
              </a:rPr>
              <a:t>passages</a:t>
            </a:r>
          </a:p>
          <a:p xmlns:a="http://schemas.openxmlformats.org/drawingml/2006/main">
            <a:r>
              <a:t/>
            </a:r>
          </a:p>
          <a:p xmlns:a="http://schemas.openxmlformats.org/drawingml/2006/main">
            <a:pPr>
              <a:buNone/>
              <a:defRPr sz="1950" b="1">
                <a:solidFill>
                  <a:srgbClr val="132A3A"/>
                </a:solidFill>
              </a:defRPr>
            </a:pPr>
            <a:r>
              <a:rPr sz="1950" b="1">
                <a:solidFill>
                  <a:srgbClr val="132A3A"/>
                </a:solidFill>
              </a:rPr>
              <a:t>59 tests</a:t>
            </a:r>
          </a:p>
        </p:txBody>
      </p:sp>
      <p:sp>
        <p:nvSpPr>
          <p:cNvPr id="8" name="">
            <a:extLst xmlns:a="http://schemas.openxmlformats.org/drawingml/2006/main">
              <a:ext uri="{FF2B5EF4-FFF2-40B4-BE49-F238E27FC236}">
                <a16:creationId xmlns:a16="http://schemas.microsoft.com/office/drawing/2014/main" id="{FA862DC8-0C9E-4740-BBBD-B779A578A09B}"/>
              </a:ext>
            </a:extLst>
          </p:cNvPr>
          <p:cNvSpPr>
            <a:spLocks xmlns:a="http://schemas.openxmlformats.org/drawingml/2006/main" noGrp="1"/>
          </p:cNvSpPr>
          <p:nvPr/>
        </p:nvSpPr>
        <p:spPr>
          <a:xfrm xmlns:a="http://schemas.openxmlformats.org/drawingml/2006/main">
            <a:off x="7696200" y="49530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B6B69"/>
                </a:solidFill>
              </a:defRPr>
            </a:pPr>
            <a:r>
              <a:rPr sz="1500" b="1">
                <a:solidFill>
                  <a:srgbClr val="0B6B69"/>
                </a:solidFill>
              </a:rPr>
              <a:t>Décision : un pilote mesuré.</a:t>
            </a:r>
          </a:p>
        </p:txBody>
      </p:sp>
    </p:spTree>
    <p:extLst>
      <p:ext uri="{BB962C8B-B14F-4D97-AF65-F5344CB8AC3E}">
        <p14:creationId xmlns:p14="http://schemas.microsoft.com/office/powerpoint/2010/main" val="1699876042"/>
      </p:ext>
    </p:extLst>
  </p:cSld>
</p:sld>
</file>

<file path=ppt/slides/slide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5427E9A-C408-469B-A500-CF881679D8AC}"/>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CONTEXTE</a:t>
            </a:r>
          </a:p>
        </p:txBody>
      </p:sp>
      <p:sp>
        <p:nvSpPr>
          <p:cNvPr id="2" name="">
            <a:extLst xmlns:a="http://schemas.openxmlformats.org/drawingml/2006/main">
              <a:ext uri="{FF2B5EF4-FFF2-40B4-BE49-F238E27FC236}">
                <a16:creationId xmlns:a16="http://schemas.microsoft.com/office/drawing/2014/main" id="{394CA8E5-D839-4D58-A036-AA8E0DCED790}"/>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02</a:t>
            </a:r>
          </a:p>
        </p:txBody>
      </p:sp>
      <p:sp>
        <p:nvSpPr>
          <p:cNvPr id="3" name="">
            <a:extLst xmlns:a="http://schemas.openxmlformats.org/drawingml/2006/main">
              <a:ext uri="{FF2B5EF4-FFF2-40B4-BE49-F238E27FC236}">
                <a16:creationId xmlns:a16="http://schemas.microsoft.com/office/drawing/2014/main" id="{75AB4B7E-BFC8-4305-A584-4D56C5962510}"/>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Le RAG rend chaque recommandation vérifiable</a:t>
            </a:r>
          </a:p>
        </p:txBody>
      </p:sp>
      <p:sp>
        <p:nvSpPr>
          <p:cNvPr id="4" name="">
            <a:extLst xmlns:a="http://schemas.openxmlformats.org/drawingml/2006/main">
              <a:ext uri="{FF2B5EF4-FFF2-40B4-BE49-F238E27FC236}">
                <a16:creationId xmlns:a16="http://schemas.microsoft.com/office/drawing/2014/main" id="{BF6C9193-C629-4CA3-83E6-5A1E64A5F42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Le bon compromis : comprendre la demande sans inventer un événement.</a:t>
            </a:r>
          </a:p>
        </p:txBody>
      </p:sp>
      <p:sp>
        <p:nvSpPr>
          <p:cNvPr id="5" name="">
            <a:extLst xmlns:a="http://schemas.openxmlformats.org/drawingml/2006/main">
              <a:ext uri="{FF2B5EF4-FFF2-40B4-BE49-F238E27FC236}">
                <a16:creationId xmlns:a16="http://schemas.microsoft.com/office/drawing/2014/main" id="{FFEBEF6B-1B0D-4632-AC0B-32BB22E2522D}"/>
              </a:ext>
            </a:extLst>
          </p:cNvPr>
          <p:cNvSpPr>
            <a:spLocks xmlns:a="http://schemas.openxmlformats.org/drawingml/2006/main" noGrp="1"/>
          </p:cNvSpPr>
          <p:nvPr/>
        </p:nvSpPr>
        <p:spPr>
          <a:xfrm xmlns:a="http://schemas.openxmlformats.org/drawingml/2006/main">
            <a:off x="685800" y="2076450"/>
            <a:ext cx="3238500" cy="3429000"/>
          </a:xfrm>
          <a:prstGeom xmlns:a="http://schemas.openxmlformats.org/drawingml/2006/main" prst="roundRect">
            <a:avLst>
              <a:gd name="adj" fmla="val 4706"/>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42EA710F-63E5-4197-BC97-D261407EEFC5}"/>
              </a:ext>
            </a:extLst>
          </p:cNvPr>
          <p:cNvSpPr>
            <a:spLocks xmlns:a="http://schemas.openxmlformats.org/drawingml/2006/main" noGrp="1"/>
          </p:cNvSpPr>
          <p:nvPr/>
        </p:nvSpPr>
        <p:spPr>
          <a:xfrm xmlns:a="http://schemas.openxmlformats.org/drawingml/2006/main">
            <a:off x="914400" y="226695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1 · Mots-clés</a:t>
            </a:r>
          </a:p>
        </p:txBody>
      </p:sp>
      <p:sp>
        <p:nvSpPr>
          <p:cNvPr id="7" name="">
            <a:extLst xmlns:a="http://schemas.openxmlformats.org/drawingml/2006/main">
              <a:ext uri="{FF2B5EF4-FFF2-40B4-BE49-F238E27FC236}">
                <a16:creationId xmlns:a16="http://schemas.microsoft.com/office/drawing/2014/main" id="{D8C809EA-4868-451D-94B2-473DD0890068}"/>
              </a:ext>
            </a:extLst>
          </p:cNvPr>
          <p:cNvSpPr>
            <a:spLocks xmlns:a="http://schemas.openxmlformats.org/drawingml/2006/main" noGrp="1"/>
          </p:cNvSpPr>
          <p:nvPr/>
        </p:nvSpPr>
        <p:spPr>
          <a:xfrm xmlns:a="http://schemas.openxmlformats.org/drawingml/2006/main">
            <a:off x="914400" y="2686050"/>
            <a:ext cx="2781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0">
                <a:solidFill>
                  <a:srgbClr val="132A3A"/>
                </a:solidFill>
              </a:defRPr>
            </a:pPr>
            <a:r>
              <a:rPr sz="1875" b="0">
                <a:solidFill>
                  <a:srgbClr val="132A3A"/>
                </a:solidFill>
              </a:rPr>
              <a:t>Trouve un mot</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75" b="0">
                <a:solidFill>
                  <a:srgbClr val="132A3A"/>
                </a:solidFill>
              </a:defRPr>
            </a:pPr>
            <a:r>
              <a:rPr sz="1875" b="0">
                <a:solidFill>
                  <a:srgbClr val="132A3A"/>
                </a:solidFill>
              </a:rPr>
              <a:t>mais rate</a:t>
            </a:r>
          </a:p>
          <a:p xmlns:a="http://schemas.openxmlformats.org/drawingml/2006/main">
            <a:pPr>
              <a:buNone/>
              <a:defRPr sz="1875" b="0">
                <a:solidFill>
                  <a:srgbClr val="132A3A"/>
                </a:solidFill>
              </a:defRPr>
            </a:pPr>
            <a:r>
              <a:rPr sz="1875" b="0">
                <a:solidFill>
                  <a:srgbClr val="132A3A"/>
                </a:solidFill>
              </a:rPr>
              <a:t>l’intention</a:t>
            </a:r>
          </a:p>
        </p:txBody>
      </p:sp>
      <p:sp>
        <p:nvSpPr>
          <p:cNvPr id="8" name="">
            <a:extLst xmlns:a="http://schemas.openxmlformats.org/drawingml/2006/main">
              <a:ext uri="{FF2B5EF4-FFF2-40B4-BE49-F238E27FC236}">
                <a16:creationId xmlns:a16="http://schemas.microsoft.com/office/drawing/2014/main" id="{0802D925-0BC5-45D2-B4A2-33A7BF367229}"/>
              </a:ext>
            </a:extLst>
          </p:cNvPr>
          <p:cNvSpPr>
            <a:spLocks xmlns:a="http://schemas.openxmlformats.org/drawingml/2006/main" noGrp="1"/>
          </p:cNvSpPr>
          <p:nvPr/>
        </p:nvSpPr>
        <p:spPr>
          <a:xfrm xmlns:a="http://schemas.openxmlformats.org/drawingml/2006/main">
            <a:off x="4152900" y="2076450"/>
            <a:ext cx="3238500" cy="3429000"/>
          </a:xfrm>
          <a:prstGeom xmlns:a="http://schemas.openxmlformats.org/drawingml/2006/main" prst="roundRect">
            <a:avLst>
              <a:gd name="adj" fmla="val 4706"/>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AEBED723-EBD9-4558-BFDC-7A0843C4F0C1}"/>
              </a:ext>
            </a:extLst>
          </p:cNvPr>
          <p:cNvSpPr>
            <a:spLocks xmlns:a="http://schemas.openxmlformats.org/drawingml/2006/main" noGrp="1"/>
          </p:cNvSpPr>
          <p:nvPr/>
        </p:nvSpPr>
        <p:spPr>
          <a:xfrm xmlns:a="http://schemas.openxmlformats.org/drawingml/2006/main">
            <a:off x="4381500" y="226695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2 · LLM seul</a:t>
            </a:r>
          </a:p>
        </p:txBody>
      </p:sp>
      <p:sp>
        <p:nvSpPr>
          <p:cNvPr id="10" name="">
            <a:extLst xmlns:a="http://schemas.openxmlformats.org/drawingml/2006/main">
              <a:ext uri="{FF2B5EF4-FFF2-40B4-BE49-F238E27FC236}">
                <a16:creationId xmlns:a16="http://schemas.microsoft.com/office/drawing/2014/main" id="{870E56DA-44A9-49EB-B8F9-973430AFE07C}"/>
              </a:ext>
            </a:extLst>
          </p:cNvPr>
          <p:cNvSpPr>
            <a:spLocks xmlns:a="http://schemas.openxmlformats.org/drawingml/2006/main" noGrp="1"/>
          </p:cNvSpPr>
          <p:nvPr/>
        </p:nvSpPr>
        <p:spPr>
          <a:xfrm xmlns:a="http://schemas.openxmlformats.org/drawingml/2006/main">
            <a:off x="4381500" y="2686050"/>
            <a:ext cx="2781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0">
                <a:solidFill>
                  <a:srgbClr val="132A3A"/>
                </a:solidFill>
              </a:defRPr>
            </a:pPr>
            <a:r>
              <a:rPr sz="1875" b="0">
                <a:solidFill>
                  <a:srgbClr val="132A3A"/>
                </a:solidFill>
              </a:rPr>
              <a:t>Réponse fluide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75" b="0">
                <a:solidFill>
                  <a:srgbClr val="132A3A"/>
                </a:solidFill>
              </a:defRPr>
            </a:pPr>
            <a:r>
              <a:rPr sz="1875" b="0">
                <a:solidFill>
                  <a:srgbClr val="132A3A"/>
                </a:solidFill>
              </a:rPr>
              <a:t>mais risque</a:t>
            </a:r>
          </a:p>
          <a:p xmlns:a="http://schemas.openxmlformats.org/drawingml/2006/main">
            <a:pPr>
              <a:buNone/>
              <a:defRPr sz="1875" b="0">
                <a:solidFill>
                  <a:srgbClr val="132A3A"/>
                </a:solidFill>
              </a:defRPr>
            </a:pPr>
            <a:r>
              <a:rPr sz="1875" b="0">
                <a:solidFill>
                  <a:srgbClr val="132A3A"/>
                </a:solidFill>
              </a:rPr>
              <a:t>d’invention</a:t>
            </a:r>
          </a:p>
        </p:txBody>
      </p:sp>
      <p:sp>
        <p:nvSpPr>
          <p:cNvPr id="11" name="">
            <a:extLst xmlns:a="http://schemas.openxmlformats.org/drawingml/2006/main">
              <a:ext uri="{FF2B5EF4-FFF2-40B4-BE49-F238E27FC236}">
                <a16:creationId xmlns:a16="http://schemas.microsoft.com/office/drawing/2014/main" id="{51671887-EEE7-4A97-8030-8CDA672F723D}"/>
              </a:ext>
            </a:extLst>
          </p:cNvPr>
          <p:cNvSpPr>
            <a:spLocks xmlns:a="http://schemas.openxmlformats.org/drawingml/2006/main" noGrp="1"/>
          </p:cNvSpPr>
          <p:nvPr/>
        </p:nvSpPr>
        <p:spPr>
          <a:xfrm xmlns:a="http://schemas.openxmlformats.org/drawingml/2006/main">
            <a:off x="7620000" y="2076450"/>
            <a:ext cx="3886200" cy="3429000"/>
          </a:xfrm>
          <a:prstGeom xmlns:a="http://schemas.openxmlformats.org/drawingml/2006/main" prst="roundRect">
            <a:avLst>
              <a:gd name="adj" fmla="val 4444"/>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1962E5A1-6B24-4DE7-A391-D69603932CC5}"/>
              </a:ext>
            </a:extLst>
          </p:cNvPr>
          <p:cNvSpPr>
            <a:spLocks xmlns:a="http://schemas.openxmlformats.org/drawingml/2006/main" noGrp="1"/>
          </p:cNvSpPr>
          <p:nvPr/>
        </p:nvSpPr>
        <p:spPr>
          <a:xfrm xmlns:a="http://schemas.openxmlformats.org/drawingml/2006/main">
            <a:off x="7848600" y="226695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3 · RAG</a:t>
            </a:r>
          </a:p>
        </p:txBody>
      </p:sp>
      <p:sp>
        <p:nvSpPr>
          <p:cNvPr id="13" name="">
            <a:extLst xmlns:a="http://schemas.openxmlformats.org/drawingml/2006/main">
              <a:ext uri="{FF2B5EF4-FFF2-40B4-BE49-F238E27FC236}">
                <a16:creationId xmlns:a16="http://schemas.microsoft.com/office/drawing/2014/main" id="{D7146E2D-7D96-4098-B67F-592D56E8FFAD}"/>
              </a:ext>
            </a:extLst>
          </p:cNvPr>
          <p:cNvSpPr>
            <a:spLocks xmlns:a="http://schemas.openxmlformats.org/drawingml/2006/main" noGrp="1"/>
          </p:cNvSpPr>
          <p:nvPr/>
        </p:nvSpPr>
        <p:spPr>
          <a:xfrm xmlns:a="http://schemas.openxmlformats.org/drawingml/2006/main">
            <a:off x="7848600" y="2686050"/>
            <a:ext cx="34290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0B6B69"/>
                </a:solidFill>
              </a:defRPr>
            </a:pPr>
            <a:r>
              <a:rPr sz="1875" b="1">
                <a:solidFill>
                  <a:srgbClr val="0B6B69"/>
                </a:solidFill>
              </a:rPr>
              <a:t>Recherche</a:t>
            </a:r>
          </a:p>
          <a:p xmlns:a="http://schemas.openxmlformats.org/drawingml/2006/main">
            <a:pPr>
              <a:buNone/>
              <a:defRPr sz="1875" b="1">
                <a:solidFill>
                  <a:srgbClr val="0B6B69"/>
                </a:solidFill>
              </a:defRPr>
            </a:pPr>
            <a:r>
              <a:rPr sz="1875" b="1">
                <a:solidFill>
                  <a:srgbClr val="0B6B69"/>
                </a:solidFill>
              </a:rPr>
              <a:t>+ sources</a:t>
            </a:r>
          </a:p>
          <a:p xmlns:a="http://schemas.openxmlformats.org/drawingml/2006/main">
            <a:pPr>
              <a:buNone/>
              <a:defRPr sz="1875" b="1">
                <a:solidFill>
                  <a:srgbClr val="0B6B69"/>
                </a:solidFill>
              </a:defRPr>
            </a:pPr>
            <a:r>
              <a:rPr sz="1875" b="1">
                <a:solidFill>
                  <a:srgbClr val="0B6B69"/>
                </a:solidFill>
              </a:rPr>
              <a:t>= réponse fiable</a:t>
            </a:r>
          </a:p>
        </p:txBody>
      </p:sp>
    </p:spTree>
    <p:extLst>
      <p:ext uri="{BB962C8B-B14F-4D97-AF65-F5344CB8AC3E}">
        <p14:creationId xmlns:p14="http://schemas.microsoft.com/office/powerpoint/2010/main" val="756663807"/>
      </p:ext>
    </p:extLst>
  </p:cSld>
</p:sld>
</file>

<file path=ppt/slides/slide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5599F97-9507-437F-91BB-470AE53ED080}"/>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DONNÉES</a:t>
            </a:r>
          </a:p>
        </p:txBody>
      </p:sp>
      <p:sp>
        <p:nvSpPr>
          <p:cNvPr id="2" name="">
            <a:extLst xmlns:a="http://schemas.openxmlformats.org/drawingml/2006/main">
              <a:ext uri="{FF2B5EF4-FFF2-40B4-BE49-F238E27FC236}">
                <a16:creationId xmlns:a16="http://schemas.microsoft.com/office/drawing/2014/main" id="{F076215A-0EDF-485F-9B7A-08D5CEDCE47C}"/>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03</a:t>
            </a:r>
          </a:p>
        </p:txBody>
      </p:sp>
      <p:sp>
        <p:nvSpPr>
          <p:cNvPr id="3" name="">
            <a:extLst xmlns:a="http://schemas.openxmlformats.org/drawingml/2006/main">
              <a:ext uri="{FF2B5EF4-FFF2-40B4-BE49-F238E27FC236}">
                <a16:creationId xmlns:a16="http://schemas.microsoft.com/office/drawing/2014/main" id="{54B88FD5-5C21-43DB-8820-ED415170017F}"/>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Je transforme un flux brut en corpus fiable</a:t>
            </a:r>
          </a:p>
        </p:txBody>
      </p:sp>
      <p:sp>
        <p:nvSpPr>
          <p:cNvPr id="4" name="">
            <a:extLst xmlns:a="http://schemas.openxmlformats.org/drawingml/2006/main">
              <a:ext uri="{FF2B5EF4-FFF2-40B4-BE49-F238E27FC236}">
                <a16:creationId xmlns:a16="http://schemas.microsoft.com/office/drawing/2014/main" id="{77E826E4-ED2B-46F6-9F5E-6785D1C8D654}"/>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Une recommandation ne peut être fiable que si ses données sont propres et traçables.</a:t>
            </a:r>
          </a:p>
        </p:txBody>
      </p:sp>
      <p:sp>
        <p:nvSpPr>
          <p:cNvPr id="5" name="">
            <a:extLst xmlns:a="http://schemas.openxmlformats.org/drawingml/2006/main">
              <a:ext uri="{FF2B5EF4-FFF2-40B4-BE49-F238E27FC236}">
                <a16:creationId xmlns:a16="http://schemas.microsoft.com/office/drawing/2014/main" id="{53802C70-5168-436D-838B-A57E6D509302}"/>
              </a:ext>
            </a:extLst>
          </p:cNvPr>
          <p:cNvSpPr>
            <a:spLocks xmlns:a="http://schemas.openxmlformats.org/drawingml/2006/main" noGrp="1"/>
          </p:cNvSpPr>
          <p:nvPr/>
        </p:nvSpPr>
        <p:spPr>
          <a:xfrm xmlns:a="http://schemas.openxmlformats.org/drawingml/2006/main">
            <a:off x="685800" y="203835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733BB19A-2FB2-4A4D-92DA-D73B3AAF1FAB}"/>
              </a:ext>
            </a:extLst>
          </p:cNvPr>
          <p:cNvSpPr>
            <a:spLocks xmlns:a="http://schemas.openxmlformats.org/drawingml/2006/main" noGrp="1"/>
          </p:cNvSpPr>
          <p:nvPr/>
        </p:nvSpPr>
        <p:spPr>
          <a:xfrm xmlns:a="http://schemas.openxmlformats.org/drawingml/2006/main">
            <a:off x="914400" y="222885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Flux brut</a:t>
            </a:r>
          </a:p>
        </p:txBody>
      </p:sp>
      <p:sp>
        <p:nvSpPr>
          <p:cNvPr id="7" name="">
            <a:extLst xmlns:a="http://schemas.openxmlformats.org/drawingml/2006/main">
              <a:ext uri="{FF2B5EF4-FFF2-40B4-BE49-F238E27FC236}">
                <a16:creationId xmlns:a16="http://schemas.microsoft.com/office/drawing/2014/main" id="{81C0734E-3CEB-44A2-934F-BA47934E359A}"/>
              </a:ext>
            </a:extLst>
          </p:cNvPr>
          <p:cNvSpPr>
            <a:spLocks xmlns:a="http://schemas.openxmlformats.org/drawingml/2006/main" noGrp="1"/>
          </p:cNvSpPr>
          <p:nvPr/>
        </p:nvSpPr>
        <p:spPr>
          <a:xfrm xmlns:a="http://schemas.openxmlformats.org/drawingml/2006/main">
            <a:off x="914400" y="264795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0">
                <a:solidFill>
                  <a:srgbClr val="132A3A"/>
                </a:solidFill>
              </a:defRPr>
            </a:pPr>
            <a:r>
              <a:rPr sz="1875" b="0">
                <a:solidFill>
                  <a:srgbClr val="132A3A"/>
                </a:solidFill>
              </a:rPr>
              <a:t>HTML</a:t>
            </a:r>
          </a:p>
          <a:p xmlns:a="http://schemas.openxmlformats.org/drawingml/2006/main">
            <a:pPr>
              <a:buNone/>
              <a:defRPr sz="1875" b="0">
                <a:solidFill>
                  <a:srgbClr val="132A3A"/>
                </a:solidFill>
              </a:defRPr>
            </a:pPr>
            <a:r>
              <a:rPr sz="1875" b="0">
                <a:solidFill>
                  <a:srgbClr val="132A3A"/>
                </a:solidFill>
              </a:rPr>
              <a:t>champs absents</a:t>
            </a:r>
          </a:p>
          <a:p xmlns:a="http://schemas.openxmlformats.org/drawingml/2006/main">
            <a:pPr>
              <a:buNone/>
              <a:defRPr sz="1875" b="0">
                <a:solidFill>
                  <a:srgbClr val="132A3A"/>
                </a:solidFill>
              </a:defRPr>
            </a:pPr>
            <a:r>
              <a:rPr sz="1875" b="0">
                <a:solidFill>
                  <a:srgbClr val="132A3A"/>
                </a:solidFill>
              </a:rPr>
              <a:t>doublons</a:t>
            </a:r>
          </a:p>
        </p:txBody>
      </p:sp>
      <p:sp>
        <p:nvSpPr>
          <p:cNvPr id="8" name="">
            <a:extLst xmlns:a="http://schemas.openxmlformats.org/drawingml/2006/main">
              <a:ext uri="{FF2B5EF4-FFF2-40B4-BE49-F238E27FC236}">
                <a16:creationId xmlns:a16="http://schemas.microsoft.com/office/drawing/2014/main" id="{9263A723-D99E-4B4F-A872-F7881E220E4D}"/>
              </a:ext>
            </a:extLst>
          </p:cNvPr>
          <p:cNvSpPr>
            <a:spLocks xmlns:a="http://schemas.openxmlformats.org/drawingml/2006/main" noGrp="1"/>
          </p:cNvSpPr>
          <p:nvPr/>
        </p:nvSpPr>
        <p:spPr>
          <a:xfrm xmlns:a="http://schemas.openxmlformats.org/drawingml/2006/main">
            <a:off x="4381500" y="2038350"/>
            <a:ext cx="31432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CC952A90-E66D-42DA-9F84-3E0DE9D698EE}"/>
              </a:ext>
            </a:extLst>
          </p:cNvPr>
          <p:cNvSpPr>
            <a:spLocks xmlns:a="http://schemas.openxmlformats.org/drawingml/2006/main" noGrp="1"/>
          </p:cNvSpPr>
          <p:nvPr/>
        </p:nvSpPr>
        <p:spPr>
          <a:xfrm xmlns:a="http://schemas.openxmlformats.org/drawingml/2006/main">
            <a:off x="4610100" y="222885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Préparation</a:t>
            </a:r>
          </a:p>
        </p:txBody>
      </p:sp>
      <p:sp>
        <p:nvSpPr>
          <p:cNvPr id="10" name="">
            <a:extLst xmlns:a="http://schemas.openxmlformats.org/drawingml/2006/main">
              <a:ext uri="{FF2B5EF4-FFF2-40B4-BE49-F238E27FC236}">
                <a16:creationId xmlns:a16="http://schemas.microsoft.com/office/drawing/2014/main" id="{FDAE153D-6D79-4399-BECE-5D04543A69F8}"/>
              </a:ext>
            </a:extLst>
          </p:cNvPr>
          <p:cNvSpPr>
            <a:spLocks xmlns:a="http://schemas.openxmlformats.org/drawingml/2006/main" noGrp="1"/>
          </p:cNvSpPr>
          <p:nvPr/>
        </p:nvSpPr>
        <p:spPr>
          <a:xfrm xmlns:a="http://schemas.openxmlformats.org/drawingml/2006/main">
            <a:off x="4610100" y="2647950"/>
            <a:ext cx="2686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132A3A"/>
                </a:solidFill>
              </a:defRPr>
            </a:pPr>
            <a:r>
              <a:rPr sz="1725" b="0">
                <a:solidFill>
                  <a:srgbClr val="132A3A"/>
                </a:solidFill>
              </a:rPr>
              <a:t>Paris</a:t>
            </a:r>
          </a:p>
          <a:p xmlns:a="http://schemas.openxmlformats.org/drawingml/2006/main">
            <a:pPr>
              <a:buNone/>
              <a:defRPr sz="1725" b="0">
                <a:solidFill>
                  <a:srgbClr val="132A3A"/>
                </a:solidFill>
              </a:defRPr>
            </a:pPr>
            <a:r>
              <a:rPr sz="1725" b="0">
                <a:solidFill>
                  <a:srgbClr val="132A3A"/>
                </a:solidFill>
              </a:rPr>
              <a:t>&lt; 1 an</a:t>
            </a:r>
          </a:p>
          <a:p xmlns:a="http://schemas.openxmlformats.org/drawingml/2006/main">
            <a:pPr>
              <a:buNone/>
              <a:defRPr sz="1725" b="0">
                <a:solidFill>
                  <a:srgbClr val="132A3A"/>
                </a:solidFill>
              </a:defRPr>
            </a:pPr>
            <a:r>
              <a:rPr sz="1725" b="0">
                <a:solidFill>
                  <a:srgbClr val="132A3A"/>
                </a:solidFill>
              </a:rPr>
              <a:t>normaliser</a:t>
            </a:r>
          </a:p>
          <a:p xmlns:a="http://schemas.openxmlformats.org/drawingml/2006/main">
            <a:pPr>
              <a:buNone/>
              <a:defRPr sz="1725" b="0">
                <a:solidFill>
                  <a:srgbClr val="132A3A"/>
                </a:solidFill>
              </a:defRPr>
            </a:pPr>
            <a:r>
              <a:rPr sz="1725" b="0">
                <a:solidFill>
                  <a:srgbClr val="132A3A"/>
                </a:solidFill>
              </a:rPr>
              <a:t>dédupliquer</a:t>
            </a:r>
          </a:p>
        </p:txBody>
      </p:sp>
      <p:sp>
        <p:nvSpPr>
          <p:cNvPr id="11" name="">
            <a:extLst xmlns:a="http://schemas.openxmlformats.org/drawingml/2006/main">
              <a:ext uri="{FF2B5EF4-FFF2-40B4-BE49-F238E27FC236}">
                <a16:creationId xmlns:a16="http://schemas.microsoft.com/office/drawing/2014/main" id="{A42A0239-E23D-4AC5-8A6C-05A5AEE02ABB}"/>
              </a:ext>
            </a:extLst>
          </p:cNvPr>
          <p:cNvSpPr>
            <a:spLocks xmlns:a="http://schemas.openxmlformats.org/drawingml/2006/main" noGrp="1"/>
          </p:cNvSpPr>
          <p:nvPr/>
        </p:nvSpPr>
        <p:spPr>
          <a:xfrm xmlns:a="http://schemas.openxmlformats.org/drawingml/2006/main">
            <a:off x="7791450" y="2038350"/>
            <a:ext cx="37147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EE7EEB2A-D872-4A1A-8A08-E2041A25182B}"/>
              </a:ext>
            </a:extLst>
          </p:cNvPr>
          <p:cNvSpPr>
            <a:spLocks xmlns:a="http://schemas.openxmlformats.org/drawingml/2006/main" noGrp="1"/>
          </p:cNvSpPr>
          <p:nvPr/>
        </p:nvSpPr>
        <p:spPr>
          <a:xfrm xmlns:a="http://schemas.openxmlformats.org/drawingml/2006/main">
            <a:off x="8020050" y="2228850"/>
            <a:ext cx="3257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Corpus prêt</a:t>
            </a:r>
          </a:p>
        </p:txBody>
      </p:sp>
      <p:sp>
        <p:nvSpPr>
          <p:cNvPr id="13" name="">
            <a:extLst xmlns:a="http://schemas.openxmlformats.org/drawingml/2006/main">
              <a:ext uri="{FF2B5EF4-FFF2-40B4-BE49-F238E27FC236}">
                <a16:creationId xmlns:a16="http://schemas.microsoft.com/office/drawing/2014/main" id="{E703B98A-E948-4DC6-8B18-9D6E36F3E5C8}"/>
              </a:ext>
            </a:extLst>
          </p:cNvPr>
          <p:cNvSpPr>
            <a:spLocks xmlns:a="http://schemas.openxmlformats.org/drawingml/2006/main" noGrp="1"/>
          </p:cNvSpPr>
          <p:nvPr/>
        </p:nvSpPr>
        <p:spPr>
          <a:xfrm xmlns:a="http://schemas.openxmlformats.org/drawingml/2006/main">
            <a:off x="8020050" y="2647950"/>
            <a:ext cx="3257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1">
                <a:solidFill>
                  <a:srgbClr val="0B6B69"/>
                </a:solidFill>
              </a:defRPr>
            </a:pPr>
            <a:r>
              <a:rPr sz="1800" b="1">
                <a:solidFill>
                  <a:srgbClr val="0B6B69"/>
                </a:solidFill>
              </a:rPr>
              <a:t>7 586</a:t>
            </a:r>
          </a:p>
          <a:p xmlns:a="http://schemas.openxmlformats.org/drawingml/2006/main">
            <a:pPr>
              <a:buNone/>
              <a:defRPr sz="1800" b="0">
                <a:solidFill>
                  <a:srgbClr val="0B6B69"/>
                </a:solidFill>
              </a:defRPr>
            </a:pPr>
            <a:r>
              <a:rPr sz="1800" b="0">
                <a:solidFill>
                  <a:srgbClr val="0B6B69"/>
                </a:solidFill>
              </a:rPr>
              <a:t>fiches fiables</a:t>
            </a:r>
          </a:p>
          <a:p xmlns:a="http://schemas.openxmlformats.org/drawingml/2006/main">
            <a:pPr>
              <a:buNone/>
              <a:defRPr sz="1500" b="1">
                <a:solidFill>
                  <a:srgbClr val="0B6B69"/>
                </a:solidFill>
              </a:defRPr>
            </a:pPr>
            <a:r>
              <a:rPr sz="1500" b="1">
                <a:solidFill>
                  <a:srgbClr val="0B6B69"/>
                </a:solidFill>
              </a:rPr>
              <a:t/>
            </a:r>
          </a:p>
          <a:p xmlns:a="http://schemas.openxmlformats.org/drawingml/2006/main">
            <a:pPr>
              <a:buNone/>
              <a:defRPr sz="1800" b="1">
                <a:solidFill>
                  <a:srgbClr val="0B6B69"/>
                </a:solidFill>
              </a:defRPr>
            </a:pPr>
            <a:r>
              <a:rPr sz="1800" b="1">
                <a:solidFill>
                  <a:srgbClr val="0B6B69"/>
                </a:solidFill>
              </a:rPr>
              <a:t>+ métadonnées</a:t>
            </a:r>
          </a:p>
          <a:p xmlns:a="http://schemas.openxmlformats.org/drawingml/2006/main">
            <a:pPr>
              <a:buNone/>
              <a:defRPr sz="1800" b="1">
                <a:solidFill>
                  <a:srgbClr val="0B6B69"/>
                </a:solidFill>
              </a:defRPr>
            </a:pPr>
            <a:r>
              <a:rPr sz="1800" b="1">
                <a:solidFill>
                  <a:srgbClr val="0B6B69"/>
                </a:solidFill>
              </a:rPr>
              <a:t>source</a:t>
            </a:r>
          </a:p>
        </p:txBody>
      </p:sp>
    </p:spTree>
    <p:extLst>
      <p:ext uri="{BB962C8B-B14F-4D97-AF65-F5344CB8AC3E}">
        <p14:creationId xmlns:p14="http://schemas.microsoft.com/office/powerpoint/2010/main" val="2051824030"/>
      </p:ext>
    </p:extLst>
  </p:cSld>
</p:sld>
</file>

<file path=ppt/slides/slide4.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A37F2B-8E49-4163-AC13-5D45D2AB8AA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INDEXATION</a:t>
            </a:r>
          </a:p>
        </p:txBody>
      </p:sp>
      <p:sp>
        <p:nvSpPr>
          <p:cNvPr id="2" name="">
            <a:extLst xmlns:a="http://schemas.openxmlformats.org/drawingml/2006/main">
              <a:ext uri="{FF2B5EF4-FFF2-40B4-BE49-F238E27FC236}">
                <a16:creationId xmlns:a16="http://schemas.microsoft.com/office/drawing/2014/main" id="{CE11DAE8-8574-4FFF-843B-0957D8352717}"/>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04</a:t>
            </a:r>
          </a:p>
        </p:txBody>
      </p:sp>
      <p:sp>
        <p:nvSpPr>
          <p:cNvPr id="3" name="">
            <a:extLst xmlns:a="http://schemas.openxmlformats.org/drawingml/2006/main">
              <a:ext uri="{FF2B5EF4-FFF2-40B4-BE49-F238E27FC236}">
                <a16:creationId xmlns:a16="http://schemas.microsoft.com/office/drawing/2014/main" id="{AFD10E79-8E75-46E8-9E10-425C25C3336F}"/>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Un événement long devient un contexte précis</a:t>
            </a:r>
          </a:p>
        </p:txBody>
      </p:sp>
      <p:sp>
        <p:nvSpPr>
          <p:cNvPr id="4" name="">
            <a:extLst xmlns:a="http://schemas.openxmlformats.org/drawingml/2006/main">
              <a:ext uri="{FF2B5EF4-FFF2-40B4-BE49-F238E27FC236}">
                <a16:creationId xmlns:a16="http://schemas.microsoft.com/office/drawing/2014/main" id="{DEF3B513-9DAD-4587-AFE5-E7481CAFD473}"/>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Zoom sur CHIMERE : la recherche porte sur les passages pertinents, pas sur 10 273 caractères d’un bloc.</a:t>
            </a:r>
          </a:p>
        </p:txBody>
      </p:sp>
      <p:sp>
        <p:nvSpPr>
          <p:cNvPr id="5" name="">
            <a:extLst xmlns:a="http://schemas.openxmlformats.org/drawingml/2006/main">
              <a:ext uri="{FF2B5EF4-FFF2-40B4-BE49-F238E27FC236}">
                <a16:creationId xmlns:a16="http://schemas.microsoft.com/office/drawing/2014/main" id="{C13FF72F-2FF5-403C-A428-C096AE018A9C}"/>
              </a:ext>
            </a:extLst>
          </p:cNvPr>
          <p:cNvSpPr>
            <a:spLocks xmlns:a="http://schemas.openxmlformats.org/drawingml/2006/main" noGrp="1"/>
          </p:cNvSpPr>
          <p:nvPr/>
        </p:nvSpPr>
        <p:spPr>
          <a:xfrm xmlns:a="http://schemas.openxmlformats.org/drawingml/2006/main">
            <a:off x="685800" y="2095500"/>
            <a:ext cx="3429000" cy="3048000"/>
          </a:xfrm>
          <a:prstGeom xmlns:a="http://schemas.openxmlformats.org/drawingml/2006/main" prst="roundRect">
            <a:avLst>
              <a:gd name="adj" fmla="val 5000"/>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96FC3F3B-1A17-4228-BE36-FCA52BBC9A55}"/>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CHIMERE</a:t>
            </a:r>
          </a:p>
        </p:txBody>
      </p:sp>
      <p:sp>
        <p:nvSpPr>
          <p:cNvPr id="7" name="">
            <a:extLst xmlns:a="http://schemas.openxmlformats.org/drawingml/2006/main">
              <a:ext uri="{FF2B5EF4-FFF2-40B4-BE49-F238E27FC236}">
                <a16:creationId xmlns:a16="http://schemas.microsoft.com/office/drawing/2014/main" id="{ADB915A0-C48F-4F4A-A9E2-DB2E5B66D222}"/>
              </a:ext>
            </a:extLst>
          </p:cNvPr>
          <p:cNvSpPr>
            <a:spLocks xmlns:a="http://schemas.openxmlformats.org/drawingml/2006/main" noGrp="1"/>
          </p:cNvSpPr>
          <p:nvPr/>
        </p:nvSpPr>
        <p:spPr>
          <a:xfrm xmlns:a="http://schemas.openxmlformats.org/drawingml/2006/main">
            <a:off x="914400" y="2705100"/>
            <a:ext cx="29718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0">
                <a:solidFill>
                  <a:srgbClr val="132A3A"/>
                </a:solidFill>
              </a:defRPr>
            </a:pPr>
            <a:r>
              <a:rPr sz="1875" b="0">
                <a:solidFill>
                  <a:srgbClr val="132A3A"/>
                </a:solidFill>
              </a:rPr>
              <a:t>10 273</a:t>
            </a:r>
          </a:p>
          <a:p xmlns:a="http://schemas.openxmlformats.org/drawingml/2006/main">
            <a:pPr>
              <a:buNone/>
              <a:defRPr sz="1875" b="0">
                <a:solidFill>
                  <a:srgbClr val="132A3A"/>
                </a:solidFill>
              </a:defRPr>
            </a:pPr>
            <a:r>
              <a:rPr sz="1875" b="0">
                <a:solidFill>
                  <a:srgbClr val="132A3A"/>
                </a:solidFill>
              </a:rPr>
              <a:t>caractères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875" b="0">
                <a:solidFill>
                  <a:srgbClr val="132A3A"/>
                </a:solidFill>
              </a:defRPr>
            </a:pPr>
            <a:r>
              <a:rPr sz="1875" b="0">
                <a:solidFill>
                  <a:srgbClr val="132A3A"/>
                </a:solidFill>
              </a:rPr>
              <a:t>1 fiche</a:t>
            </a:r>
          </a:p>
          <a:p xmlns:a="http://schemas.openxmlformats.org/drawingml/2006/main">
            <a:pPr>
              <a:buNone/>
              <a:defRPr sz="1875" b="0">
                <a:solidFill>
                  <a:srgbClr val="132A3A"/>
                </a:solidFill>
              </a:defRPr>
            </a:pPr>
            <a:r>
              <a:rPr sz="1875" b="0">
                <a:solidFill>
                  <a:srgbClr val="132A3A"/>
                </a:solidFill>
              </a:rPr>
              <a:t>très longue</a:t>
            </a:r>
          </a:p>
        </p:txBody>
      </p:sp>
      <p:sp>
        <p:nvSpPr>
          <p:cNvPr id="8" name="">
            <a:extLst xmlns:a="http://schemas.openxmlformats.org/drawingml/2006/main">
              <a:ext uri="{FF2B5EF4-FFF2-40B4-BE49-F238E27FC236}">
                <a16:creationId xmlns:a16="http://schemas.microsoft.com/office/drawing/2014/main" id="{427835A3-F454-464C-A6A4-341C353F65F6}"/>
              </a:ext>
            </a:extLst>
          </p:cNvPr>
          <p:cNvSpPr>
            <a:spLocks xmlns:a="http://schemas.openxmlformats.org/drawingml/2006/main" noGrp="1"/>
          </p:cNvSpPr>
          <p:nvPr/>
        </p:nvSpPr>
        <p:spPr>
          <a:xfrm xmlns:a="http://schemas.openxmlformats.org/drawingml/2006/main">
            <a:off x="4381500" y="2095500"/>
            <a:ext cx="3333750" cy="3048000"/>
          </a:xfrm>
          <a:prstGeom xmlns:a="http://schemas.openxmlformats.org/drawingml/2006/main" prst="roundRect">
            <a:avLst>
              <a:gd name="adj" fmla="val 5000"/>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56E59469-D0FB-4EB1-8546-7EAFD995F158}"/>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Découper</a:t>
            </a:r>
          </a:p>
        </p:txBody>
      </p:sp>
      <p:sp>
        <p:nvSpPr>
          <p:cNvPr id="10" name="">
            <a:extLst xmlns:a="http://schemas.openxmlformats.org/drawingml/2006/main">
              <a:ext uri="{FF2B5EF4-FFF2-40B4-BE49-F238E27FC236}">
                <a16:creationId xmlns:a16="http://schemas.microsoft.com/office/drawing/2014/main" id="{AB1CFB30-18D7-444D-8650-008DEA0AC20E}"/>
              </a:ext>
            </a:extLst>
          </p:cNvPr>
          <p:cNvSpPr>
            <a:spLocks xmlns:a="http://schemas.openxmlformats.org/drawingml/2006/main" noGrp="1"/>
          </p:cNvSpPr>
          <p:nvPr/>
        </p:nvSpPr>
        <p:spPr>
          <a:xfrm xmlns:a="http://schemas.openxmlformats.org/drawingml/2006/main">
            <a:off x="4610100" y="2705100"/>
            <a:ext cx="28765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132A3A"/>
                </a:solidFill>
              </a:defRPr>
            </a:pPr>
            <a:r>
              <a:rPr sz="1650" b="0">
                <a:solidFill>
                  <a:srgbClr val="132A3A"/>
                </a:solidFill>
              </a:rPr>
              <a:t>1 000 signes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0">
                <a:solidFill>
                  <a:srgbClr val="132A3A"/>
                </a:solidFill>
              </a:defRPr>
            </a:pPr>
            <a:r>
              <a:rPr sz="1650" b="0">
                <a:solidFill>
                  <a:srgbClr val="132A3A"/>
                </a:solidFill>
              </a:rPr>
              <a:t>200 de</a:t>
            </a:r>
          </a:p>
          <a:p xmlns:a="http://schemas.openxmlformats.org/drawingml/2006/main">
            <a:pPr>
              <a:buNone/>
              <a:defRPr sz="1650" b="0">
                <a:solidFill>
                  <a:srgbClr val="132A3A"/>
                </a:solidFill>
              </a:defRPr>
            </a:pPr>
            <a:r>
              <a:rPr sz="1650" b="0">
                <a:solidFill>
                  <a:srgbClr val="132A3A"/>
                </a:solidFill>
              </a:rPr>
              <a:t>chevauchement</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650" b="0">
                <a:solidFill>
                  <a:srgbClr val="132A3A"/>
                </a:solidFill>
              </a:defRPr>
            </a:pPr>
            <a:r>
              <a:rPr sz="1650" b="0">
                <a:solidFill>
                  <a:srgbClr val="132A3A"/>
                </a:solidFill>
              </a:rPr>
              <a:t>→ contexte gardé</a:t>
            </a:r>
          </a:p>
        </p:txBody>
      </p:sp>
      <p:sp>
        <p:nvSpPr>
          <p:cNvPr id="11" name="">
            <a:extLst xmlns:a="http://schemas.openxmlformats.org/drawingml/2006/main">
              <a:ext uri="{FF2B5EF4-FFF2-40B4-BE49-F238E27FC236}">
                <a16:creationId xmlns:a16="http://schemas.microsoft.com/office/drawing/2014/main" id="{BEC3A71D-563D-4BE4-97DE-CD35C2B39ADD}"/>
              </a:ext>
            </a:extLst>
          </p:cNvPr>
          <p:cNvSpPr>
            <a:spLocks xmlns:a="http://schemas.openxmlformats.org/drawingml/2006/main" noGrp="1"/>
          </p:cNvSpPr>
          <p:nvPr/>
        </p:nvSpPr>
        <p:spPr>
          <a:xfrm xmlns:a="http://schemas.openxmlformats.org/drawingml/2006/main">
            <a:off x="7981950" y="2095500"/>
            <a:ext cx="3524250" cy="3048000"/>
          </a:xfrm>
          <a:prstGeom xmlns:a="http://schemas.openxmlformats.org/drawingml/2006/main" prst="roundRect">
            <a:avLst>
              <a:gd name="adj" fmla="val 5000"/>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0295D68E-FA85-44E3-83E9-713266BD210C}"/>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Retrouver</a:t>
            </a:r>
          </a:p>
        </p:txBody>
      </p:sp>
      <p:sp>
        <p:nvSpPr>
          <p:cNvPr id="13" name="">
            <a:extLst xmlns:a="http://schemas.openxmlformats.org/drawingml/2006/main">
              <a:ext uri="{FF2B5EF4-FFF2-40B4-BE49-F238E27FC236}">
                <a16:creationId xmlns:a16="http://schemas.microsoft.com/office/drawing/2014/main" id="{74B2E583-FD9E-456B-A8C4-3BA732A56578}"/>
              </a:ext>
            </a:extLst>
          </p:cNvPr>
          <p:cNvSpPr>
            <a:spLocks xmlns:a="http://schemas.openxmlformats.org/drawingml/2006/main" noGrp="1"/>
          </p:cNvSpPr>
          <p:nvPr/>
        </p:nvSpPr>
        <p:spPr>
          <a:xfrm xmlns:a="http://schemas.openxmlformats.org/drawingml/2006/main">
            <a:off x="8210550" y="2705100"/>
            <a:ext cx="3067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mistral-embed</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1">
                <a:solidFill>
                  <a:srgbClr val="0B6B69"/>
                </a:solidFill>
              </a:defRPr>
            </a:pPr>
            <a:r>
              <a:rPr sz="1650" b="1">
                <a:solidFill>
                  <a:srgbClr val="0B6B69"/>
                </a:solidFill>
              </a:rPr>
              <a:t>14 903</a:t>
            </a:r>
          </a:p>
          <a:p xmlns:a="http://schemas.openxmlformats.org/drawingml/2006/main">
            <a:pPr>
              <a:buNone/>
              <a:defRPr sz="1650" b="0">
                <a:solidFill>
                  <a:srgbClr val="0B6B69"/>
                </a:solidFill>
              </a:defRPr>
            </a:pPr>
            <a:r>
              <a:rPr sz="1650" b="0">
                <a:solidFill>
                  <a:srgbClr val="0B6B69"/>
                </a:solidFill>
              </a:rPr>
              <a:t>passages FAISS</a:t>
            </a:r>
          </a:p>
          <a:p xmlns:a="http://schemas.openxmlformats.org/drawingml/2006/main">
            <a:pPr>
              <a:buNone/>
              <a:defRPr sz="1425" b="1">
                <a:solidFill>
                  <a:srgbClr val="0B6B69"/>
                </a:solidFill>
              </a:defRPr>
            </a:pPr>
            <a:r>
              <a:rPr sz="1425" b="1">
                <a:solidFill>
                  <a:srgbClr val="0B6B69"/>
                </a:solidFill>
              </a:rPr>
              <a:t/>
            </a:r>
          </a:p>
          <a:p xmlns:a="http://schemas.openxmlformats.org/drawingml/2006/main">
            <a:pPr>
              <a:buNone/>
              <a:defRPr sz="1650" b="1">
                <a:solidFill>
                  <a:srgbClr val="0B6B69"/>
                </a:solidFill>
              </a:defRPr>
            </a:pPr>
            <a:r>
              <a:rPr sz="1650" b="1">
                <a:solidFill>
                  <a:srgbClr val="0B6B69"/>
                </a:solidFill>
              </a:rPr>
              <a:t>+ date · lieu · URL</a:t>
            </a:r>
          </a:p>
        </p:txBody>
      </p:sp>
    </p:spTree>
    <p:extLst>
      <p:ext uri="{BB962C8B-B14F-4D97-AF65-F5344CB8AC3E}">
        <p14:creationId xmlns:p14="http://schemas.microsoft.com/office/powerpoint/2010/main" val="1651666983"/>
      </p:ext>
    </p:extLst>
  </p:cSld>
</p:sld>
</file>

<file path=ppt/slides/slide5.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7AEF8A-6E27-4DE0-8681-D50D5D0CFAC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FONCTIONNEMENT</a:t>
            </a:r>
          </a:p>
        </p:txBody>
      </p:sp>
      <p:sp>
        <p:nvSpPr>
          <p:cNvPr id="2" name="">
            <a:extLst xmlns:a="http://schemas.openxmlformats.org/drawingml/2006/main">
              <a:ext uri="{FF2B5EF4-FFF2-40B4-BE49-F238E27FC236}">
                <a16:creationId xmlns:a16="http://schemas.microsoft.com/office/drawing/2014/main" id="{960EA67C-39F9-42C4-974F-D78284DAB04D}"/>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05</a:t>
            </a:r>
          </a:p>
        </p:txBody>
      </p:sp>
      <p:sp>
        <p:nvSpPr>
          <p:cNvPr id="3" name="">
            <a:extLst xmlns:a="http://schemas.openxmlformats.org/drawingml/2006/main">
              <a:ext uri="{FF2B5EF4-FFF2-40B4-BE49-F238E27FC236}">
                <a16:creationId xmlns:a16="http://schemas.microsoft.com/office/drawing/2014/main" id="{E5DB1D8A-D6F2-43F0-B33F-ACC17747F4CB}"/>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La réponse est limitée à ce que les sources prouvent</a:t>
            </a:r>
          </a:p>
        </p:txBody>
      </p:sp>
      <p:sp>
        <p:nvSpPr>
          <p:cNvPr id="4" name="">
            <a:extLst xmlns:a="http://schemas.openxmlformats.org/drawingml/2006/main">
              <a:ext uri="{FF2B5EF4-FFF2-40B4-BE49-F238E27FC236}">
                <a16:creationId xmlns:a16="http://schemas.microsoft.com/office/drawing/2014/main" id="{9B76D11D-8949-4E5C-9C60-A1C877C9437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Le modèle n’invente pas le catalogue : il consulte les passages retrouvés avant de répondre.</a:t>
            </a:r>
          </a:p>
        </p:txBody>
      </p:sp>
      <p:sp>
        <p:nvSpPr>
          <p:cNvPr id="5" name="">
            <a:extLst xmlns:a="http://schemas.openxmlformats.org/drawingml/2006/main">
              <a:ext uri="{FF2B5EF4-FFF2-40B4-BE49-F238E27FC236}">
                <a16:creationId xmlns:a16="http://schemas.microsoft.com/office/drawing/2014/main" id="{944F9B7D-1FBC-4FD5-89D9-633E6EB12090}"/>
              </a:ext>
            </a:extLst>
          </p:cNvPr>
          <p:cNvSpPr>
            <a:spLocks xmlns:a="http://schemas.openxmlformats.org/drawingml/2006/main" noGrp="1"/>
          </p:cNvSpPr>
          <p:nvPr/>
        </p:nvSpPr>
        <p:spPr>
          <a:xfrm xmlns:a="http://schemas.openxmlformats.org/drawingml/2006/main">
            <a:off x="685800" y="2190750"/>
            <a:ext cx="3048000" cy="2476500"/>
          </a:xfrm>
          <a:prstGeom xmlns:a="http://schemas.openxmlformats.org/drawingml/2006/main" prst="roundRect">
            <a:avLst>
              <a:gd name="adj" fmla="val 6154"/>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6489F420-FA07-4C2B-887F-B5D0AB413B14}"/>
              </a:ext>
            </a:extLst>
          </p:cNvPr>
          <p:cNvSpPr>
            <a:spLocks xmlns:a="http://schemas.openxmlformats.org/drawingml/2006/main" noGrp="1"/>
          </p:cNvSpPr>
          <p:nvPr/>
        </p:nvSpPr>
        <p:spPr>
          <a:xfrm xmlns:a="http://schemas.openxmlformats.org/drawingml/2006/main">
            <a:off x="9144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1 · Rechercher</a:t>
            </a:r>
          </a:p>
        </p:txBody>
      </p:sp>
      <p:sp>
        <p:nvSpPr>
          <p:cNvPr id="7" name="">
            <a:extLst xmlns:a="http://schemas.openxmlformats.org/drawingml/2006/main">
              <a:ext uri="{FF2B5EF4-FFF2-40B4-BE49-F238E27FC236}">
                <a16:creationId xmlns:a16="http://schemas.microsoft.com/office/drawing/2014/main" id="{AFBCEAFD-3689-4A9E-A94C-61186B959F3D}"/>
              </a:ext>
            </a:extLst>
          </p:cNvPr>
          <p:cNvSpPr>
            <a:spLocks xmlns:a="http://schemas.openxmlformats.org/drawingml/2006/main" noGrp="1"/>
          </p:cNvSpPr>
          <p:nvPr/>
        </p:nvSpPr>
        <p:spPr>
          <a:xfrm xmlns:a="http://schemas.openxmlformats.org/drawingml/2006/main">
            <a:off x="9144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0">
                <a:solidFill>
                  <a:srgbClr val="132A3A"/>
                </a:solidFill>
              </a:defRPr>
            </a:pPr>
            <a:r>
              <a:rPr sz="1875" b="0">
                <a:solidFill>
                  <a:srgbClr val="132A3A"/>
                </a:solidFill>
              </a:rPr>
              <a:t>Question</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75" b="0">
                <a:solidFill>
                  <a:srgbClr val="132A3A"/>
                </a:solidFill>
              </a:defRPr>
            </a:pPr>
            <a:r>
              <a:rPr sz="1875" b="0">
                <a:solidFill>
                  <a:srgbClr val="132A3A"/>
                </a:solidFill>
              </a:rPr>
              <a:t>FAISS</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875" b="0">
                <a:solidFill>
                  <a:srgbClr val="132A3A"/>
                </a:solidFill>
              </a:defRPr>
            </a:pPr>
            <a:r>
              <a:rPr sz="1875" b="0">
                <a:solidFill>
                  <a:srgbClr val="132A3A"/>
                </a:solidFill>
              </a:rPr>
              <a:t>top_k = 4</a:t>
            </a:r>
          </a:p>
        </p:txBody>
      </p:sp>
      <p:sp>
        <p:nvSpPr>
          <p:cNvPr id="8" name="">
            <a:extLst xmlns:a="http://schemas.openxmlformats.org/drawingml/2006/main">
              <a:ext uri="{FF2B5EF4-FFF2-40B4-BE49-F238E27FC236}">
                <a16:creationId xmlns:a16="http://schemas.microsoft.com/office/drawing/2014/main" id="{A87E524E-9CFF-4304-A351-0A76032BC766}"/>
              </a:ext>
            </a:extLst>
          </p:cNvPr>
          <p:cNvSpPr>
            <a:spLocks xmlns:a="http://schemas.openxmlformats.org/drawingml/2006/main" noGrp="1"/>
          </p:cNvSpPr>
          <p:nvPr/>
        </p:nvSpPr>
        <p:spPr>
          <a:xfrm xmlns:a="http://schemas.openxmlformats.org/drawingml/2006/main">
            <a:off x="4572000" y="2190750"/>
            <a:ext cx="3048000" cy="2476500"/>
          </a:xfrm>
          <a:prstGeom xmlns:a="http://schemas.openxmlformats.org/drawingml/2006/main" prst="roundRect">
            <a:avLst>
              <a:gd name="adj" fmla="val 6154"/>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A5DAE871-75B4-4308-BEBF-6A3BD6EE1041}"/>
              </a:ext>
            </a:extLst>
          </p:cNvPr>
          <p:cNvSpPr>
            <a:spLocks xmlns:a="http://schemas.openxmlformats.org/drawingml/2006/main" noGrp="1"/>
          </p:cNvSpPr>
          <p:nvPr/>
        </p:nvSpPr>
        <p:spPr>
          <a:xfrm xmlns:a="http://schemas.openxmlformats.org/drawingml/2006/main">
            <a:off x="48006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2 · Encadrer</a:t>
            </a:r>
          </a:p>
        </p:txBody>
      </p:sp>
      <p:sp>
        <p:nvSpPr>
          <p:cNvPr id="10" name="">
            <a:extLst xmlns:a="http://schemas.openxmlformats.org/drawingml/2006/main">
              <a:ext uri="{FF2B5EF4-FFF2-40B4-BE49-F238E27FC236}">
                <a16:creationId xmlns:a16="http://schemas.microsoft.com/office/drawing/2014/main" id="{F2A21354-25A0-4B03-AF00-8D999066CBD5}"/>
              </a:ext>
            </a:extLst>
          </p:cNvPr>
          <p:cNvSpPr>
            <a:spLocks xmlns:a="http://schemas.openxmlformats.org/drawingml/2006/main" noGrp="1"/>
          </p:cNvSpPr>
          <p:nvPr/>
        </p:nvSpPr>
        <p:spPr>
          <a:xfrm xmlns:a="http://schemas.openxmlformats.org/drawingml/2006/main">
            <a:off x="48006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132A3A"/>
                </a:solidFill>
              </a:defRPr>
            </a:pPr>
            <a:r>
              <a:rPr sz="1575" b="0">
                <a:solidFill>
                  <a:srgbClr val="132A3A"/>
                </a:solidFill>
              </a:rPr>
              <a:t>Sources</a:t>
            </a:r>
          </a:p>
          <a:p xmlns:a="http://schemas.openxmlformats.org/drawingml/2006/main">
            <a:pPr>
              <a:buNone/>
              <a:defRPr sz="1575" b="0">
                <a:solidFill>
                  <a:srgbClr val="132A3A"/>
                </a:solidFill>
              </a:defRPr>
            </a:pPr>
            <a:r>
              <a:rPr sz="1575" b="0">
                <a:solidFill>
                  <a:srgbClr val="132A3A"/>
                </a:solidFill>
              </a:rPr>
              <a:t>titre · date · lieu</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575" b="0">
                <a:solidFill>
                  <a:srgbClr val="132A3A"/>
                </a:solidFill>
              </a:defRPr>
            </a:pPr>
            <a:r>
              <a:rPr sz="1575" b="0">
                <a:solidFill>
                  <a:srgbClr val="132A3A"/>
                </a:solidFill>
              </a:rPr>
              <a:t>Sinon :</a:t>
            </a:r>
          </a:p>
          <a:p xmlns:a="http://schemas.openxmlformats.org/drawingml/2006/main">
            <a:pPr>
              <a:buNone/>
              <a:defRPr sz="1575" b="0">
                <a:solidFill>
                  <a:srgbClr val="132A3A"/>
                </a:solidFill>
              </a:defRPr>
            </a:pPr>
            <a:r>
              <a:rPr sz="1575" b="0">
                <a:solidFill>
                  <a:srgbClr val="132A3A"/>
                </a:solidFill>
              </a:rPr>
              <a:t>« Je ne sais pas »</a:t>
            </a:r>
          </a:p>
        </p:txBody>
      </p:sp>
      <p:sp>
        <p:nvSpPr>
          <p:cNvPr id="11" name="">
            <a:extLst xmlns:a="http://schemas.openxmlformats.org/drawingml/2006/main">
              <a:ext uri="{FF2B5EF4-FFF2-40B4-BE49-F238E27FC236}">
                <a16:creationId xmlns:a16="http://schemas.microsoft.com/office/drawing/2014/main" id="{26720DFA-F5DC-4B98-952B-8FB6D3255323}"/>
              </a:ext>
            </a:extLst>
          </p:cNvPr>
          <p:cNvSpPr>
            <a:spLocks xmlns:a="http://schemas.openxmlformats.org/drawingml/2006/main" noGrp="1"/>
          </p:cNvSpPr>
          <p:nvPr/>
        </p:nvSpPr>
        <p:spPr>
          <a:xfrm xmlns:a="http://schemas.openxmlformats.org/drawingml/2006/main">
            <a:off x="8458200" y="2190750"/>
            <a:ext cx="3048000" cy="2476500"/>
          </a:xfrm>
          <a:prstGeom xmlns:a="http://schemas.openxmlformats.org/drawingml/2006/main" prst="roundRect">
            <a:avLst>
              <a:gd name="adj" fmla="val 6154"/>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BBC1187B-8855-480F-9176-CE868C0C4602}"/>
              </a:ext>
            </a:extLst>
          </p:cNvPr>
          <p:cNvSpPr>
            <a:spLocks xmlns:a="http://schemas.openxmlformats.org/drawingml/2006/main" noGrp="1"/>
          </p:cNvSpPr>
          <p:nvPr/>
        </p:nvSpPr>
        <p:spPr>
          <a:xfrm xmlns:a="http://schemas.openxmlformats.org/drawingml/2006/main">
            <a:off x="86868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3 · Répondre</a:t>
            </a:r>
          </a:p>
        </p:txBody>
      </p:sp>
      <p:sp>
        <p:nvSpPr>
          <p:cNvPr id="13" name="">
            <a:extLst xmlns:a="http://schemas.openxmlformats.org/drawingml/2006/main">
              <a:ext uri="{FF2B5EF4-FFF2-40B4-BE49-F238E27FC236}">
                <a16:creationId xmlns:a16="http://schemas.microsoft.com/office/drawing/2014/main" id="{AAEC097F-153F-4BDE-AD52-EB87BF783F10}"/>
              </a:ext>
            </a:extLst>
          </p:cNvPr>
          <p:cNvSpPr>
            <a:spLocks xmlns:a="http://schemas.openxmlformats.org/drawingml/2006/main" noGrp="1"/>
          </p:cNvSpPr>
          <p:nvPr/>
        </p:nvSpPr>
        <p:spPr>
          <a:xfrm xmlns:a="http://schemas.openxmlformats.org/drawingml/2006/main">
            <a:off x="86868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0B6B69"/>
                </a:solidFill>
              </a:defRPr>
            </a:pPr>
            <a:r>
              <a:rPr sz="1650" b="0">
                <a:solidFill>
                  <a:srgbClr val="0B6B69"/>
                </a:solidFill>
              </a:rPr>
              <a:t>Mistral Small</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650" b="0">
                <a:solidFill>
                  <a:srgbClr val="0B6B69"/>
                </a:solidFill>
              </a:defRPr>
            </a:pPr>
            <a:r>
              <a:rPr sz="1650" b="0">
                <a:solidFill>
                  <a:srgbClr val="0B6B69"/>
                </a:solidFill>
              </a:rPr>
              <a:t>T = 0,1</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650" b="0">
                <a:solidFill>
                  <a:srgbClr val="0B6B69"/>
                </a:solidFill>
              </a:defRPr>
            </a:pPr>
            <a:r>
              <a:rPr sz="1650" b="0">
                <a:solidFill>
                  <a:srgbClr val="0B6B69"/>
                </a:solidFill>
              </a:rPr>
              <a:t>français</a:t>
            </a:r>
          </a:p>
          <a:p xmlns:a="http://schemas.openxmlformats.org/drawingml/2006/main">
            <a:pPr>
              <a:buNone/>
              <a:defRPr sz="1650" b="0">
                <a:solidFill>
                  <a:srgbClr val="0B6B69"/>
                </a:solidFill>
              </a:defRPr>
            </a:pPr>
            <a:r>
              <a:rPr sz="1650" b="0">
                <a:solidFill>
                  <a:srgbClr val="0B6B69"/>
                </a:solidFill>
              </a:rPr>
              <a:t>+ liens</a:t>
            </a:r>
          </a:p>
        </p:txBody>
      </p:sp>
      <p:sp>
        <p:nvSpPr>
          <p:cNvPr id="14" name="">
            <a:extLst xmlns:a="http://schemas.openxmlformats.org/drawingml/2006/main">
              <a:ext uri="{FF2B5EF4-FFF2-40B4-BE49-F238E27FC236}">
                <a16:creationId xmlns:a16="http://schemas.microsoft.com/office/drawing/2014/main" id="{7904E6B7-37EC-4FC4-A421-DC70B12C4790}"/>
              </a:ext>
            </a:extLst>
          </p:cNvPr>
          <p:cNvSpPr>
            <a:spLocks xmlns:a="http://schemas.openxmlformats.org/drawingml/2006/main" noGrp="1"/>
          </p:cNvSpPr>
          <p:nvPr/>
        </p:nvSpPr>
        <p:spPr>
          <a:xfrm xmlns:a="http://schemas.openxmlformats.org/drawingml/2006/main">
            <a:off x="685800" y="51435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0B6B69"/>
                </a:solidFill>
              </a:defRPr>
            </a:pPr>
            <a:r>
              <a:rPr sz="1350" b="1">
                <a:solidFill>
                  <a:srgbClr val="0B6B69"/>
                </a:solidFill>
              </a:rPr>
              <a:t>Le retriever retrouve les faits. Le LLM les reformule.</a:t>
            </a:r>
          </a:p>
        </p:txBody>
      </p:sp>
    </p:spTree>
    <p:extLst>
      <p:ext uri="{BB962C8B-B14F-4D97-AF65-F5344CB8AC3E}">
        <p14:creationId xmlns:p14="http://schemas.microsoft.com/office/powerpoint/2010/main" val="416675745"/>
      </p:ext>
    </p:extLst>
  </p:cSld>
</p:sld>
</file>

<file path=ppt/slides/slide6.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8A755B4-20A8-47AA-9A29-2EED01EBF3F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ARCHITECTURE</a:t>
            </a:r>
          </a:p>
        </p:txBody>
      </p:sp>
      <p:sp>
        <p:nvSpPr>
          <p:cNvPr id="2" name="">
            <a:extLst xmlns:a="http://schemas.openxmlformats.org/drawingml/2006/main">
              <a:ext uri="{FF2B5EF4-FFF2-40B4-BE49-F238E27FC236}">
                <a16:creationId xmlns:a16="http://schemas.microsoft.com/office/drawing/2014/main" id="{FDD557EC-0B81-45FF-82DC-AFE38FB25AF2}"/>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06</a:t>
            </a:r>
          </a:p>
        </p:txBody>
      </p:sp>
      <p:sp>
        <p:nvSpPr>
          <p:cNvPr id="3" name="">
            <a:extLst xmlns:a="http://schemas.openxmlformats.org/drawingml/2006/main">
              <a:ext uri="{FF2B5EF4-FFF2-40B4-BE49-F238E27FC236}">
                <a16:creationId xmlns:a16="http://schemas.microsoft.com/office/drawing/2014/main" id="{984CA0BF-B043-491D-9FC3-81F40D4A1665}"/>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Deux temps : préparer une fois, répondre à la demande</a:t>
            </a:r>
          </a:p>
        </p:txBody>
      </p:sp>
      <p:sp>
        <p:nvSpPr>
          <p:cNvPr id="4" name="">
            <a:extLst xmlns:a="http://schemas.openxmlformats.org/drawingml/2006/main">
              <a:ext uri="{FF2B5EF4-FFF2-40B4-BE49-F238E27FC236}">
                <a16:creationId xmlns:a16="http://schemas.microsoft.com/office/drawing/2014/main" id="{2EDEC4CE-7C3D-495B-BB44-73852D343D75}"/>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La séparation hors ligne / en ligne rend le système plus rapide, testable et reproductible.</a:t>
            </a:r>
          </a:p>
        </p:txBody>
      </p:sp>
      <p:sp>
        <p:nvSpPr>
          <p:cNvPr id="5" name="">
            <a:extLst xmlns:a="http://schemas.openxmlformats.org/drawingml/2006/main">
              <a:ext uri="{FF2B5EF4-FFF2-40B4-BE49-F238E27FC236}">
                <a16:creationId xmlns:a16="http://schemas.microsoft.com/office/drawing/2014/main" id="{52A07032-CBF6-40E5-A18B-0526FF1970D7}"/>
              </a:ext>
            </a:extLst>
          </p:cNvPr>
          <p:cNvSpPr>
            <a:spLocks xmlns:a="http://schemas.openxmlformats.org/drawingml/2006/main" noGrp="1"/>
          </p:cNvSpPr>
          <p:nvPr/>
        </p:nvSpPr>
        <p:spPr>
          <a:xfrm xmlns:a="http://schemas.openxmlformats.org/drawingml/2006/main">
            <a:off x="6858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11B43258-F0FA-4D7B-B9FD-968A178DF586}"/>
              </a:ext>
            </a:extLst>
          </p:cNvPr>
          <p:cNvSpPr>
            <a:spLocks xmlns:a="http://schemas.openxmlformats.org/drawingml/2006/main" noGrp="1"/>
          </p:cNvSpPr>
          <p:nvPr/>
        </p:nvSpPr>
        <p:spPr>
          <a:xfrm xmlns:a="http://schemas.openxmlformats.org/drawingml/2006/main">
            <a:off x="9144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Collecter</a:t>
            </a:r>
          </a:p>
        </p:txBody>
      </p:sp>
      <p:sp>
        <p:nvSpPr>
          <p:cNvPr id="7" name="">
            <a:extLst xmlns:a="http://schemas.openxmlformats.org/drawingml/2006/main">
              <a:ext uri="{FF2B5EF4-FFF2-40B4-BE49-F238E27FC236}">
                <a16:creationId xmlns:a16="http://schemas.microsoft.com/office/drawing/2014/main" id="{85636DEB-28A8-43F3-B1E3-A9B60B95D280}"/>
              </a:ext>
            </a:extLst>
          </p:cNvPr>
          <p:cNvSpPr>
            <a:spLocks xmlns:a="http://schemas.openxmlformats.org/drawingml/2006/main" noGrp="1"/>
          </p:cNvSpPr>
          <p:nvPr/>
        </p:nvSpPr>
        <p:spPr>
          <a:xfrm xmlns:a="http://schemas.openxmlformats.org/drawingml/2006/main">
            <a:off x="9144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source</a:t>
            </a:r>
          </a:p>
        </p:txBody>
      </p:sp>
      <p:sp>
        <p:nvSpPr>
          <p:cNvPr id="8" name="">
            <a:extLst xmlns:a="http://schemas.openxmlformats.org/drawingml/2006/main">
              <a:ext uri="{FF2B5EF4-FFF2-40B4-BE49-F238E27FC236}">
                <a16:creationId xmlns:a16="http://schemas.microsoft.com/office/drawing/2014/main" id="{141FA870-063E-4FD7-A2CF-89B043251ADB}"/>
              </a:ext>
            </a:extLst>
          </p:cNvPr>
          <p:cNvSpPr>
            <a:spLocks xmlns:a="http://schemas.openxmlformats.org/drawingml/2006/main" noGrp="1"/>
          </p:cNvSpPr>
          <p:nvPr/>
        </p:nvSpPr>
        <p:spPr>
          <a:xfrm xmlns:a="http://schemas.openxmlformats.org/drawingml/2006/main">
            <a:off x="23050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9" name="">
            <a:extLst xmlns:a="http://schemas.openxmlformats.org/drawingml/2006/main">
              <a:ext uri="{FF2B5EF4-FFF2-40B4-BE49-F238E27FC236}">
                <a16:creationId xmlns:a16="http://schemas.microsoft.com/office/drawing/2014/main" id="{CE5A3424-2AD9-438A-9B30-09A60DA0B5E5}"/>
              </a:ext>
            </a:extLst>
          </p:cNvPr>
          <p:cNvSpPr>
            <a:spLocks xmlns:a="http://schemas.openxmlformats.org/drawingml/2006/main" noGrp="1"/>
          </p:cNvSpPr>
          <p:nvPr/>
        </p:nvSpPr>
        <p:spPr>
          <a:xfrm xmlns:a="http://schemas.openxmlformats.org/drawingml/2006/main">
            <a:off x="24193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0" name="">
            <a:extLst xmlns:a="http://schemas.openxmlformats.org/drawingml/2006/main">
              <a:ext uri="{FF2B5EF4-FFF2-40B4-BE49-F238E27FC236}">
                <a16:creationId xmlns:a16="http://schemas.microsoft.com/office/drawing/2014/main" id="{ED81376B-70EB-4C33-9D51-CCD9EFB41D72}"/>
              </a:ext>
            </a:extLst>
          </p:cNvPr>
          <p:cNvSpPr>
            <a:spLocks xmlns:a="http://schemas.openxmlformats.org/drawingml/2006/main" noGrp="1"/>
          </p:cNvSpPr>
          <p:nvPr/>
        </p:nvSpPr>
        <p:spPr>
          <a:xfrm xmlns:a="http://schemas.openxmlformats.org/drawingml/2006/main">
            <a:off x="26479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Nettoyer</a:t>
            </a:r>
          </a:p>
        </p:txBody>
      </p:sp>
      <p:sp>
        <p:nvSpPr>
          <p:cNvPr id="11" name="">
            <a:extLst xmlns:a="http://schemas.openxmlformats.org/drawingml/2006/main">
              <a:ext uri="{FF2B5EF4-FFF2-40B4-BE49-F238E27FC236}">
                <a16:creationId xmlns:a16="http://schemas.microsoft.com/office/drawing/2014/main" id="{2D37988A-79CB-4623-8FF7-F0A7D66A9CE7}"/>
              </a:ext>
            </a:extLst>
          </p:cNvPr>
          <p:cNvSpPr>
            <a:spLocks xmlns:a="http://schemas.openxmlformats.org/drawingml/2006/main" noGrp="1"/>
          </p:cNvSpPr>
          <p:nvPr/>
        </p:nvSpPr>
        <p:spPr>
          <a:xfrm xmlns:a="http://schemas.openxmlformats.org/drawingml/2006/main">
            <a:off x="26479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fiabiliser</a:t>
            </a:r>
          </a:p>
        </p:txBody>
      </p:sp>
      <p:sp>
        <p:nvSpPr>
          <p:cNvPr id="12" name="">
            <a:extLst xmlns:a="http://schemas.openxmlformats.org/drawingml/2006/main">
              <a:ext uri="{FF2B5EF4-FFF2-40B4-BE49-F238E27FC236}">
                <a16:creationId xmlns:a16="http://schemas.microsoft.com/office/drawing/2014/main" id="{971CA74E-27AC-45F0-9865-FF495207CBB1}"/>
              </a:ext>
            </a:extLst>
          </p:cNvPr>
          <p:cNvSpPr>
            <a:spLocks xmlns:a="http://schemas.openxmlformats.org/drawingml/2006/main" noGrp="1"/>
          </p:cNvSpPr>
          <p:nvPr/>
        </p:nvSpPr>
        <p:spPr>
          <a:xfrm xmlns:a="http://schemas.openxmlformats.org/drawingml/2006/main">
            <a:off x="403860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13" name="">
            <a:extLst xmlns:a="http://schemas.openxmlformats.org/drawingml/2006/main">
              <a:ext uri="{FF2B5EF4-FFF2-40B4-BE49-F238E27FC236}">
                <a16:creationId xmlns:a16="http://schemas.microsoft.com/office/drawing/2014/main" id="{FC860746-92BB-4DDB-94A7-CF64BA5F1161}"/>
              </a:ext>
            </a:extLst>
          </p:cNvPr>
          <p:cNvSpPr>
            <a:spLocks xmlns:a="http://schemas.openxmlformats.org/drawingml/2006/main" noGrp="1"/>
          </p:cNvSpPr>
          <p:nvPr/>
        </p:nvSpPr>
        <p:spPr>
          <a:xfrm xmlns:a="http://schemas.openxmlformats.org/drawingml/2006/main">
            <a:off x="41529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4" name="">
            <a:extLst xmlns:a="http://schemas.openxmlformats.org/drawingml/2006/main">
              <a:ext uri="{FF2B5EF4-FFF2-40B4-BE49-F238E27FC236}">
                <a16:creationId xmlns:a16="http://schemas.microsoft.com/office/drawing/2014/main" id="{463B9436-8D10-47E3-A888-DE73F51F6A24}"/>
              </a:ext>
            </a:extLst>
          </p:cNvPr>
          <p:cNvSpPr>
            <a:spLocks xmlns:a="http://schemas.openxmlformats.org/drawingml/2006/main" noGrp="1"/>
          </p:cNvSpPr>
          <p:nvPr/>
        </p:nvSpPr>
        <p:spPr>
          <a:xfrm xmlns:a="http://schemas.openxmlformats.org/drawingml/2006/main">
            <a:off x="43815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Indexer</a:t>
            </a:r>
          </a:p>
        </p:txBody>
      </p:sp>
      <p:sp>
        <p:nvSpPr>
          <p:cNvPr id="15" name="">
            <a:extLst xmlns:a="http://schemas.openxmlformats.org/drawingml/2006/main">
              <a:ext uri="{FF2B5EF4-FFF2-40B4-BE49-F238E27FC236}">
                <a16:creationId xmlns:a16="http://schemas.microsoft.com/office/drawing/2014/main" id="{2C92C46C-9681-465F-BFE6-DD0D96F429ED}"/>
              </a:ext>
            </a:extLst>
          </p:cNvPr>
          <p:cNvSpPr>
            <a:spLocks xmlns:a="http://schemas.openxmlformats.org/drawingml/2006/main" noGrp="1"/>
          </p:cNvSpPr>
          <p:nvPr/>
        </p:nvSpPr>
        <p:spPr>
          <a:xfrm xmlns:a="http://schemas.openxmlformats.org/drawingml/2006/main">
            <a:off x="43815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chunks</a:t>
            </a:r>
          </a:p>
          <a:p xmlns:a="http://schemas.openxmlformats.org/drawingml/2006/main">
            <a:pPr>
              <a:buNone/>
              <a:defRPr sz="1350" b="0">
                <a:solidFill>
                  <a:srgbClr val="132A3A"/>
                </a:solidFill>
              </a:defRPr>
            </a:pPr>
            <a:r>
              <a:rPr sz="1350" b="0">
                <a:solidFill>
                  <a:srgbClr val="132A3A"/>
                </a:solidFill>
              </a:rPr>
              <a:t>FAISS</a:t>
            </a:r>
          </a:p>
        </p:txBody>
      </p:sp>
      <p:sp>
        <p:nvSpPr>
          <p:cNvPr id="16" name="">
            <a:extLst xmlns:a="http://schemas.openxmlformats.org/drawingml/2006/main">
              <a:ext uri="{FF2B5EF4-FFF2-40B4-BE49-F238E27FC236}">
                <a16:creationId xmlns:a16="http://schemas.microsoft.com/office/drawing/2014/main" id="{D4905D06-F127-4E6A-B931-FAE58F517034}"/>
              </a:ext>
            </a:extLst>
          </p:cNvPr>
          <p:cNvSpPr>
            <a:spLocks xmlns:a="http://schemas.openxmlformats.org/drawingml/2006/main" noGrp="1"/>
          </p:cNvSpPr>
          <p:nvPr/>
        </p:nvSpPr>
        <p:spPr>
          <a:xfrm xmlns:a="http://schemas.openxmlformats.org/drawingml/2006/main">
            <a:off x="57721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17" name="">
            <a:extLst xmlns:a="http://schemas.openxmlformats.org/drawingml/2006/main">
              <a:ext uri="{FF2B5EF4-FFF2-40B4-BE49-F238E27FC236}">
                <a16:creationId xmlns:a16="http://schemas.microsoft.com/office/drawing/2014/main" id="{A073F971-3F43-425A-BB4E-B799A4CCE31C}"/>
              </a:ext>
            </a:extLst>
          </p:cNvPr>
          <p:cNvSpPr>
            <a:spLocks xmlns:a="http://schemas.openxmlformats.org/drawingml/2006/main" noGrp="1"/>
          </p:cNvSpPr>
          <p:nvPr/>
        </p:nvSpPr>
        <p:spPr>
          <a:xfrm xmlns:a="http://schemas.openxmlformats.org/drawingml/2006/main">
            <a:off x="58864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8" name="">
            <a:extLst xmlns:a="http://schemas.openxmlformats.org/drawingml/2006/main">
              <a:ext uri="{FF2B5EF4-FFF2-40B4-BE49-F238E27FC236}">
                <a16:creationId xmlns:a16="http://schemas.microsoft.com/office/drawing/2014/main" id="{CEDA8B0A-F681-4B0A-A0A1-1ACE427B744D}"/>
              </a:ext>
            </a:extLst>
          </p:cNvPr>
          <p:cNvSpPr>
            <a:spLocks xmlns:a="http://schemas.openxmlformats.org/drawingml/2006/main" noGrp="1"/>
          </p:cNvSpPr>
          <p:nvPr/>
        </p:nvSpPr>
        <p:spPr>
          <a:xfrm xmlns:a="http://schemas.openxmlformats.org/drawingml/2006/main">
            <a:off x="61150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Rechercher</a:t>
            </a:r>
          </a:p>
        </p:txBody>
      </p:sp>
      <p:sp>
        <p:nvSpPr>
          <p:cNvPr id="19" name="">
            <a:extLst xmlns:a="http://schemas.openxmlformats.org/drawingml/2006/main">
              <a:ext uri="{FF2B5EF4-FFF2-40B4-BE49-F238E27FC236}">
                <a16:creationId xmlns:a16="http://schemas.microsoft.com/office/drawing/2014/main" id="{BB779674-096E-4462-B02F-75366A21D4A4}"/>
              </a:ext>
            </a:extLst>
          </p:cNvPr>
          <p:cNvSpPr>
            <a:spLocks xmlns:a="http://schemas.openxmlformats.org/drawingml/2006/main" noGrp="1"/>
          </p:cNvSpPr>
          <p:nvPr/>
        </p:nvSpPr>
        <p:spPr>
          <a:xfrm xmlns:a="http://schemas.openxmlformats.org/drawingml/2006/main">
            <a:off x="61150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top_k=4</a:t>
            </a:r>
          </a:p>
        </p:txBody>
      </p:sp>
      <p:sp>
        <p:nvSpPr>
          <p:cNvPr id="20" name="">
            <a:extLst xmlns:a="http://schemas.openxmlformats.org/drawingml/2006/main">
              <a:ext uri="{FF2B5EF4-FFF2-40B4-BE49-F238E27FC236}">
                <a16:creationId xmlns:a16="http://schemas.microsoft.com/office/drawing/2014/main" id="{2A305647-2D2A-4B43-9269-F09C484E6A82}"/>
              </a:ext>
            </a:extLst>
          </p:cNvPr>
          <p:cNvSpPr>
            <a:spLocks xmlns:a="http://schemas.openxmlformats.org/drawingml/2006/main" noGrp="1"/>
          </p:cNvSpPr>
          <p:nvPr/>
        </p:nvSpPr>
        <p:spPr>
          <a:xfrm xmlns:a="http://schemas.openxmlformats.org/drawingml/2006/main">
            <a:off x="750570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21" name="">
            <a:extLst xmlns:a="http://schemas.openxmlformats.org/drawingml/2006/main">
              <a:ext uri="{FF2B5EF4-FFF2-40B4-BE49-F238E27FC236}">
                <a16:creationId xmlns:a16="http://schemas.microsoft.com/office/drawing/2014/main" id="{9D3697A3-AFB2-497D-8AE7-A89E4232ED61}"/>
              </a:ext>
            </a:extLst>
          </p:cNvPr>
          <p:cNvSpPr>
            <a:spLocks xmlns:a="http://schemas.openxmlformats.org/drawingml/2006/main" noGrp="1"/>
          </p:cNvSpPr>
          <p:nvPr/>
        </p:nvSpPr>
        <p:spPr>
          <a:xfrm xmlns:a="http://schemas.openxmlformats.org/drawingml/2006/main">
            <a:off x="76200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22" name="">
            <a:extLst xmlns:a="http://schemas.openxmlformats.org/drawingml/2006/main">
              <a:ext uri="{FF2B5EF4-FFF2-40B4-BE49-F238E27FC236}">
                <a16:creationId xmlns:a16="http://schemas.microsoft.com/office/drawing/2014/main" id="{A01F2443-CBD1-4EB6-B907-67FBC27CF317}"/>
              </a:ext>
            </a:extLst>
          </p:cNvPr>
          <p:cNvSpPr>
            <a:spLocks xmlns:a="http://schemas.openxmlformats.org/drawingml/2006/main" noGrp="1"/>
          </p:cNvSpPr>
          <p:nvPr/>
        </p:nvSpPr>
        <p:spPr>
          <a:xfrm xmlns:a="http://schemas.openxmlformats.org/drawingml/2006/main">
            <a:off x="78486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Répondre</a:t>
            </a:r>
          </a:p>
        </p:txBody>
      </p:sp>
      <p:sp>
        <p:nvSpPr>
          <p:cNvPr id="23" name="">
            <a:extLst xmlns:a="http://schemas.openxmlformats.org/drawingml/2006/main">
              <a:ext uri="{FF2B5EF4-FFF2-40B4-BE49-F238E27FC236}">
                <a16:creationId xmlns:a16="http://schemas.microsoft.com/office/drawing/2014/main" id="{9D933D90-0737-444F-A418-B887E9561B20}"/>
              </a:ext>
            </a:extLst>
          </p:cNvPr>
          <p:cNvSpPr>
            <a:spLocks xmlns:a="http://schemas.openxmlformats.org/drawingml/2006/main" noGrp="1"/>
          </p:cNvSpPr>
          <p:nvPr/>
        </p:nvSpPr>
        <p:spPr>
          <a:xfrm xmlns:a="http://schemas.openxmlformats.org/drawingml/2006/main">
            <a:off x="78486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Mistral</a:t>
            </a:r>
          </a:p>
        </p:txBody>
      </p:sp>
      <p:sp>
        <p:nvSpPr>
          <p:cNvPr id="24" name="">
            <a:extLst xmlns:a="http://schemas.openxmlformats.org/drawingml/2006/main">
              <a:ext uri="{FF2B5EF4-FFF2-40B4-BE49-F238E27FC236}">
                <a16:creationId xmlns:a16="http://schemas.microsoft.com/office/drawing/2014/main" id="{643F5472-555A-47F2-B9DB-14FBE8EF14FD}"/>
              </a:ext>
            </a:extLst>
          </p:cNvPr>
          <p:cNvSpPr>
            <a:spLocks xmlns:a="http://schemas.openxmlformats.org/drawingml/2006/main" noGrp="1"/>
          </p:cNvSpPr>
          <p:nvPr/>
        </p:nvSpPr>
        <p:spPr>
          <a:xfrm xmlns:a="http://schemas.openxmlformats.org/drawingml/2006/main">
            <a:off x="92392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25" name="">
            <a:extLst xmlns:a="http://schemas.openxmlformats.org/drawingml/2006/main">
              <a:ext uri="{FF2B5EF4-FFF2-40B4-BE49-F238E27FC236}">
                <a16:creationId xmlns:a16="http://schemas.microsoft.com/office/drawing/2014/main" id="{244DD266-A077-4512-8854-530E58EBA6D2}"/>
              </a:ext>
            </a:extLst>
          </p:cNvPr>
          <p:cNvSpPr>
            <a:spLocks xmlns:a="http://schemas.openxmlformats.org/drawingml/2006/main" noGrp="1"/>
          </p:cNvSpPr>
          <p:nvPr/>
        </p:nvSpPr>
        <p:spPr>
          <a:xfrm xmlns:a="http://schemas.openxmlformats.org/drawingml/2006/main">
            <a:off x="93535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26" name="">
            <a:extLst xmlns:a="http://schemas.openxmlformats.org/drawingml/2006/main">
              <a:ext uri="{FF2B5EF4-FFF2-40B4-BE49-F238E27FC236}">
                <a16:creationId xmlns:a16="http://schemas.microsoft.com/office/drawing/2014/main" id="{68C82329-2E7D-47B0-BDF0-2B44A827F3C2}"/>
              </a:ext>
            </a:extLst>
          </p:cNvPr>
          <p:cNvSpPr>
            <a:spLocks xmlns:a="http://schemas.openxmlformats.org/drawingml/2006/main" noGrp="1"/>
          </p:cNvSpPr>
          <p:nvPr/>
        </p:nvSpPr>
        <p:spPr>
          <a:xfrm xmlns:a="http://schemas.openxmlformats.org/drawingml/2006/main">
            <a:off x="95821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Exposer</a:t>
            </a:r>
          </a:p>
        </p:txBody>
      </p:sp>
      <p:sp>
        <p:nvSpPr>
          <p:cNvPr id="27" name="">
            <a:extLst xmlns:a="http://schemas.openxmlformats.org/drawingml/2006/main">
              <a:ext uri="{FF2B5EF4-FFF2-40B4-BE49-F238E27FC236}">
                <a16:creationId xmlns:a16="http://schemas.microsoft.com/office/drawing/2014/main" id="{8027CC64-972B-460C-B4EB-1A952FFFCA15}"/>
              </a:ext>
            </a:extLst>
          </p:cNvPr>
          <p:cNvSpPr>
            <a:spLocks xmlns:a="http://schemas.openxmlformats.org/drawingml/2006/main" noGrp="1"/>
          </p:cNvSpPr>
          <p:nvPr/>
        </p:nvSpPr>
        <p:spPr>
          <a:xfrm xmlns:a="http://schemas.openxmlformats.org/drawingml/2006/main">
            <a:off x="95821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32A3A"/>
                </a:solidFill>
              </a:defRPr>
            </a:pPr>
            <a:r>
              <a:rPr sz="1350" b="0">
                <a:solidFill>
                  <a:srgbClr val="132A3A"/>
                </a:solidFill>
              </a:rPr>
              <a:t>FastAPI</a:t>
            </a:r>
          </a:p>
        </p:txBody>
      </p:sp>
      <p:sp>
        <p:nvSpPr>
          <p:cNvPr id="28" name="">
            <a:extLst xmlns:a="http://schemas.openxmlformats.org/drawingml/2006/main">
              <a:ext uri="{FF2B5EF4-FFF2-40B4-BE49-F238E27FC236}">
                <a16:creationId xmlns:a16="http://schemas.microsoft.com/office/drawing/2014/main" id="{9F204C27-A95D-4BE0-B73D-0CB7E9C76DD3}"/>
              </a:ext>
            </a:extLst>
          </p:cNvPr>
          <p:cNvSpPr>
            <a:spLocks xmlns:a="http://schemas.openxmlformats.org/drawingml/2006/main" noGrp="1"/>
          </p:cNvSpPr>
          <p:nvPr/>
        </p:nvSpPr>
        <p:spPr>
          <a:xfrm xmlns:a="http://schemas.openxmlformats.org/drawingml/2006/main">
            <a:off x="685800" y="4953000"/>
            <a:ext cx="10820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0B6B69"/>
                </a:solidFill>
              </a:defRPr>
            </a:pPr>
            <a:r>
              <a:rPr sz="1350" b="1">
                <a:solidFill>
                  <a:srgbClr val="0B6B69"/>
                </a:solidFill>
              </a:rPr>
              <a:t>Hors ligne : données → index.  En ligne : question → réponse sourcée.</a:t>
            </a:r>
          </a:p>
        </p:txBody>
      </p:sp>
    </p:spTree>
    <p:extLst>
      <p:ext uri="{BB962C8B-B14F-4D97-AF65-F5344CB8AC3E}">
        <p14:creationId xmlns:p14="http://schemas.microsoft.com/office/powerpoint/2010/main" val="202122461"/>
      </p:ext>
    </p:extLst>
  </p:cSld>
</p:sld>
</file>

<file path=ppt/slides/slide7.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B8C8249-90EB-4866-8DEC-4876E230289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APPLICATION</a:t>
            </a:r>
          </a:p>
        </p:txBody>
      </p:sp>
      <p:sp>
        <p:nvSpPr>
          <p:cNvPr id="2" name="">
            <a:extLst xmlns:a="http://schemas.openxmlformats.org/drawingml/2006/main">
              <a:ext uri="{FF2B5EF4-FFF2-40B4-BE49-F238E27FC236}">
                <a16:creationId xmlns:a16="http://schemas.microsoft.com/office/drawing/2014/main" id="{7A686CC0-F2C0-47EA-9964-66DABDD62B65}"/>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07</a:t>
            </a:r>
          </a:p>
        </p:txBody>
      </p:sp>
      <p:sp>
        <p:nvSpPr>
          <p:cNvPr id="3" name="">
            <a:extLst xmlns:a="http://schemas.openxmlformats.org/drawingml/2006/main">
              <a:ext uri="{FF2B5EF4-FFF2-40B4-BE49-F238E27FC236}">
                <a16:creationId xmlns:a16="http://schemas.microsoft.com/office/drawing/2014/main" id="{1D2AFF95-BF31-43EA-AEC8-B71F5AAD39BC}"/>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L’API transforme la chaîne RAG en service utilisable</a:t>
            </a:r>
          </a:p>
        </p:txBody>
      </p:sp>
      <p:sp>
        <p:nvSpPr>
          <p:cNvPr id="4" name="">
            <a:extLst xmlns:a="http://schemas.openxmlformats.org/drawingml/2006/main">
              <a:ext uri="{FF2B5EF4-FFF2-40B4-BE49-F238E27FC236}">
                <a16:creationId xmlns:a16="http://schemas.microsoft.com/office/drawing/2014/main" id="{C1D7DCD9-CB86-4AA5-B3C5-A4D3E3D17F0F}"/>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Le front n’a besoin que d’une question ; l’API gère la recherche, la réponse et les sources.</a:t>
            </a:r>
          </a:p>
        </p:txBody>
      </p:sp>
      <p:sp>
        <p:nvSpPr>
          <p:cNvPr id="5" name="">
            <a:extLst xmlns:a="http://schemas.openxmlformats.org/drawingml/2006/main">
              <a:ext uri="{FF2B5EF4-FFF2-40B4-BE49-F238E27FC236}">
                <a16:creationId xmlns:a16="http://schemas.microsoft.com/office/drawing/2014/main" id="{D2D42736-FDAC-464F-835E-B1612F69AD66}"/>
              </a:ext>
            </a:extLst>
          </p:cNvPr>
          <p:cNvSpPr>
            <a:spLocks xmlns:a="http://schemas.openxmlformats.org/drawingml/2006/main" noGrp="1"/>
          </p:cNvSpPr>
          <p:nvPr/>
        </p:nvSpPr>
        <p:spPr>
          <a:xfrm xmlns:a="http://schemas.openxmlformats.org/drawingml/2006/main">
            <a:off x="685800" y="2095500"/>
            <a:ext cx="3143250" cy="3048000"/>
          </a:xfrm>
          <a:prstGeom xmlns:a="http://schemas.openxmlformats.org/drawingml/2006/main" prst="roundRect">
            <a:avLst>
              <a:gd name="adj" fmla="val 5000"/>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0D4C0BA7-51A3-47D2-BF79-18BB63E17CBE}"/>
              </a:ext>
            </a:extLst>
          </p:cNvPr>
          <p:cNvSpPr>
            <a:spLocks xmlns:a="http://schemas.openxmlformats.org/drawingml/2006/main" noGrp="1"/>
          </p:cNvSpPr>
          <p:nvPr/>
        </p:nvSpPr>
        <p:spPr>
          <a:xfrm xmlns:a="http://schemas.openxmlformats.org/drawingml/2006/main">
            <a:off x="914400" y="228600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Demander</a:t>
            </a:r>
          </a:p>
        </p:txBody>
      </p:sp>
      <p:sp>
        <p:nvSpPr>
          <p:cNvPr id="7" name="">
            <a:extLst xmlns:a="http://schemas.openxmlformats.org/drawingml/2006/main">
              <a:ext uri="{FF2B5EF4-FFF2-40B4-BE49-F238E27FC236}">
                <a16:creationId xmlns:a16="http://schemas.microsoft.com/office/drawing/2014/main" id="{61AB641E-5DC2-46CC-9431-D0692EC1C21A}"/>
              </a:ext>
            </a:extLst>
          </p:cNvPr>
          <p:cNvSpPr>
            <a:spLocks xmlns:a="http://schemas.openxmlformats.org/drawingml/2006/main" noGrp="1"/>
          </p:cNvSpPr>
          <p:nvPr/>
        </p:nvSpPr>
        <p:spPr>
          <a:xfrm xmlns:a="http://schemas.openxmlformats.org/drawingml/2006/main">
            <a:off x="914400" y="2705100"/>
            <a:ext cx="2686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132A3A"/>
                </a:solidFill>
              </a:defRPr>
            </a:pPr>
            <a:r>
              <a:rPr sz="1650" b="0">
                <a:solidFill>
                  <a:srgbClr val="132A3A"/>
                </a:solidFill>
              </a:rPr>
              <a:t>POST /ask</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0">
                <a:solidFill>
                  <a:srgbClr val="132A3A"/>
                </a:solidFill>
              </a:defRPr>
            </a:pPr>
            <a:r>
              <a:rPr sz="1650" b="0">
                <a:solidFill>
                  <a:srgbClr val="132A3A"/>
                </a:solidFill>
              </a:rPr>
              <a:t>question</a:t>
            </a:r>
          </a:p>
          <a:p xmlns:a="http://schemas.openxmlformats.org/drawingml/2006/main">
            <a:pPr>
              <a:buNone/>
              <a:defRPr sz="1650" b="0">
                <a:solidFill>
                  <a:srgbClr val="132A3A"/>
                </a:solidFill>
              </a:defRPr>
            </a:pPr>
            <a:r>
              <a:rPr sz="1650" b="0">
                <a:solidFill>
                  <a:srgbClr val="132A3A"/>
                </a:solidFill>
              </a:rPr>
              <a:t>↓</a:t>
            </a:r>
          </a:p>
          <a:p xmlns:a="http://schemas.openxmlformats.org/drawingml/2006/main">
            <a:pPr>
              <a:buNone/>
              <a:defRPr sz="1650" b="0">
                <a:solidFill>
                  <a:srgbClr val="132A3A"/>
                </a:solidFill>
              </a:defRPr>
            </a:pPr>
            <a:r>
              <a:rPr sz="1650" b="0">
                <a:solidFill>
                  <a:srgbClr val="132A3A"/>
                </a:solidFill>
              </a:rPr>
              <a:t>réponse + sources</a:t>
            </a:r>
          </a:p>
        </p:txBody>
      </p:sp>
      <p:sp>
        <p:nvSpPr>
          <p:cNvPr id="8" name="">
            <a:extLst xmlns:a="http://schemas.openxmlformats.org/drawingml/2006/main">
              <a:ext uri="{FF2B5EF4-FFF2-40B4-BE49-F238E27FC236}">
                <a16:creationId xmlns:a16="http://schemas.microsoft.com/office/drawing/2014/main" id="{0AF3C094-7DA2-40A5-8743-9376F8845F46}"/>
              </a:ext>
            </a:extLst>
          </p:cNvPr>
          <p:cNvSpPr>
            <a:spLocks xmlns:a="http://schemas.openxmlformats.org/drawingml/2006/main" noGrp="1"/>
          </p:cNvSpPr>
          <p:nvPr/>
        </p:nvSpPr>
        <p:spPr>
          <a:xfrm xmlns:a="http://schemas.openxmlformats.org/drawingml/2006/main">
            <a:off x="4095750" y="2095500"/>
            <a:ext cx="3143250" cy="3048000"/>
          </a:xfrm>
          <a:prstGeom xmlns:a="http://schemas.openxmlformats.org/drawingml/2006/main" prst="roundRect">
            <a:avLst>
              <a:gd name="adj" fmla="val 5000"/>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DADD5871-EE06-4D86-ADD2-9DE0BFDEEE38}"/>
              </a:ext>
            </a:extLst>
          </p:cNvPr>
          <p:cNvSpPr>
            <a:spLocks xmlns:a="http://schemas.openxmlformats.org/drawingml/2006/main" noGrp="1"/>
          </p:cNvSpPr>
          <p:nvPr/>
        </p:nvSpPr>
        <p:spPr>
          <a:xfrm xmlns:a="http://schemas.openxmlformats.org/drawingml/2006/main">
            <a:off x="4324350" y="228600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Vérifier</a:t>
            </a:r>
          </a:p>
        </p:txBody>
      </p:sp>
      <p:sp>
        <p:nvSpPr>
          <p:cNvPr id="10" name="">
            <a:extLst xmlns:a="http://schemas.openxmlformats.org/drawingml/2006/main">
              <a:ext uri="{FF2B5EF4-FFF2-40B4-BE49-F238E27FC236}">
                <a16:creationId xmlns:a16="http://schemas.microsoft.com/office/drawing/2014/main" id="{E27AB555-D018-4307-A638-7557081DFF29}"/>
              </a:ext>
            </a:extLst>
          </p:cNvPr>
          <p:cNvSpPr>
            <a:spLocks xmlns:a="http://schemas.openxmlformats.org/drawingml/2006/main" noGrp="1"/>
          </p:cNvSpPr>
          <p:nvPr/>
        </p:nvSpPr>
        <p:spPr>
          <a:xfrm xmlns:a="http://schemas.openxmlformats.org/drawingml/2006/main">
            <a:off x="4324350" y="2705100"/>
            <a:ext cx="2686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132A3A"/>
                </a:solidFill>
              </a:defRPr>
            </a:pPr>
            <a:r>
              <a:rPr sz="1650" b="0">
                <a:solidFill>
                  <a:srgbClr val="132A3A"/>
                </a:solidFill>
              </a:rPr>
              <a:t>GET /health</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0">
                <a:solidFill>
                  <a:srgbClr val="132A3A"/>
                </a:solidFill>
              </a:defRPr>
            </a:pPr>
            <a:r>
              <a:rPr sz="1650" b="0">
                <a:solidFill>
                  <a:srgbClr val="132A3A"/>
                </a:solidFill>
              </a:rPr>
              <a:t>index chargé</a:t>
            </a:r>
          </a:p>
          <a:p xmlns:a="http://schemas.openxmlformats.org/drawingml/2006/main">
            <a:pPr>
              <a:buNone/>
              <a:defRPr sz="1650" b="0">
                <a:solidFill>
                  <a:srgbClr val="132A3A"/>
                </a:solidFill>
              </a:defRPr>
            </a:pPr>
            <a:r>
              <a:rPr sz="1650" b="0">
                <a:solidFill>
                  <a:srgbClr val="132A3A"/>
                </a:solidFill>
              </a:rPr>
              <a:t>modèles actifs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650" b="0">
                <a:solidFill>
                  <a:srgbClr val="132A3A"/>
                </a:solidFill>
              </a:defRPr>
            </a:pPr>
            <a:r>
              <a:rPr sz="1650" b="0">
                <a:solidFill>
                  <a:srgbClr val="132A3A"/>
                </a:solidFill>
              </a:rPr>
              <a:t>/docs</a:t>
            </a:r>
          </a:p>
        </p:txBody>
      </p:sp>
      <p:sp>
        <p:nvSpPr>
          <p:cNvPr id="11" name="">
            <a:extLst xmlns:a="http://schemas.openxmlformats.org/drawingml/2006/main">
              <a:ext uri="{FF2B5EF4-FFF2-40B4-BE49-F238E27FC236}">
                <a16:creationId xmlns:a16="http://schemas.microsoft.com/office/drawing/2014/main" id="{E3CE0D93-B5BA-4B5F-837F-62BBC4D9E429}"/>
              </a:ext>
            </a:extLst>
          </p:cNvPr>
          <p:cNvSpPr>
            <a:spLocks xmlns:a="http://schemas.openxmlformats.org/drawingml/2006/main" noGrp="1"/>
          </p:cNvSpPr>
          <p:nvPr/>
        </p:nvSpPr>
        <p:spPr>
          <a:xfrm xmlns:a="http://schemas.openxmlformats.org/drawingml/2006/main">
            <a:off x="7505700" y="2095500"/>
            <a:ext cx="4000500" cy="3048000"/>
          </a:xfrm>
          <a:prstGeom xmlns:a="http://schemas.openxmlformats.org/drawingml/2006/main" prst="roundRect">
            <a:avLst>
              <a:gd name="adj" fmla="val 5000"/>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BFB39676-BFCD-4080-9244-92F2DE1F1E8C}"/>
              </a:ext>
            </a:extLst>
          </p:cNvPr>
          <p:cNvSpPr>
            <a:spLocks xmlns:a="http://schemas.openxmlformats.org/drawingml/2006/main" noGrp="1"/>
          </p:cNvSpPr>
          <p:nvPr/>
        </p:nvSpPr>
        <p:spPr>
          <a:xfrm xmlns:a="http://schemas.openxmlformats.org/drawingml/2006/main">
            <a:off x="7734300" y="2286000"/>
            <a:ext cx="3543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Lancer</a:t>
            </a:r>
          </a:p>
        </p:txBody>
      </p:sp>
      <p:sp>
        <p:nvSpPr>
          <p:cNvPr id="13" name="">
            <a:extLst xmlns:a="http://schemas.openxmlformats.org/drawingml/2006/main">
              <a:ext uri="{FF2B5EF4-FFF2-40B4-BE49-F238E27FC236}">
                <a16:creationId xmlns:a16="http://schemas.microsoft.com/office/drawing/2014/main" id="{74ED3681-BDB8-474F-A33B-4F72161180E8}"/>
              </a:ext>
            </a:extLst>
          </p:cNvPr>
          <p:cNvSpPr>
            <a:spLocks xmlns:a="http://schemas.openxmlformats.org/drawingml/2006/main" noGrp="1"/>
          </p:cNvSpPr>
          <p:nvPr/>
        </p:nvSpPr>
        <p:spPr>
          <a:xfrm xmlns:a="http://schemas.openxmlformats.org/drawingml/2006/main">
            <a:off x="7734300" y="2705100"/>
            <a:ext cx="35433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Docker</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1">
                <a:solidFill>
                  <a:srgbClr val="0B6B69"/>
                </a:solidFill>
              </a:defRPr>
            </a:pPr>
            <a:r>
              <a:rPr sz="1650" b="1">
                <a:solidFill>
                  <a:srgbClr val="0B6B69"/>
                </a:solidFill>
              </a:rPr>
              <a:t>port 8000</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1">
                <a:solidFill>
                  <a:srgbClr val="0B6B69"/>
                </a:solidFill>
              </a:defRPr>
            </a:pPr>
            <a:r>
              <a:rPr sz="1650" b="1">
                <a:solidFill>
                  <a:srgbClr val="0B6B69"/>
                </a:solidFill>
              </a:rPr>
              <a:t>secrets</a:t>
            </a:r>
          </a:p>
          <a:p xmlns:a="http://schemas.openxmlformats.org/drawingml/2006/main">
            <a:pPr>
              <a:buNone/>
              <a:defRPr sz="1650" b="0">
                <a:solidFill>
                  <a:srgbClr val="0B6B69"/>
                </a:solidFill>
              </a:defRPr>
            </a:pPr>
            <a:r>
              <a:rPr sz="1650" b="0">
                <a:solidFill>
                  <a:srgbClr val="0B6B69"/>
                </a:solidFill>
              </a:rPr>
              <a:t>hors image</a:t>
            </a:r>
          </a:p>
        </p:txBody>
      </p:sp>
    </p:spTree>
    <p:extLst>
      <p:ext uri="{BB962C8B-B14F-4D97-AF65-F5344CB8AC3E}">
        <p14:creationId xmlns:p14="http://schemas.microsoft.com/office/powerpoint/2010/main" val="634827927"/>
      </p:ext>
    </p:extLst>
  </p:cSld>
</p:sld>
</file>

<file path=ppt/slides/slide8.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9FAF232-9D63-41E2-927A-7520EFA1D6BC}"/>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DÉMONSTRATION</a:t>
            </a:r>
          </a:p>
        </p:txBody>
      </p:sp>
      <p:sp>
        <p:nvSpPr>
          <p:cNvPr id="2" name="">
            <a:extLst xmlns:a="http://schemas.openxmlformats.org/drawingml/2006/main">
              <a:ext uri="{FF2B5EF4-FFF2-40B4-BE49-F238E27FC236}">
                <a16:creationId xmlns:a16="http://schemas.microsoft.com/office/drawing/2014/main" id="{F54306D4-1395-4376-805F-ABC51B730A4C}"/>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08</a:t>
            </a:r>
          </a:p>
        </p:txBody>
      </p:sp>
      <p:sp>
        <p:nvSpPr>
          <p:cNvPr id="3" name="">
            <a:extLst xmlns:a="http://schemas.openxmlformats.org/drawingml/2006/main">
              <a:ext uri="{FF2B5EF4-FFF2-40B4-BE49-F238E27FC236}">
                <a16:creationId xmlns:a16="http://schemas.microsoft.com/office/drawing/2014/main" id="{0B3E242B-6466-45C2-8241-547930CA7B6B}"/>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La démo doit montrer une valeur et une limite</a:t>
            </a:r>
          </a:p>
        </p:txBody>
      </p:sp>
      <p:sp>
        <p:nvSpPr>
          <p:cNvPr id="4" name="">
            <a:extLst xmlns:a="http://schemas.openxmlformats.org/drawingml/2006/main">
              <a:ext uri="{FF2B5EF4-FFF2-40B4-BE49-F238E27FC236}">
                <a16:creationId xmlns:a16="http://schemas.microsoft.com/office/drawing/2014/main" id="{6ACB361E-FB15-4009-A833-4475E30ECDBA}"/>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Je vérifie autant le bon résultat que le refus prudent hors périmètre.</a:t>
            </a:r>
          </a:p>
        </p:txBody>
      </p:sp>
      <p:sp>
        <p:nvSpPr>
          <p:cNvPr id="5" name="">
            <a:extLst xmlns:a="http://schemas.openxmlformats.org/drawingml/2006/main">
              <a:ext uri="{FF2B5EF4-FFF2-40B4-BE49-F238E27FC236}">
                <a16:creationId xmlns:a16="http://schemas.microsoft.com/office/drawing/2014/main" id="{0C29A7FC-57DF-49A7-83BD-1938FD5572C6}"/>
              </a:ext>
            </a:extLst>
          </p:cNvPr>
          <p:cNvSpPr>
            <a:spLocks xmlns:a="http://schemas.openxmlformats.org/drawingml/2006/main" noGrp="1"/>
          </p:cNvSpPr>
          <p:nvPr/>
        </p:nvSpPr>
        <p:spPr>
          <a:xfrm xmlns:a="http://schemas.openxmlformats.org/drawingml/2006/main">
            <a:off x="685800" y="2095500"/>
            <a:ext cx="5143500" cy="3429000"/>
          </a:xfrm>
          <a:prstGeom xmlns:a="http://schemas.openxmlformats.org/drawingml/2006/main" prst="roundRect">
            <a:avLst>
              <a:gd name="adj" fmla="val 4444"/>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2CEC0BD5-2093-4409-88D5-821E6A4892B1}"/>
              </a:ext>
            </a:extLst>
          </p:cNvPr>
          <p:cNvSpPr>
            <a:spLocks xmlns:a="http://schemas.openxmlformats.org/drawingml/2006/main" noGrp="1"/>
          </p:cNvSpPr>
          <p:nvPr/>
        </p:nvSpPr>
        <p:spPr>
          <a:xfrm xmlns:a="http://schemas.openxmlformats.org/drawingml/2006/main">
            <a:off x="914400" y="2286000"/>
            <a:ext cx="4686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Paris ✓</a:t>
            </a:r>
          </a:p>
        </p:txBody>
      </p:sp>
      <p:sp>
        <p:nvSpPr>
          <p:cNvPr id="7" name="">
            <a:extLst xmlns:a="http://schemas.openxmlformats.org/drawingml/2006/main">
              <a:ext uri="{FF2B5EF4-FFF2-40B4-BE49-F238E27FC236}">
                <a16:creationId xmlns:a16="http://schemas.microsoft.com/office/drawing/2014/main" id="{81A52124-14E9-4B67-BC6C-21E1E5DBD379}"/>
              </a:ext>
            </a:extLst>
          </p:cNvPr>
          <p:cNvSpPr>
            <a:spLocks xmlns:a="http://schemas.openxmlformats.org/drawingml/2006/main" noGrp="1"/>
          </p:cNvSpPr>
          <p:nvPr/>
        </p:nvSpPr>
        <p:spPr>
          <a:xfrm xmlns:a="http://schemas.openxmlformats.org/drawingml/2006/main">
            <a:off x="914400" y="2705100"/>
            <a:ext cx="4686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1">
                <a:solidFill>
                  <a:srgbClr val="132A3A"/>
                </a:solidFill>
              </a:defRPr>
            </a:pPr>
            <a:r>
              <a:rPr sz="1800" b="1">
                <a:solidFill>
                  <a:srgbClr val="132A3A"/>
                </a:solidFill>
              </a:rPr>
              <a:t>Concert Fishers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00" b="1">
                <a:solidFill>
                  <a:srgbClr val="132A3A"/>
                </a:solidFill>
              </a:defRPr>
            </a:pPr>
            <a:r>
              <a:rPr sz="1800" b="1">
                <a:solidFill>
                  <a:srgbClr val="132A3A"/>
                </a:solidFill>
              </a:rPr>
              <a:t>réponse utile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00" b="1">
                <a:solidFill>
                  <a:srgbClr val="132A3A"/>
                </a:solidFill>
              </a:defRPr>
            </a:pPr>
            <a:r>
              <a:rPr sz="1800" b="1">
                <a:solidFill>
                  <a:srgbClr val="132A3A"/>
                </a:solidFill>
              </a:rPr>
              <a:t>4 sources</a:t>
            </a:r>
          </a:p>
          <a:p xmlns:a="http://schemas.openxmlformats.org/drawingml/2006/main">
            <a:pPr>
              <a:buNone/>
              <a:defRPr sz="1800" b="0">
                <a:solidFill>
                  <a:srgbClr val="132A3A"/>
                </a:solidFill>
              </a:defRPr>
            </a:pPr>
            <a:r>
              <a:rPr sz="1800" b="0">
                <a:solidFill>
                  <a:srgbClr val="132A3A"/>
                </a:solidFill>
              </a:rPr>
              <a:t>vérifiables</a:t>
            </a:r>
          </a:p>
        </p:txBody>
      </p:sp>
      <p:sp>
        <p:nvSpPr>
          <p:cNvPr id="8" name="">
            <a:extLst xmlns:a="http://schemas.openxmlformats.org/drawingml/2006/main">
              <a:ext uri="{FF2B5EF4-FFF2-40B4-BE49-F238E27FC236}">
                <a16:creationId xmlns:a16="http://schemas.microsoft.com/office/drawing/2014/main" id="{160A5488-A6D8-4F31-95F8-E658BE248848}"/>
              </a:ext>
            </a:extLst>
          </p:cNvPr>
          <p:cNvSpPr>
            <a:spLocks xmlns:a="http://schemas.openxmlformats.org/drawingml/2006/main" noGrp="1"/>
          </p:cNvSpPr>
          <p:nvPr/>
        </p:nvSpPr>
        <p:spPr>
          <a:xfrm xmlns:a="http://schemas.openxmlformats.org/drawingml/2006/main">
            <a:off x="6096000" y="2095500"/>
            <a:ext cx="5410200" cy="3429000"/>
          </a:xfrm>
          <a:prstGeom xmlns:a="http://schemas.openxmlformats.org/drawingml/2006/main" prst="roundRect">
            <a:avLst>
              <a:gd name="adj" fmla="val 4444"/>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68058558-A52C-402B-9983-D09B8F99FE8A}"/>
              </a:ext>
            </a:extLst>
          </p:cNvPr>
          <p:cNvSpPr>
            <a:spLocks xmlns:a="http://schemas.openxmlformats.org/drawingml/2006/main" noGrp="1"/>
          </p:cNvSpPr>
          <p:nvPr/>
        </p:nvSpPr>
        <p:spPr>
          <a:xfrm xmlns:a="http://schemas.openxmlformats.org/drawingml/2006/main">
            <a:off x="6324600" y="22860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Lyon ?</a:t>
            </a:r>
          </a:p>
        </p:txBody>
      </p:sp>
      <p:sp>
        <p:nvSpPr>
          <p:cNvPr id="10" name="">
            <a:extLst xmlns:a="http://schemas.openxmlformats.org/drawingml/2006/main">
              <a:ext uri="{FF2B5EF4-FFF2-40B4-BE49-F238E27FC236}">
                <a16:creationId xmlns:a16="http://schemas.microsoft.com/office/drawing/2014/main" id="{E4A383DC-1632-45EB-AD50-4075A5062364}"/>
              </a:ext>
            </a:extLst>
          </p:cNvPr>
          <p:cNvSpPr>
            <a:spLocks xmlns:a="http://schemas.openxmlformats.org/drawingml/2006/main" noGrp="1"/>
          </p:cNvSpPr>
          <p:nvPr/>
        </p:nvSpPr>
        <p:spPr>
          <a:xfrm xmlns:a="http://schemas.openxmlformats.org/drawingml/2006/main">
            <a:off x="6324600" y="2705100"/>
            <a:ext cx="49530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132A3A"/>
                </a:solidFill>
              </a:defRPr>
            </a:pPr>
            <a:r>
              <a:rPr sz="1725" b="0">
                <a:solidFill>
                  <a:srgbClr val="132A3A"/>
                </a:solidFill>
              </a:rPr>
              <a:t>Expositions photo</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725" b="0">
                <a:solidFill>
                  <a:srgbClr val="132A3A"/>
                </a:solidFill>
              </a:defRPr>
            </a:pPr>
            <a:r>
              <a:rPr sz="1725" b="0">
                <a:solidFill>
                  <a:srgbClr val="132A3A"/>
                </a:solidFill>
              </a:rPr>
              <a:t>corpus Paris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725" b="0">
                <a:solidFill>
                  <a:srgbClr val="132A3A"/>
                </a:solidFill>
              </a:defRPr>
            </a:pPr>
            <a:r>
              <a:rPr sz="1725" b="0">
                <a:solidFill>
                  <a:srgbClr val="132A3A"/>
                </a:solidFill>
              </a:rPr>
              <a:t>« Je ne sais pas »</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725" b="0">
                <a:solidFill>
                  <a:srgbClr val="132A3A"/>
                </a:solidFill>
              </a:defRPr>
            </a:pPr>
            <a:r>
              <a:rPr sz="1725" b="0">
                <a:solidFill>
                  <a:srgbClr val="132A3A"/>
                </a:solidFill>
              </a:rPr>
              <a:t>pas d’invention</a:t>
            </a:r>
          </a:p>
        </p:txBody>
      </p:sp>
    </p:spTree>
    <p:extLst>
      <p:ext uri="{BB962C8B-B14F-4D97-AF65-F5344CB8AC3E}">
        <p14:creationId xmlns:p14="http://schemas.microsoft.com/office/powerpoint/2010/main" val="2076616644"/>
      </p:ext>
    </p:extLst>
  </p:cSld>
</p:sld>
</file>

<file path=ppt/slides/slide9.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6C1637D-BD7B-4ADE-B37D-424E6EFFA363}"/>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QUALITÉ</a:t>
            </a:r>
          </a:p>
        </p:txBody>
      </p:sp>
      <p:sp>
        <p:nvSpPr>
          <p:cNvPr id="2" name="">
            <a:extLst xmlns:a="http://schemas.openxmlformats.org/drawingml/2006/main">
              <a:ext uri="{FF2B5EF4-FFF2-40B4-BE49-F238E27FC236}">
                <a16:creationId xmlns:a16="http://schemas.microsoft.com/office/drawing/2014/main" id="{C1F319EA-F3E5-420B-ABE9-0EE0AC8FBF13}"/>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09</a:t>
            </a:r>
          </a:p>
        </p:txBody>
      </p:sp>
      <p:sp>
        <p:nvSpPr>
          <p:cNvPr id="3" name="">
            <a:extLst xmlns:a="http://schemas.openxmlformats.org/drawingml/2006/main">
              <a:ext uri="{FF2B5EF4-FFF2-40B4-BE49-F238E27FC236}">
                <a16:creationId xmlns:a16="http://schemas.microsoft.com/office/drawing/2014/main" id="{8300ADE1-E433-4A2C-ACFE-E616B6FF1FD3}"/>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Je contrôle le code aujourd’hui et la livraison demain</a:t>
            </a:r>
          </a:p>
        </p:txBody>
      </p:sp>
      <p:sp>
        <p:nvSpPr>
          <p:cNvPr id="4" name="">
            <a:extLst xmlns:a="http://schemas.openxmlformats.org/drawingml/2006/main">
              <a:ext uri="{FF2B5EF4-FFF2-40B4-BE49-F238E27FC236}">
                <a16:creationId xmlns:a16="http://schemas.microsoft.com/office/drawing/2014/main" id="{CCE9254D-4C88-4A75-BBA2-05E6A4CBA88C}"/>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Les tests sont livrés. La CI/CD reste une recommandation d’industrialisation explicite.</a:t>
            </a:r>
          </a:p>
        </p:txBody>
      </p:sp>
      <p:sp>
        <p:nvSpPr>
          <p:cNvPr id="5" name="">
            <a:extLst xmlns:a="http://schemas.openxmlformats.org/drawingml/2006/main">
              <a:ext uri="{FF2B5EF4-FFF2-40B4-BE49-F238E27FC236}">
                <a16:creationId xmlns:a16="http://schemas.microsoft.com/office/drawing/2014/main" id="{511C3D5F-DFD5-4B73-9401-63D44AEAABC2}"/>
              </a:ext>
            </a:extLst>
          </p:cNvPr>
          <p:cNvSpPr>
            <a:spLocks xmlns:a="http://schemas.openxmlformats.org/drawingml/2006/main" noGrp="1"/>
          </p:cNvSpPr>
          <p:nvPr/>
        </p:nvSpPr>
        <p:spPr>
          <a:xfrm xmlns:a="http://schemas.openxmlformats.org/drawingml/2006/main">
            <a:off x="685800" y="2095500"/>
            <a:ext cx="409575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D3607F0A-F577-465C-ABD7-A60AE8215B89}"/>
              </a:ext>
            </a:extLst>
          </p:cNvPr>
          <p:cNvSpPr>
            <a:spLocks xmlns:a="http://schemas.openxmlformats.org/drawingml/2006/main" noGrp="1"/>
          </p:cNvSpPr>
          <p:nvPr/>
        </p:nvSpPr>
        <p:spPr>
          <a:xfrm xmlns:a="http://schemas.openxmlformats.org/drawingml/2006/main">
            <a:off x="914400" y="2286000"/>
            <a:ext cx="3638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Livré</a:t>
            </a:r>
          </a:p>
        </p:txBody>
      </p:sp>
      <p:sp>
        <p:nvSpPr>
          <p:cNvPr id="7" name="">
            <a:extLst xmlns:a="http://schemas.openxmlformats.org/drawingml/2006/main">
              <a:ext uri="{FF2B5EF4-FFF2-40B4-BE49-F238E27FC236}">
                <a16:creationId xmlns:a16="http://schemas.microsoft.com/office/drawing/2014/main" id="{4BCC3E8E-1BA2-402B-A4F1-FAC61BD5D4A5}"/>
              </a:ext>
            </a:extLst>
          </p:cNvPr>
          <p:cNvSpPr>
            <a:spLocks xmlns:a="http://schemas.openxmlformats.org/drawingml/2006/main" noGrp="1"/>
          </p:cNvSpPr>
          <p:nvPr/>
        </p:nvSpPr>
        <p:spPr>
          <a:xfrm xmlns:a="http://schemas.openxmlformats.org/drawingml/2006/main">
            <a:off x="914400" y="2705100"/>
            <a:ext cx="3638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32A3A"/>
                </a:solidFill>
              </a:defRPr>
            </a:pPr>
            <a:r>
              <a:rPr sz="1875" b="1">
                <a:solidFill>
                  <a:srgbClr val="132A3A"/>
                </a:solidFill>
              </a:rPr>
              <a:t>59 tests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75" b="1">
                <a:solidFill>
                  <a:srgbClr val="132A3A"/>
                </a:solidFill>
              </a:defRPr>
            </a:pPr>
            <a:r>
              <a:rPr sz="1875" b="1">
                <a:solidFill>
                  <a:srgbClr val="132A3A"/>
                </a:solidFill>
              </a:rPr>
              <a:t>Données</a:t>
            </a:r>
          </a:p>
          <a:p xmlns:a="http://schemas.openxmlformats.org/drawingml/2006/main">
            <a:pPr>
              <a:buNone/>
              <a:defRPr sz="1875" b="1">
                <a:solidFill>
                  <a:srgbClr val="132A3A"/>
                </a:solidFill>
              </a:defRPr>
            </a:pPr>
            <a:r>
              <a:rPr sz="1875" b="1">
                <a:solidFill>
                  <a:srgbClr val="132A3A"/>
                </a:solidFill>
              </a:rPr>
              <a:t>FAISS</a:t>
            </a:r>
          </a:p>
          <a:p xmlns:a="http://schemas.openxmlformats.org/drawingml/2006/main">
            <a:pPr>
              <a:buNone/>
              <a:defRPr sz="1875" b="0">
                <a:solidFill>
                  <a:srgbClr val="132A3A"/>
                </a:solidFill>
              </a:defRPr>
            </a:pPr>
            <a:r>
              <a:rPr sz="1875" b="0">
                <a:solidFill>
                  <a:srgbClr val="132A3A"/>
                </a:solidFill>
              </a:rPr>
              <a:t>RAG</a:t>
            </a:r>
          </a:p>
          <a:p xmlns:a="http://schemas.openxmlformats.org/drawingml/2006/main">
            <a:pPr>
              <a:buNone/>
              <a:defRPr sz="1875" b="1">
                <a:solidFill>
                  <a:srgbClr val="132A3A"/>
                </a:solidFill>
              </a:defRPr>
            </a:pPr>
            <a:r>
              <a:rPr sz="1875" b="1">
                <a:solidFill>
                  <a:srgbClr val="132A3A"/>
                </a:solidFill>
              </a:rPr>
              <a:t>API</a:t>
            </a:r>
          </a:p>
          <a:p xmlns:a="http://schemas.openxmlformats.org/drawingml/2006/main">
            <a:pPr>
              <a:buNone/>
              <a:defRPr sz="1875" b="1">
                <a:solidFill>
                  <a:srgbClr val="132A3A"/>
                </a:solidFill>
              </a:defRPr>
            </a:pPr>
            <a:r>
              <a:rPr sz="1875" b="1">
                <a:solidFill>
                  <a:srgbClr val="132A3A"/>
                </a:solidFill>
              </a:rPr>
              <a:t>RAGAS</a:t>
            </a:r>
          </a:p>
        </p:txBody>
      </p:sp>
      <p:sp>
        <p:nvSpPr>
          <p:cNvPr id="8" name="">
            <a:extLst xmlns:a="http://schemas.openxmlformats.org/drawingml/2006/main">
              <a:ext uri="{FF2B5EF4-FFF2-40B4-BE49-F238E27FC236}">
                <a16:creationId xmlns:a16="http://schemas.microsoft.com/office/drawing/2014/main" id="{A33DA960-95D9-49AD-84EB-082449150848}"/>
              </a:ext>
            </a:extLst>
          </p:cNvPr>
          <p:cNvSpPr>
            <a:spLocks xmlns:a="http://schemas.openxmlformats.org/drawingml/2006/main" noGrp="1"/>
          </p:cNvSpPr>
          <p:nvPr/>
        </p:nvSpPr>
        <p:spPr>
          <a:xfrm xmlns:a="http://schemas.openxmlformats.org/drawingml/2006/main">
            <a:off x="5048250" y="2095500"/>
            <a:ext cx="64579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3E097A68-6655-43AA-95A1-5F351E7F4B59}"/>
              </a:ext>
            </a:extLst>
          </p:cNvPr>
          <p:cNvSpPr>
            <a:spLocks xmlns:a="http://schemas.openxmlformats.org/drawingml/2006/main" noGrp="1"/>
          </p:cNvSpPr>
          <p:nvPr/>
        </p:nvSpPr>
        <p:spPr>
          <a:xfrm xmlns:a="http://schemas.openxmlformats.org/drawingml/2006/main">
            <a:off x="5276850" y="2286000"/>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Proposé</a:t>
            </a:r>
          </a:p>
        </p:txBody>
      </p:sp>
      <p:sp>
        <p:nvSpPr>
          <p:cNvPr id="10" name="">
            <a:extLst xmlns:a="http://schemas.openxmlformats.org/drawingml/2006/main">
              <a:ext uri="{FF2B5EF4-FFF2-40B4-BE49-F238E27FC236}">
                <a16:creationId xmlns:a16="http://schemas.microsoft.com/office/drawing/2014/main" id="{DAC74F9C-BEFD-4568-871F-5D711CE18F49}"/>
              </a:ext>
            </a:extLst>
          </p:cNvPr>
          <p:cNvSpPr>
            <a:spLocks xmlns:a="http://schemas.openxmlformats.org/drawingml/2006/main" noGrp="1"/>
          </p:cNvSpPr>
          <p:nvPr/>
        </p:nvSpPr>
        <p:spPr>
          <a:xfrm xmlns:a="http://schemas.openxmlformats.org/drawingml/2006/main">
            <a:off x="5276850" y="2705100"/>
            <a:ext cx="60007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0B6B69"/>
                </a:solidFill>
              </a:defRPr>
            </a:pPr>
            <a:r>
              <a:rPr sz="1650" b="0">
                <a:solidFill>
                  <a:srgbClr val="0B6B69"/>
                </a:solidFill>
              </a:rPr>
              <a:t>à chaque push</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650" b="0">
                <a:solidFill>
                  <a:srgbClr val="0B6B69"/>
                </a:solidFill>
              </a:defRPr>
            </a:pPr>
            <a:r>
              <a:rPr sz="1650" b="0">
                <a:solidFill>
                  <a:srgbClr val="0B6B69"/>
                </a:solidFill>
              </a:rPr>
              <a:t>pytest</a:t>
            </a:r>
          </a:p>
          <a:p xmlns:a="http://schemas.openxmlformats.org/drawingml/2006/main">
            <a:pPr>
              <a:buNone/>
              <a:defRPr sz="1650" b="0">
                <a:solidFill>
                  <a:srgbClr val="0B6B69"/>
                </a:solidFill>
              </a:defRPr>
            </a:pPr>
            <a:r>
              <a:rPr sz="1650" b="0">
                <a:solidFill>
                  <a:srgbClr val="0B6B69"/>
                </a:solidFill>
              </a:rPr>
              <a:t>↓</a:t>
            </a:r>
          </a:p>
          <a:p xmlns:a="http://schemas.openxmlformats.org/drawingml/2006/main">
            <a:pPr>
              <a:buNone/>
              <a:defRPr sz="1650" b="0">
                <a:solidFill>
                  <a:srgbClr val="0B6B69"/>
                </a:solidFill>
              </a:defRPr>
            </a:pPr>
            <a:r>
              <a:rPr sz="1650" b="0">
                <a:solidFill>
                  <a:srgbClr val="0B6B69"/>
                </a:solidFill>
              </a:rPr>
              <a:t>image Docker</a:t>
            </a:r>
          </a:p>
          <a:p xmlns:a="http://schemas.openxmlformats.org/drawingml/2006/main">
            <a:pPr>
              <a:buNone/>
              <a:defRPr sz="1650" b="0">
                <a:solidFill>
                  <a:srgbClr val="0B6B69"/>
                </a:solidFill>
              </a:defRPr>
            </a:pPr>
            <a:r>
              <a:rPr sz="1650" b="0">
                <a:solidFill>
                  <a:srgbClr val="0B6B69"/>
                </a:solidFill>
              </a:rPr>
              <a:t>↓</a:t>
            </a:r>
          </a:p>
          <a:p xmlns:a="http://schemas.openxmlformats.org/drawingml/2006/main">
            <a:pPr>
              <a:buNone/>
              <a:defRPr sz="1650" b="0">
                <a:solidFill>
                  <a:srgbClr val="0B6B69"/>
                </a:solidFill>
              </a:defRPr>
            </a:pPr>
            <a:r>
              <a:rPr sz="1650" b="0">
                <a:solidFill>
                  <a:srgbClr val="0B6B69"/>
                </a:solidFill>
              </a:rPr>
              <a:t>healthcheck</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650" b="0">
                <a:solidFill>
                  <a:srgbClr val="0B6B69"/>
                </a:solidFill>
              </a:defRPr>
            </a:pPr>
            <a:r>
              <a:rPr sz="1650" b="0">
                <a:solidFill>
                  <a:srgbClr val="0B6B69"/>
                </a:solidFill>
              </a:rPr>
              <a:t>CI/CD non livrée</a:t>
            </a:r>
          </a:p>
        </p:txBody>
      </p:sp>
    </p:spTree>
    <p:extLst>
      <p:ext uri="{BB962C8B-B14F-4D97-AF65-F5344CB8AC3E}">
        <p14:creationId xmlns:p14="http://schemas.microsoft.com/office/powerpoint/2010/main" val="1127788312"/>
      </p:ext>
    </p:extLst>
  </p:cSld>
</p:sld>
</file>

<file path=ppt/slides/slide10.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CDF0AE1-053A-4116-84F6-4CA094D00F5A}"/>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ÉVALUATION</a:t>
            </a:r>
          </a:p>
        </p:txBody>
      </p:sp>
      <p:sp>
        <p:nvSpPr>
          <p:cNvPr id="2" name="">
            <a:extLst xmlns:a="http://schemas.openxmlformats.org/drawingml/2006/main">
              <a:ext uri="{FF2B5EF4-FFF2-40B4-BE49-F238E27FC236}">
                <a16:creationId xmlns:a16="http://schemas.microsoft.com/office/drawing/2014/main" id="{FD9E1DDB-9548-454C-8187-428960BB833B}"/>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10</a:t>
            </a:r>
          </a:p>
        </p:txBody>
      </p:sp>
      <p:sp>
        <p:nvSpPr>
          <p:cNvPr id="3" name="">
            <a:extLst xmlns:a="http://schemas.openxmlformats.org/drawingml/2006/main">
              <a:ext uri="{FF2B5EF4-FFF2-40B4-BE49-F238E27FC236}">
                <a16:creationId xmlns:a16="http://schemas.microsoft.com/office/drawing/2014/main" id="{2AB6A4C9-CE93-4D87-A076-26415FA47374}"/>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RAGAS m’indique quelle brique améliorer</a:t>
            </a:r>
          </a:p>
        </p:txBody>
      </p:sp>
      <p:sp>
        <p:nvSpPr>
          <p:cNvPr id="4" name="">
            <a:extLst xmlns:a="http://schemas.openxmlformats.org/drawingml/2006/main">
              <a:ext uri="{FF2B5EF4-FFF2-40B4-BE49-F238E27FC236}">
                <a16:creationId xmlns:a16="http://schemas.microsoft.com/office/drawing/2014/main" id="{D90791EA-FF47-4DCB-9A92-8224040EF17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Je ne regarde pas un score unique : je distingue le contexte retrouvé de la réponse finale.</a:t>
            </a:r>
          </a:p>
        </p:txBody>
      </p:sp>
      <p:sp>
        <p:nvSpPr>
          <p:cNvPr id="5" name="">
            <a:extLst xmlns:a="http://schemas.openxmlformats.org/drawingml/2006/main">
              <a:ext uri="{FF2B5EF4-FFF2-40B4-BE49-F238E27FC236}">
                <a16:creationId xmlns:a16="http://schemas.microsoft.com/office/drawing/2014/main" id="{5CB49460-A316-4CA2-9767-C9F7F8835A8A}"/>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6E0BB9F4-2DEB-4BFC-821C-68BC4B6F1EEE}"/>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Comparer</a:t>
            </a:r>
          </a:p>
        </p:txBody>
      </p:sp>
      <p:sp>
        <p:nvSpPr>
          <p:cNvPr id="7" name="">
            <a:extLst xmlns:a="http://schemas.openxmlformats.org/drawingml/2006/main">
              <a:ext uri="{FF2B5EF4-FFF2-40B4-BE49-F238E27FC236}">
                <a16:creationId xmlns:a16="http://schemas.microsoft.com/office/drawing/2014/main" id="{2A3063B9-3944-4888-BC7A-4EBEBC807DE1}"/>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1">
                <a:solidFill>
                  <a:srgbClr val="132A3A"/>
                </a:solidFill>
              </a:defRPr>
            </a:pPr>
            <a:r>
              <a:rPr sz="1725" b="1">
                <a:solidFill>
                  <a:srgbClr val="132A3A"/>
                </a:solidFill>
              </a:rPr>
              <a:t>Question</a:t>
            </a:r>
          </a:p>
          <a:p xmlns:a="http://schemas.openxmlformats.org/drawingml/2006/main">
            <a:pPr>
              <a:buNone/>
              <a:defRPr sz="1725" b="1">
                <a:solidFill>
                  <a:srgbClr val="132A3A"/>
                </a:solidFill>
              </a:defRPr>
            </a:pPr>
            <a:r>
              <a:rPr sz="1725" b="1">
                <a:solidFill>
                  <a:srgbClr val="132A3A"/>
                </a:solidFill>
              </a:rPr>
              <a:t>+ contexte</a:t>
            </a:r>
          </a:p>
          <a:p xmlns:a="http://schemas.openxmlformats.org/drawingml/2006/main">
            <a:pPr>
              <a:buNone/>
              <a:defRPr sz="1725" b="0">
                <a:solidFill>
                  <a:srgbClr val="132A3A"/>
                </a:solidFill>
              </a:defRPr>
            </a:pPr>
            <a:r>
              <a:rPr sz="1725" b="0">
                <a:solidFill>
                  <a:srgbClr val="132A3A"/>
                </a:solidFill>
              </a:rPr>
              <a:t>+ réponse</a:t>
            </a:r>
          </a:p>
          <a:p xmlns:a="http://schemas.openxmlformats.org/drawingml/2006/main">
            <a:pPr>
              <a:buNone/>
              <a:defRPr sz="1725" b="1">
                <a:solidFill>
                  <a:srgbClr val="132A3A"/>
                </a:solidFill>
              </a:defRPr>
            </a:pPr>
            <a:r>
              <a:rPr sz="1725" b="1">
                <a:solidFill>
                  <a:srgbClr val="132A3A"/>
                </a:solidFill>
              </a:rPr>
              <a:t>+ référence</a:t>
            </a:r>
          </a:p>
        </p:txBody>
      </p:sp>
      <p:sp>
        <p:nvSpPr>
          <p:cNvPr id="8" name="">
            <a:extLst xmlns:a="http://schemas.openxmlformats.org/drawingml/2006/main">
              <a:ext uri="{FF2B5EF4-FFF2-40B4-BE49-F238E27FC236}">
                <a16:creationId xmlns:a16="http://schemas.microsoft.com/office/drawing/2014/main" id="{5CF277DC-1590-43C7-ADCC-A296B2493326}"/>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EBBB712E-2A81-4C64-8B71-4C1FD7F3237F}"/>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Solide</a:t>
            </a:r>
          </a:p>
        </p:txBody>
      </p:sp>
      <p:sp>
        <p:nvSpPr>
          <p:cNvPr id="10" name="">
            <a:extLst xmlns:a="http://schemas.openxmlformats.org/drawingml/2006/main">
              <a:ext uri="{FF2B5EF4-FFF2-40B4-BE49-F238E27FC236}">
                <a16:creationId xmlns:a16="http://schemas.microsoft.com/office/drawing/2014/main" id="{6B0911B0-01B1-439C-9B2E-1159F4772297}"/>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0B6B69"/>
                </a:solidFill>
              </a:defRPr>
            </a:pPr>
            <a:r>
              <a:rPr sz="1875" b="1">
                <a:solidFill>
                  <a:srgbClr val="0B6B69"/>
                </a:solidFill>
              </a:rPr>
              <a:t>0,900</a:t>
            </a:r>
          </a:p>
          <a:p xmlns:a="http://schemas.openxmlformats.org/drawingml/2006/main">
            <a:pPr>
              <a:buNone/>
              <a:defRPr sz="1875" b="1">
                <a:solidFill>
                  <a:srgbClr val="0B6B69"/>
                </a:solidFill>
              </a:defRPr>
            </a:pPr>
            <a:r>
              <a:rPr sz="1875" b="1">
                <a:solidFill>
                  <a:srgbClr val="0B6B69"/>
                </a:solidFill>
              </a:rPr>
              <a:t>fidélité</a:t>
            </a:r>
          </a:p>
          <a:p xmlns:a="http://schemas.openxmlformats.org/drawingml/2006/main">
            <a:pPr>
              <a:buNone/>
              <a:defRPr sz="2250" b="1">
                <a:solidFill>
                  <a:srgbClr val="0B6B69"/>
                </a:solidFill>
              </a:defRPr>
            </a:pPr>
            <a:r>
              <a:rPr sz="2250" b="1">
                <a:solidFill>
                  <a:srgbClr val="0B6B69"/>
                </a:solidFill>
              </a:rPr>
              <a:t/>
            </a:r>
          </a:p>
          <a:p xmlns:a="http://schemas.openxmlformats.org/drawingml/2006/main">
            <a:pPr>
              <a:buNone/>
              <a:defRPr sz="1875" b="1">
                <a:solidFill>
                  <a:srgbClr val="0B6B69"/>
                </a:solidFill>
              </a:defRPr>
            </a:pPr>
            <a:r>
              <a:rPr sz="1875" b="1">
                <a:solidFill>
                  <a:srgbClr val="0B6B69"/>
                </a:solidFill>
              </a:rPr>
              <a:t>1,000</a:t>
            </a:r>
          </a:p>
          <a:p xmlns:a="http://schemas.openxmlformats.org/drawingml/2006/main">
            <a:pPr>
              <a:buNone/>
              <a:defRPr sz="1875" b="1">
                <a:solidFill>
                  <a:srgbClr val="0B6B69"/>
                </a:solidFill>
              </a:defRPr>
            </a:pPr>
            <a:r>
              <a:rPr sz="1875" b="1">
                <a:solidFill>
                  <a:srgbClr val="0B6B69"/>
                </a:solidFill>
              </a:rPr>
              <a:t>contexte utile</a:t>
            </a:r>
          </a:p>
        </p:txBody>
      </p:sp>
      <p:sp>
        <p:nvSpPr>
          <p:cNvPr id="11" name="">
            <a:extLst xmlns:a="http://schemas.openxmlformats.org/drawingml/2006/main">
              <a:ext uri="{FF2B5EF4-FFF2-40B4-BE49-F238E27FC236}">
                <a16:creationId xmlns:a16="http://schemas.microsoft.com/office/drawing/2014/main" id="{54BB0A53-FB12-4137-AAB6-1924F27A204A}"/>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607B21BB-47C7-4F02-8CA2-36C7CD0A9013}"/>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Priorité</a:t>
            </a:r>
          </a:p>
        </p:txBody>
      </p:sp>
      <p:sp>
        <p:nvSpPr>
          <p:cNvPr id="13" name="">
            <a:extLst xmlns:a="http://schemas.openxmlformats.org/drawingml/2006/main">
              <a:ext uri="{FF2B5EF4-FFF2-40B4-BE49-F238E27FC236}">
                <a16:creationId xmlns:a16="http://schemas.microsoft.com/office/drawing/2014/main" id="{508CE779-4690-49B4-B065-40CCAA553C4D}"/>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B83A27"/>
                </a:solidFill>
              </a:defRPr>
            </a:pPr>
            <a:r>
              <a:rPr sz="1875" b="1">
                <a:solidFill>
                  <a:srgbClr val="B83A27"/>
                </a:solidFill>
              </a:rPr>
              <a:t>0,683</a:t>
            </a:r>
          </a:p>
          <a:p xmlns:a="http://schemas.openxmlformats.org/drawingml/2006/main">
            <a:pPr>
              <a:buNone/>
              <a:defRPr sz="1875" b="1">
                <a:solidFill>
                  <a:srgbClr val="B83A27"/>
                </a:solidFill>
              </a:defRPr>
            </a:pPr>
            <a:r>
              <a:rPr sz="1875" b="1">
                <a:solidFill>
                  <a:srgbClr val="B83A27"/>
                </a:solidFill>
              </a:rPr>
              <a:t>correction</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75" b="1">
                <a:solidFill>
                  <a:srgbClr val="B83A27"/>
                </a:solidFill>
              </a:defRPr>
            </a:pPr>
            <a:r>
              <a:rPr sz="1875" b="1">
                <a:solidFill>
                  <a:srgbClr val="B83A27"/>
                </a:solidFill>
              </a:rPr>
              <a:t>→ mieux</a:t>
            </a:r>
          </a:p>
          <a:p xmlns:a="http://schemas.openxmlformats.org/drawingml/2006/main">
            <a:pPr>
              <a:buNone/>
              <a:defRPr sz="1875" b="1">
                <a:solidFill>
                  <a:srgbClr val="B83A27"/>
                </a:solidFill>
              </a:defRPr>
            </a:pPr>
            <a:r>
              <a:rPr sz="1875" b="1">
                <a:solidFill>
                  <a:srgbClr val="B83A27"/>
                </a:solidFill>
              </a:rPr>
              <a:t>structurer</a:t>
            </a:r>
          </a:p>
          <a:p xmlns:a="http://schemas.openxmlformats.org/drawingml/2006/main">
            <a:pPr>
              <a:buNone/>
              <a:defRPr sz="1875" b="1">
                <a:solidFill>
                  <a:srgbClr val="B83A27"/>
                </a:solidFill>
              </a:defRPr>
            </a:pPr>
            <a:r>
              <a:rPr sz="1875" b="1">
                <a:solidFill>
                  <a:srgbClr val="B83A27"/>
                </a:solidFill>
              </a:rPr>
              <a:t>la réponse</a:t>
            </a:r>
          </a:p>
        </p:txBody>
      </p:sp>
    </p:spTree>
    <p:extLst>
      <p:ext uri="{BB962C8B-B14F-4D97-AF65-F5344CB8AC3E}">
        <p14:creationId xmlns:p14="http://schemas.microsoft.com/office/powerpoint/2010/main" val="1161108930"/>
      </p:ext>
    </p:extLst>
  </p:cSld>
</p:sld>
</file>

<file path=ppt/slides/slide11.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03452DD-D5D0-467E-BC3B-9EBC224D18FF}"/>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LIMITES</a:t>
            </a:r>
          </a:p>
        </p:txBody>
      </p:sp>
      <p:sp>
        <p:nvSpPr>
          <p:cNvPr id="2" name="">
            <a:extLst xmlns:a="http://schemas.openxmlformats.org/drawingml/2006/main">
              <a:ext uri="{FF2B5EF4-FFF2-40B4-BE49-F238E27FC236}">
                <a16:creationId xmlns:a16="http://schemas.microsoft.com/office/drawing/2014/main" id="{19193F0F-8078-4AEB-BD8D-B36E46226071}"/>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11</a:t>
            </a:r>
          </a:p>
        </p:txBody>
      </p:sp>
      <p:sp>
        <p:nvSpPr>
          <p:cNvPr id="3" name="">
            <a:extLst xmlns:a="http://schemas.openxmlformats.org/drawingml/2006/main">
              <a:ext uri="{FF2B5EF4-FFF2-40B4-BE49-F238E27FC236}">
                <a16:creationId xmlns:a16="http://schemas.microsoft.com/office/drawing/2014/main" id="{C37AF4D7-66D0-43EF-B35A-093CDC9FCA39}"/>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Chaque limite débouche sur une action concrète</a:t>
            </a:r>
          </a:p>
        </p:txBody>
      </p:sp>
      <p:sp>
        <p:nvSpPr>
          <p:cNvPr id="4" name="">
            <a:extLst xmlns:a="http://schemas.openxmlformats.org/drawingml/2006/main">
              <a:ext uri="{FF2B5EF4-FFF2-40B4-BE49-F238E27FC236}">
                <a16:creationId xmlns:a16="http://schemas.microsoft.com/office/drawing/2014/main" id="{A0F540C0-61C7-4B9C-8992-521C9C0C7EF8}"/>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Un POC crédible montre ce qu’il a validé, puis ce qu’il reste à sécuriser.</a:t>
            </a:r>
          </a:p>
        </p:txBody>
      </p:sp>
      <p:sp>
        <p:nvSpPr>
          <p:cNvPr id="5" name="">
            <a:extLst xmlns:a="http://schemas.openxmlformats.org/drawingml/2006/main">
              <a:ext uri="{FF2B5EF4-FFF2-40B4-BE49-F238E27FC236}">
                <a16:creationId xmlns:a16="http://schemas.microsoft.com/office/drawing/2014/main" id="{D434E5AE-E389-44DE-908E-52911A121769}"/>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B00CBCAA-BA6A-4A80-9DB3-04976DDAF5F0}"/>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Données</a:t>
            </a:r>
          </a:p>
        </p:txBody>
      </p:sp>
      <p:sp>
        <p:nvSpPr>
          <p:cNvPr id="7" name="">
            <a:extLst xmlns:a="http://schemas.openxmlformats.org/drawingml/2006/main">
              <a:ext uri="{FF2B5EF4-FFF2-40B4-BE49-F238E27FC236}">
                <a16:creationId xmlns:a16="http://schemas.microsoft.com/office/drawing/2014/main" id="{71DCD871-0563-4DA8-BE8D-3A9EE7004384}"/>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132A3A"/>
                </a:solidFill>
              </a:defRPr>
            </a:pPr>
            <a:r>
              <a:rPr sz="1725" b="0">
                <a:solidFill>
                  <a:srgbClr val="132A3A"/>
                </a:solidFill>
              </a:rPr>
              <a:t>Paris</a:t>
            </a:r>
          </a:p>
          <a:p xmlns:a="http://schemas.openxmlformats.org/drawingml/2006/main">
            <a:pPr>
              <a:buNone/>
              <a:defRPr sz="1725" b="0">
                <a:solidFill>
                  <a:srgbClr val="132A3A"/>
                </a:solidFill>
              </a:defRPr>
            </a:pPr>
            <a:r>
              <a:rPr sz="1725" b="0">
                <a:solidFill>
                  <a:srgbClr val="132A3A"/>
                </a:solidFill>
              </a:rPr>
              <a:t>snapshot</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725" b="0">
                <a:solidFill>
                  <a:srgbClr val="132A3A"/>
                </a:solidFill>
              </a:defRPr>
            </a:pPr>
            <a:r>
              <a:rPr sz="1725" b="0">
                <a:solidFill>
                  <a:srgbClr val="132A3A"/>
                </a:solidFill>
              </a:rPr>
              <a:t>→ collecte</a:t>
            </a:r>
          </a:p>
          <a:p xmlns:a="http://schemas.openxmlformats.org/drawingml/2006/main">
            <a:pPr>
              <a:buNone/>
              <a:defRPr sz="1725" b="0">
                <a:solidFill>
                  <a:srgbClr val="132A3A"/>
                </a:solidFill>
              </a:defRPr>
            </a:pPr>
            <a:r>
              <a:rPr sz="1725" b="0">
                <a:solidFill>
                  <a:srgbClr val="132A3A"/>
                </a:solidFill>
              </a:rPr>
              <a:t>planifiée</a:t>
            </a:r>
          </a:p>
        </p:txBody>
      </p:sp>
      <p:sp>
        <p:nvSpPr>
          <p:cNvPr id="8" name="">
            <a:extLst xmlns:a="http://schemas.openxmlformats.org/drawingml/2006/main">
              <a:ext uri="{FF2B5EF4-FFF2-40B4-BE49-F238E27FC236}">
                <a16:creationId xmlns:a16="http://schemas.microsoft.com/office/drawing/2014/main" id="{66EC818C-424F-4C06-A7DF-85E04754C401}"/>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320E2F6C-8C2C-4B63-B535-CD19E0B375FD}"/>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Réponse</a:t>
            </a:r>
          </a:p>
        </p:txBody>
      </p:sp>
      <p:sp>
        <p:nvSpPr>
          <p:cNvPr id="10" name="">
            <a:extLst xmlns:a="http://schemas.openxmlformats.org/drawingml/2006/main">
              <a:ext uri="{FF2B5EF4-FFF2-40B4-BE49-F238E27FC236}">
                <a16:creationId xmlns:a16="http://schemas.microsoft.com/office/drawing/2014/main" id="{834CAC00-8C55-4626-9D3F-9A7D69EE1772}"/>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132A3A"/>
                </a:solidFill>
              </a:defRPr>
            </a:pPr>
            <a:r>
              <a:rPr sz="1725" b="0">
                <a:solidFill>
                  <a:srgbClr val="132A3A"/>
                </a:solidFill>
              </a:rPr>
              <a:t>seuil à</a:t>
            </a:r>
          </a:p>
          <a:p xmlns:a="http://schemas.openxmlformats.org/drawingml/2006/main">
            <a:pPr>
              <a:buNone/>
              <a:defRPr sz="1725" b="0">
                <a:solidFill>
                  <a:srgbClr val="132A3A"/>
                </a:solidFill>
              </a:defRPr>
            </a:pPr>
            <a:r>
              <a:rPr sz="1725" b="0">
                <a:solidFill>
                  <a:srgbClr val="132A3A"/>
                </a:solidFill>
              </a:rPr>
              <a:t>calibrer</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725" b="0">
                <a:solidFill>
                  <a:srgbClr val="132A3A"/>
                </a:solidFill>
              </a:defRPr>
            </a:pPr>
            <a:r>
              <a:rPr sz="1725" b="0">
                <a:solidFill>
                  <a:srgbClr val="132A3A"/>
                </a:solidFill>
              </a:rPr>
              <a:t>→ filtres</a:t>
            </a:r>
          </a:p>
          <a:p xmlns:a="http://schemas.openxmlformats.org/drawingml/2006/main">
            <a:pPr>
              <a:buNone/>
              <a:defRPr sz="1725" b="0">
                <a:solidFill>
                  <a:srgbClr val="132A3A"/>
                </a:solidFill>
              </a:defRPr>
            </a:pPr>
            <a:r>
              <a:rPr sz="1725" b="0">
                <a:solidFill>
                  <a:srgbClr val="132A3A"/>
                </a:solidFill>
              </a:rPr>
              <a:t>+ refus robuste</a:t>
            </a:r>
          </a:p>
        </p:txBody>
      </p:sp>
      <p:sp>
        <p:nvSpPr>
          <p:cNvPr id="11" name="">
            <a:extLst xmlns:a="http://schemas.openxmlformats.org/drawingml/2006/main">
              <a:ext uri="{FF2B5EF4-FFF2-40B4-BE49-F238E27FC236}">
                <a16:creationId xmlns:a16="http://schemas.microsoft.com/office/drawing/2014/main" id="{457BCEF5-328B-4864-B519-C647617D7FB2}"/>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3D33714F-59C2-499F-A6A5-BD075ED432F2}"/>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Exploitation</a:t>
            </a:r>
          </a:p>
        </p:txBody>
      </p:sp>
      <p:sp>
        <p:nvSpPr>
          <p:cNvPr id="13" name="">
            <a:extLst xmlns:a="http://schemas.openxmlformats.org/drawingml/2006/main">
              <a:ext uri="{FF2B5EF4-FFF2-40B4-BE49-F238E27FC236}">
                <a16:creationId xmlns:a16="http://schemas.microsoft.com/office/drawing/2014/main" id="{68110F61-A49B-4BCE-8C50-2C5E6E583B2C}"/>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0">
                <a:solidFill>
                  <a:srgbClr val="B83A27"/>
                </a:solidFill>
              </a:defRPr>
            </a:pPr>
            <a:r>
              <a:rPr sz="1650" b="0">
                <a:solidFill>
                  <a:srgbClr val="B83A27"/>
                </a:solidFill>
              </a:rPr>
              <a:t>3 cas RAGAS</a:t>
            </a:r>
          </a:p>
          <a:p xmlns:a="http://schemas.openxmlformats.org/drawingml/2006/main">
            <a:pPr>
              <a:buNone/>
              <a:defRPr sz="1650" b="0">
                <a:solidFill>
                  <a:srgbClr val="B83A27"/>
                </a:solidFill>
              </a:defRPr>
            </a:pPr>
            <a:r>
              <a:rPr sz="1650" b="0">
                <a:solidFill>
                  <a:srgbClr val="B83A27"/>
                </a:solidFill>
              </a:rPr>
              <a:t>pas de charge</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650" b="0">
                <a:solidFill>
                  <a:srgbClr val="B83A27"/>
                </a:solidFill>
              </a:defRPr>
            </a:pPr>
            <a:r>
              <a:rPr sz="1650" b="0">
                <a:solidFill>
                  <a:srgbClr val="B83A27"/>
                </a:solidFill>
              </a:rPr>
              <a:t>→ benchmark</a:t>
            </a:r>
          </a:p>
          <a:p xmlns:a="http://schemas.openxmlformats.org/drawingml/2006/main">
            <a:pPr>
              <a:buNone/>
              <a:defRPr sz="1650" b="0">
                <a:solidFill>
                  <a:srgbClr val="B83A27"/>
                </a:solidFill>
              </a:defRPr>
            </a:pPr>
            <a:r>
              <a:rPr sz="1650" b="0">
                <a:solidFill>
                  <a:srgbClr val="B83A27"/>
                </a:solidFill>
              </a:rPr>
              <a:t>+ observabilité</a:t>
            </a:r>
          </a:p>
        </p:txBody>
      </p:sp>
    </p:spTree>
    <p:extLst>
      <p:ext uri="{BB962C8B-B14F-4D97-AF65-F5344CB8AC3E}">
        <p14:creationId xmlns:p14="http://schemas.microsoft.com/office/powerpoint/2010/main" val="1450606823"/>
      </p:ext>
    </p:extLst>
  </p:cSld>
</p:sld>
</file>

<file path=ppt/slides/slide1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DD4E7-C545-4192-9167-E052A8246D7B}"/>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RECOMMANDATION</a:t>
            </a:r>
          </a:p>
        </p:txBody>
      </p:sp>
      <p:sp>
        <p:nvSpPr>
          <p:cNvPr id="2" name="">
            <a:extLst xmlns:a="http://schemas.openxmlformats.org/drawingml/2006/main">
              <a:ext uri="{FF2B5EF4-FFF2-40B4-BE49-F238E27FC236}">
                <a16:creationId xmlns:a16="http://schemas.microsoft.com/office/drawing/2014/main" id="{295941D3-B002-4C5A-8B6D-0F752EE357B8}"/>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12</a:t>
            </a:r>
          </a:p>
        </p:txBody>
      </p:sp>
      <p:sp>
        <p:nvSpPr>
          <p:cNvPr id="3" name="">
            <a:extLst xmlns:a="http://schemas.openxmlformats.org/drawingml/2006/main">
              <a:ext uri="{FF2B5EF4-FFF2-40B4-BE49-F238E27FC236}">
                <a16:creationId xmlns:a16="http://schemas.microsoft.com/office/drawing/2014/main" id="{11725A51-A566-43A7-9E9D-8584FA627FB9}"/>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132A3A"/>
                </a:solidFill>
              </a:defRPr>
            </a:pPr>
            <a:r>
              <a:rPr sz="2550" b="1">
                <a:solidFill>
                  <a:srgbClr val="132A3A"/>
                </a:solidFill>
              </a:rPr>
              <a:t>La suite logique est un pilote multi-villes mesuré</a:t>
            </a:r>
          </a:p>
        </p:txBody>
      </p:sp>
      <p:sp>
        <p:nvSpPr>
          <p:cNvPr id="4" name="">
            <a:extLst xmlns:a="http://schemas.openxmlformats.org/drawingml/2006/main">
              <a:ext uri="{FF2B5EF4-FFF2-40B4-BE49-F238E27FC236}">
                <a16:creationId xmlns:a16="http://schemas.microsoft.com/office/drawing/2014/main" id="{FF5E4CA4-48D7-4FBA-A7C8-62D7B2A7F96C}"/>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5F6B73"/>
                </a:solidFill>
              </a:defRPr>
            </a:pPr>
            <a:r>
              <a:rPr sz="1350" b="0">
                <a:solidFill>
                  <a:srgbClr val="5F6B73"/>
                </a:solidFill>
              </a:rPr>
              <a:t>La faisabilité est démontrée. La prochaine décision est d’apprendre en conditions réelles, sans sur-industrialiser.</a:t>
            </a:r>
          </a:p>
        </p:txBody>
      </p:sp>
      <p:sp>
        <p:nvSpPr>
          <p:cNvPr id="5" name="">
            <a:extLst xmlns:a="http://schemas.openxmlformats.org/drawingml/2006/main">
              <a:ext uri="{FF2B5EF4-FFF2-40B4-BE49-F238E27FC236}">
                <a16:creationId xmlns:a16="http://schemas.microsoft.com/office/drawing/2014/main" id="{17F4AD74-9B2B-4E73-B05A-95011294D6B8}"/>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F02480D8-5FDE-4C76-A59E-88130175AACC}"/>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01</a:t>
            </a:r>
          </a:p>
        </p:txBody>
      </p:sp>
      <p:sp>
        <p:nvSpPr>
          <p:cNvPr id="7" name="">
            <a:extLst xmlns:a="http://schemas.openxmlformats.org/drawingml/2006/main">
              <a:ext uri="{FF2B5EF4-FFF2-40B4-BE49-F238E27FC236}">
                <a16:creationId xmlns:a16="http://schemas.microsoft.com/office/drawing/2014/main" id="{F6C4AC81-2F12-4573-B92A-0A185C19B3E2}"/>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0">
                <a:solidFill>
                  <a:srgbClr val="132A3A"/>
                </a:solidFill>
              </a:defRPr>
            </a:pPr>
            <a:r>
              <a:rPr sz="1800" b="0">
                <a:solidFill>
                  <a:srgbClr val="132A3A"/>
                </a:solidFill>
              </a:rPr>
              <a:t>Piloter</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800" b="0">
                <a:solidFill>
                  <a:srgbClr val="132A3A"/>
                </a:solidFill>
              </a:defRPr>
            </a:pPr>
            <a:r>
              <a:rPr sz="1800" b="0">
                <a:solidFill>
                  <a:srgbClr val="132A3A"/>
                </a:solidFill>
              </a:rPr>
              <a:t>plus de villes</a:t>
            </a:r>
          </a:p>
          <a:p xmlns:a="http://schemas.openxmlformats.org/drawingml/2006/main">
            <a:pPr>
              <a:buNone/>
              <a:defRPr sz="1800" b="0">
                <a:solidFill>
                  <a:srgbClr val="132A3A"/>
                </a:solidFill>
              </a:defRPr>
            </a:pPr>
            <a:r>
              <a:rPr sz="1800" b="0">
                <a:solidFill>
                  <a:srgbClr val="132A3A"/>
                </a:solidFill>
              </a:rPr>
              <a:t>plus de cas</a:t>
            </a:r>
          </a:p>
          <a:p xmlns:a="http://schemas.openxmlformats.org/drawingml/2006/main">
            <a:pPr>
              <a:buNone/>
              <a:defRPr sz="1800" b="0">
                <a:solidFill>
                  <a:srgbClr val="132A3A"/>
                </a:solidFill>
              </a:defRPr>
            </a:pPr>
            <a:r>
              <a:rPr sz="1800" b="0">
                <a:solidFill>
                  <a:srgbClr val="132A3A"/>
                </a:solidFill>
              </a:rPr>
              <a:t>mesurer l’utilité</a:t>
            </a:r>
          </a:p>
        </p:txBody>
      </p:sp>
      <p:sp>
        <p:nvSpPr>
          <p:cNvPr id="8" name="">
            <a:extLst xmlns:a="http://schemas.openxmlformats.org/drawingml/2006/main">
              <a:ext uri="{FF2B5EF4-FFF2-40B4-BE49-F238E27FC236}">
                <a16:creationId xmlns:a16="http://schemas.microsoft.com/office/drawing/2014/main" id="{316CA29F-751D-46C9-82B3-42DDDC989FF1}"/>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9030167A-976F-468B-9F73-5414653AB206}"/>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02</a:t>
            </a:r>
          </a:p>
        </p:txBody>
      </p:sp>
      <p:sp>
        <p:nvSpPr>
          <p:cNvPr id="10" name="">
            <a:extLst xmlns:a="http://schemas.openxmlformats.org/drawingml/2006/main">
              <a:ext uri="{FF2B5EF4-FFF2-40B4-BE49-F238E27FC236}">
                <a16:creationId xmlns:a16="http://schemas.microsoft.com/office/drawing/2014/main" id="{25A1F1B2-751E-4473-A71F-1B4413CC2F60}"/>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132A3A"/>
                </a:solidFill>
              </a:defRPr>
            </a:pPr>
            <a:r>
              <a:rPr sz="1725" b="0">
                <a:solidFill>
                  <a:srgbClr val="132A3A"/>
                </a:solidFill>
              </a:rPr>
              <a:t>Sécuriser</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725" b="0">
                <a:solidFill>
                  <a:srgbClr val="132A3A"/>
                </a:solidFill>
              </a:defRPr>
            </a:pPr>
            <a:r>
              <a:rPr sz="1725" b="0">
                <a:solidFill>
                  <a:srgbClr val="132A3A"/>
                </a:solidFill>
              </a:rPr>
              <a:t>seuils</a:t>
            </a:r>
          </a:p>
          <a:p xmlns:a="http://schemas.openxmlformats.org/drawingml/2006/main">
            <a:pPr>
              <a:buNone/>
              <a:defRPr sz="1725" b="0">
                <a:solidFill>
                  <a:srgbClr val="132A3A"/>
                </a:solidFill>
              </a:defRPr>
            </a:pPr>
            <a:r>
              <a:rPr sz="1725" b="0">
                <a:solidFill>
                  <a:srgbClr val="132A3A"/>
                </a:solidFill>
              </a:rPr>
              <a:t>filtres</a:t>
            </a:r>
          </a:p>
          <a:p xmlns:a="http://schemas.openxmlformats.org/drawingml/2006/main">
            <a:pPr>
              <a:buNone/>
              <a:defRPr sz="1725" b="0">
                <a:solidFill>
                  <a:srgbClr val="132A3A"/>
                </a:solidFill>
              </a:defRPr>
            </a:pPr>
            <a:r>
              <a:rPr sz="1725" b="0">
                <a:solidFill>
                  <a:srgbClr val="132A3A"/>
                </a:solidFill>
              </a:rPr>
              <a:t>réponses</a:t>
            </a:r>
          </a:p>
          <a:p xmlns:a="http://schemas.openxmlformats.org/drawingml/2006/main">
            <a:pPr>
              <a:buNone/>
              <a:defRPr sz="1725" b="0">
                <a:solidFill>
                  <a:srgbClr val="132A3A"/>
                </a:solidFill>
              </a:defRPr>
            </a:pPr>
            <a:r>
              <a:rPr sz="1725" b="0">
                <a:solidFill>
                  <a:srgbClr val="132A3A"/>
                </a:solidFill>
              </a:rPr>
              <a:t>structurées</a:t>
            </a:r>
          </a:p>
        </p:txBody>
      </p:sp>
      <p:sp>
        <p:nvSpPr>
          <p:cNvPr id="11" name="">
            <a:extLst xmlns:a="http://schemas.openxmlformats.org/drawingml/2006/main">
              <a:ext uri="{FF2B5EF4-FFF2-40B4-BE49-F238E27FC236}">
                <a16:creationId xmlns:a16="http://schemas.microsoft.com/office/drawing/2014/main" id="{B837D4B8-3662-4C99-AF1D-23A2531507D7}"/>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78BD7A61-BCA3-4780-A3F8-2967C750AD61}"/>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32A3A"/>
                </a:solidFill>
              </a:defRPr>
            </a:pPr>
            <a:r>
              <a:rPr sz="1500" b="1">
                <a:solidFill>
                  <a:srgbClr val="132A3A"/>
                </a:solidFill>
              </a:rPr>
              <a:t>03</a:t>
            </a:r>
          </a:p>
        </p:txBody>
      </p:sp>
      <p:sp>
        <p:nvSpPr>
          <p:cNvPr id="13" name="">
            <a:extLst xmlns:a="http://schemas.openxmlformats.org/drawingml/2006/main">
              <a:ext uri="{FF2B5EF4-FFF2-40B4-BE49-F238E27FC236}">
                <a16:creationId xmlns:a16="http://schemas.microsoft.com/office/drawing/2014/main" id="{9080B4B3-A155-48BF-BD7E-7C89E0874B10}"/>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0">
                <a:solidFill>
                  <a:srgbClr val="0B6B69"/>
                </a:solidFill>
              </a:defRPr>
            </a:pPr>
            <a:r>
              <a:rPr sz="1725" b="0">
                <a:solidFill>
                  <a:srgbClr val="0B6B69"/>
                </a:solidFill>
              </a:rPr>
              <a:t>Industrialiser</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725" b="0">
                <a:solidFill>
                  <a:srgbClr val="0B6B69"/>
                </a:solidFill>
              </a:defRPr>
            </a:pPr>
            <a:r>
              <a:rPr sz="1725" b="0">
                <a:solidFill>
                  <a:srgbClr val="0B6B69"/>
                </a:solidFill>
              </a:rPr>
              <a:t>CI/CD</a:t>
            </a:r>
          </a:p>
          <a:p xmlns:a="http://schemas.openxmlformats.org/drawingml/2006/main">
            <a:pPr>
              <a:buNone/>
              <a:defRPr sz="1725" b="0">
                <a:solidFill>
                  <a:srgbClr val="0B6B69"/>
                </a:solidFill>
              </a:defRPr>
            </a:pPr>
            <a:r>
              <a:rPr sz="1725" b="0">
                <a:solidFill>
                  <a:srgbClr val="0B6B69"/>
                </a:solidFill>
              </a:rPr>
              <a:t>supervision</a:t>
            </a:r>
          </a:p>
          <a:p xmlns:a="http://schemas.openxmlformats.org/drawingml/2006/main">
            <a:pPr>
              <a:buNone/>
              <a:defRPr sz="1725" b="0">
                <a:solidFill>
                  <a:srgbClr val="0B6B69"/>
                </a:solidFill>
              </a:defRPr>
            </a:pPr>
            <a:r>
              <a:rPr sz="1725" b="0">
                <a:solidFill>
                  <a:srgbClr val="0B6B69"/>
                </a:solidFill>
              </a:rPr>
              <a:t>sécurité</a:t>
            </a:r>
          </a:p>
          <a:p xmlns:a="http://schemas.openxmlformats.org/drawingml/2006/main">
            <a:pPr>
              <a:buNone/>
              <a:defRPr sz="1725" b="0">
                <a:solidFill>
                  <a:srgbClr val="0B6B69"/>
                </a:solidFill>
              </a:defRPr>
            </a:pPr>
            <a:r>
              <a:rPr sz="1725" b="0">
                <a:solidFill>
                  <a:srgbClr val="0B6B69"/>
                </a:solidFill>
              </a:rPr>
              <a:t>charge</a:t>
            </a:r>
          </a:p>
        </p:txBody>
      </p:sp>
    </p:spTree>
    <p:extLst>
      <p:ext uri="{BB962C8B-B14F-4D97-AF65-F5344CB8AC3E}">
        <p14:creationId xmlns:p14="http://schemas.microsoft.com/office/powerpoint/2010/main" val="19584736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2026-08-12T15:02:04.0080000Z</dcterms:created>
  <dcterms:modified xsi:type="dcterms:W3CDTF">2026-08-12T15:02:04.0080000Z</dcterms:modified>
</coreProperties>
</file>