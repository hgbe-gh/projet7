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e4b7d97445449cb" /><Relationship Type="http://schemas.openxmlformats.org/officeDocument/2006/relationships/extended-properties" Target="/docProps/app.xml" Id="Reb6e8702e0484adf" /><Relationship Type="http://schemas.openxmlformats.org/officeDocument/2006/relationships/officeDocument" Target="/ppt/presentation.xml" Id="R0156373d359348f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bec24a006d94845"/>
  </p:sldMasterIdLst>
  <p:notesMasterIdLst>
    <p:notesMasterId xmlns:r="http://schemas.openxmlformats.org/officeDocument/2006/relationships" r:id="R35ceb18aa94241b0"/>
  </p:notesMasterIdLst>
  <p:sldIdLst>
    <p:sldId xmlns:r="http://schemas.openxmlformats.org/officeDocument/2006/relationships" id="256" r:id="Ra9700f4774c74e40"/>
    <p:sldId xmlns:r="http://schemas.openxmlformats.org/officeDocument/2006/relationships" id="257" r:id="R0b5724cc13ec42d8"/>
    <p:sldId xmlns:r="http://schemas.openxmlformats.org/officeDocument/2006/relationships" id="258" r:id="Re0541d774b1f490d"/>
    <p:sldId xmlns:r="http://schemas.openxmlformats.org/officeDocument/2006/relationships" id="259" r:id="R042d9643f4894980"/>
    <p:sldId xmlns:r="http://schemas.openxmlformats.org/officeDocument/2006/relationships" id="260" r:id="R322560d5e3cb485b"/>
    <p:sldId xmlns:r="http://schemas.openxmlformats.org/officeDocument/2006/relationships" id="261" r:id="R03e626d27f7c461b"/>
    <p:sldId xmlns:r="http://schemas.openxmlformats.org/officeDocument/2006/relationships" id="262" r:id="R36197e68d3d84cfc"/>
    <p:sldId xmlns:r="http://schemas.openxmlformats.org/officeDocument/2006/relationships" id="263" r:id="Re8dd90425759474b"/>
    <p:sldId xmlns:r="http://schemas.openxmlformats.org/officeDocument/2006/relationships" id="264" r:id="R06a93d5ebdba498f"/>
    <p:sldId xmlns:r="http://schemas.openxmlformats.org/officeDocument/2006/relationships" id="265" r:id="R255535622d2d486a"/>
    <p:sldId xmlns:r="http://schemas.openxmlformats.org/officeDocument/2006/relationships" id="266" r:id="Re2dbc08ceb1744c2"/>
    <p:sldId xmlns:r="http://schemas.openxmlformats.org/officeDocument/2006/relationships" id="267" r:id="Re3bceb5d977a421c"/>
    <p:sldId xmlns:r="http://schemas.openxmlformats.org/officeDocument/2006/relationships" id="268" r:id="R9e97aac43b5f4796"/>
    <p:sldId xmlns:r="http://schemas.openxmlformats.org/officeDocument/2006/relationships" id="269" r:id="R4816d2fcef2644e2"/>
    <p:sldId xmlns:r="http://schemas.openxmlformats.org/officeDocument/2006/relationships" id="270" r:id="R1cbdab027e30448d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472cdcc359d4bd5" /><Relationship Type="http://schemas.openxmlformats.org/officeDocument/2006/relationships/slideMaster" Target="/ppt/slideMasters/slideMaster1.xml" Id="R3bec24a006d94845" /><Relationship Type="http://schemas.openxmlformats.org/officeDocument/2006/relationships/notesMaster" Target="/ppt/notesMasters/notesMaster1.xml" Id="R35ceb18aa94241b0" /><Relationship Type="http://schemas.openxmlformats.org/officeDocument/2006/relationships/presProps" Target="/ppt/presProps.xml" Id="R2d9f6b95dd7f4193" /><Relationship Type="http://schemas.openxmlformats.org/officeDocument/2006/relationships/tableStyles" Target="/ppt/tableStyles.xml" Id="Rb343e5db66ef43a0" /><Relationship Type="http://schemas.openxmlformats.org/officeDocument/2006/relationships/slide" Target="/ppt/slides/slide1.xml" Id="Ra9700f4774c74e40" /><Relationship Type="http://schemas.openxmlformats.org/officeDocument/2006/relationships/slide" Target="/ppt/slides/slide2.xml" Id="R0b5724cc13ec42d8" /><Relationship Type="http://schemas.openxmlformats.org/officeDocument/2006/relationships/slide" Target="/ppt/slides/slide3.xml" Id="Re0541d774b1f490d" /><Relationship Type="http://schemas.openxmlformats.org/officeDocument/2006/relationships/slide" Target="/ppt/slides/slide4.xml" Id="R042d9643f4894980" /><Relationship Type="http://schemas.openxmlformats.org/officeDocument/2006/relationships/slide" Target="/ppt/slides/slide5.xml" Id="R322560d5e3cb485b" /><Relationship Type="http://schemas.openxmlformats.org/officeDocument/2006/relationships/slide" Target="/ppt/slides/slide6.xml" Id="R03e626d27f7c461b" /><Relationship Type="http://schemas.openxmlformats.org/officeDocument/2006/relationships/slide" Target="/ppt/slides/slide7.xml" Id="R36197e68d3d84cfc" /><Relationship Type="http://schemas.openxmlformats.org/officeDocument/2006/relationships/slide" Target="/ppt/slides/slide8.xml" Id="Re8dd90425759474b" /><Relationship Type="http://schemas.openxmlformats.org/officeDocument/2006/relationships/slide" Target="/ppt/slides/slide9.xml" Id="R06a93d5ebdba498f" /><Relationship Type="http://schemas.openxmlformats.org/officeDocument/2006/relationships/slide" Target="/ppt/slides/slide10.xml" Id="R255535622d2d486a" /><Relationship Type="http://schemas.openxmlformats.org/officeDocument/2006/relationships/slide" Target="/ppt/slides/slide11.xml" Id="Re2dbc08ceb1744c2" /><Relationship Type="http://schemas.openxmlformats.org/officeDocument/2006/relationships/slide" Target="/ppt/slides/slide12.xml" Id="Re3bceb5d977a421c" /><Relationship Type="http://schemas.openxmlformats.org/officeDocument/2006/relationships/slide" Target="/ppt/slides/slide13.xml" Id="R9e97aac43b5f4796" /><Relationship Type="http://schemas.openxmlformats.org/officeDocument/2006/relationships/slide" Target="/ppt/slides/slide14.xml" Id="R4816d2fcef2644e2" /><Relationship Type="http://schemas.openxmlformats.org/officeDocument/2006/relationships/slide" Target="/ppt/slides/slide15.xml" Id="R1cbdab027e30448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824a32e9cba480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83d32f0f33747eb" /><Relationship Type="http://schemas.openxmlformats.org/officeDocument/2006/relationships/notesMaster" Target="/ppt/notesMasters/notesMaster1.xml" Id="R3756b939c4234b9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6fdcb5a55c24025" /><Relationship Type="http://schemas.openxmlformats.org/officeDocument/2006/relationships/notesMaster" Target="/ppt/notesMasters/notesMaster1.xml" Id="R5554d16abb5c49a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0afc53de8f44a87" /><Relationship Type="http://schemas.openxmlformats.org/officeDocument/2006/relationships/notesMaster" Target="/ppt/notesMasters/notesMaster1.xml" Id="Rebcded58c8864e6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575a19ef74e4057" /><Relationship Type="http://schemas.openxmlformats.org/officeDocument/2006/relationships/notesMaster" Target="/ppt/notesMasters/notesMaster1.xml" Id="Rb282b187876948d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42874b52ff44694" /><Relationship Type="http://schemas.openxmlformats.org/officeDocument/2006/relationships/notesMaster" Target="/ppt/notesMasters/notesMaster1.xml" Id="R5eaf0c5ac6764c4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59f0f30c96445b1" /><Relationship Type="http://schemas.openxmlformats.org/officeDocument/2006/relationships/notesMaster" Target="/ppt/notesMasters/notesMaster1.xml" Id="Rde4c6c6225b04a1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8fd739349584633" /><Relationship Type="http://schemas.openxmlformats.org/officeDocument/2006/relationships/notesMaster" Target="/ppt/notesMasters/notesMaster1.xml" Id="R1815fb29649649a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3642582440147ab" /><Relationship Type="http://schemas.openxmlformats.org/officeDocument/2006/relationships/notesMaster" Target="/ppt/notesMasters/notesMaster1.xml" Id="R9a7c2bcedddf43b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8b353c6a8704436" /><Relationship Type="http://schemas.openxmlformats.org/officeDocument/2006/relationships/notesMaster" Target="/ppt/notesMasters/notesMaster1.xml" Id="Rf32875e29b73456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a6bd5d8ad9e45ce" /><Relationship Type="http://schemas.openxmlformats.org/officeDocument/2006/relationships/notesMaster" Target="/ppt/notesMasters/notesMaster1.xml" Id="R3de89513b11e4f5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f06cc582bfc40fe" /><Relationship Type="http://schemas.openxmlformats.org/officeDocument/2006/relationships/notesMaster" Target="/ppt/notesMasters/notesMaster1.xml" Id="R5f919dcc88e44b1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691470306bf43c7" /><Relationship Type="http://schemas.openxmlformats.org/officeDocument/2006/relationships/notesMaster" Target="/ppt/notesMasters/notesMaster1.xml" Id="R40e853e9f1d143b3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02b10c13f35f4594" /><Relationship Type="http://schemas.openxmlformats.org/officeDocument/2006/relationships/notesMaster" Target="/ppt/notesMasters/notesMaster1.xml" Id="Rcff6a668d4e748de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daee7571ad92407e" /><Relationship Type="http://schemas.openxmlformats.org/officeDocument/2006/relationships/notesMaster" Target="/ppt/notesMasters/notesMaster1.xml" Id="Rbe4461ca45c04e6d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9ea350ef23dc4da4" /><Relationship Type="http://schemas.openxmlformats.org/officeDocument/2006/relationships/notesMaster" Target="/ppt/notesMasters/notesMaster1.xml" Id="Rc28e12a59efe476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8fb9cf4f3a9494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d729b9fbd0d4104" /><Relationship Type="http://schemas.openxmlformats.org/officeDocument/2006/relationships/slideLayout" Target="/ppt/slideLayouts/slideLayout1.xml" Id="R774d2d2c2c0c474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74d2d2c2c0c474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3c638e9e1240e1" /><Relationship Type="http://schemas.openxmlformats.org/officeDocument/2006/relationships/notesSlide" Target="/ppt/notesSlides/notesSlide1.xml" Id="Rc473ece4802d47f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3d9ba6c2d348eb" /><Relationship Type="http://schemas.openxmlformats.org/officeDocument/2006/relationships/notesSlide" Target="/ppt/notesSlides/notesSlide2.xml" Id="Rbda4c2fb0d454a8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edf298ac6149d8" /><Relationship Type="http://schemas.openxmlformats.org/officeDocument/2006/relationships/notesSlide" Target="/ppt/notesSlides/notesSlide3.xml" Id="R6be64ddac7c24c4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57f76b2a4e4d2b" /><Relationship Type="http://schemas.openxmlformats.org/officeDocument/2006/relationships/notesSlide" Target="/ppt/notesSlides/notesSlide4.xml" Id="R74a3debf30f9492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a956e519df4f84" /><Relationship Type="http://schemas.openxmlformats.org/officeDocument/2006/relationships/notesSlide" Target="/ppt/notesSlides/notesSlide5.xml" Id="R771e5d5d0ecb4c1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9a196994b24789" /><Relationship Type="http://schemas.openxmlformats.org/officeDocument/2006/relationships/notesSlide" Target="/ppt/notesSlides/notesSlide6.xml" Id="R9f22c9f73e80463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e1452544af4805" /><Relationship Type="http://schemas.openxmlformats.org/officeDocument/2006/relationships/notesSlide" Target="/ppt/notesSlides/notesSlide7.xml" Id="R4450aa9157044ab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ace260537a4770" /><Relationship Type="http://schemas.openxmlformats.org/officeDocument/2006/relationships/notesSlide" Target="/ppt/notesSlides/notesSlide8.xml" Id="R977aff328d8b42a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f5c574de0b44c7" /><Relationship Type="http://schemas.openxmlformats.org/officeDocument/2006/relationships/notesSlide" Target="/ppt/notesSlides/notesSlide9.xml" Id="R21b87f07c9c342f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71e550f4f8489c" /><Relationship Type="http://schemas.openxmlformats.org/officeDocument/2006/relationships/notesSlide" Target="/ppt/notesSlides/notesSlide10.xml" Id="Re1d4527d48ae422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19969b7977435e" /><Relationship Type="http://schemas.openxmlformats.org/officeDocument/2006/relationships/notesSlide" Target="/ppt/notesSlides/notesSlide11.xml" Id="Rd3bab6d6fd0244c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b9f1a52fc14ea8" /><Relationship Type="http://schemas.openxmlformats.org/officeDocument/2006/relationships/notesSlide" Target="/ppt/notesSlides/notesSlide12.xml" Id="Ree91cc4b81ae43a6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2d8061b1254842" /><Relationship Type="http://schemas.openxmlformats.org/officeDocument/2006/relationships/notesSlide" Target="/ppt/notesSlides/notesSlide13.xml" Id="R7e49e423285e4d33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2405b8e68046ad" /><Relationship Type="http://schemas.openxmlformats.org/officeDocument/2006/relationships/notesSlide" Target="/ppt/notesSlides/notesSlide14.xml" Id="Rd52dd627f614476d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822e805c2f4cae" /><Relationship Type="http://schemas.openxmlformats.org/officeDocument/2006/relationships/notesSlide" Target="/ppt/notesSlides/notesSlide15.xml" Id="Rc8f6679baf4a4e1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CA900C4-AD42-441D-BC1C-CCB3BCDB4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52450"/>
            <a:ext cx="4000500" cy="575310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EFE8DD"/>
          </a:solidFill>
          <a:ln xmlns:a="http://schemas.openxmlformats.org/drawingml/2006/main" w="9525">
            <a:solidFill>
              <a:srgbClr val="D9D2C7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ACC180-FBF0-4EE3-98B8-C42026080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1257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5A3D"/>
          </a:solidFill>
          <a:ln xmlns:a="http://schemas.openxmlformats.org/drawingml/2006/main" w="0">
            <a:solidFill>
              <a:srgbClr val="C65A3D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300945-5BA9-43E3-AFFC-750395B7A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47800"/>
            <a:ext cx="5905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132A3A"/>
                </a:solidFill>
              </a:defRPr>
            </a:pPr>
            <a:r>
              <a:rPr sz="2550" b="1">
                <a:solidFill>
                  <a:srgbClr val="132A3A"/>
                </a:solidFill>
              </a:rPr>
              <a:t>Assistant RAG pour la recommandation d'evenements culturels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D88034-CCCB-4F66-962D-DABFD1BFA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0"/>
            <a:ext cx="5334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5F6B73"/>
                </a:solidFill>
              </a:defRPr>
            </a:pPr>
            <a:r>
              <a:rPr sz="1500" b="0">
                <a:solidFill>
                  <a:srgbClr val="5F6B73"/>
                </a:solidFill>
              </a:rPr>
              <a:t>POC OpenClassrooms pour Puls-Events</a:t>
            </a:r>
          </a:p>
          <a:p xmlns:a="http://schemas.openxmlformats.org/drawingml/2006/main">
            <a:pPr>
              <a:buNone/>
              <a:defRPr sz="1500" b="0">
                <a:solidFill>
                  <a:srgbClr val="5F6B73"/>
                </a:solidFill>
              </a:defRPr>
            </a:pPr>
            <a:r>
              <a:rPr sz="1500" b="0">
                <a:solidFill>
                  <a:srgbClr val="5F6B73"/>
                </a:solidFill>
              </a:rPr>
              <a:t>Corpus Paris borne + Mistral + FAISS + FastAPI + Docker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A38340-9E74-49C3-8B70-7C03ADA4D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0"/>
            <a:ext cx="247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2E6F73"/>
                </a:solidFill>
              </a:defRPr>
            </a:pPr>
            <a:r>
              <a:rPr sz="1200" b="1">
                <a:solidFill>
                  <a:srgbClr val="2E6F73"/>
                </a:solidFill>
              </a:rPr>
              <a:t>Soutenance — juillet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AD294F-21FE-40DE-814B-88C080E51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1009650"/>
            <a:ext cx="304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32A3A"/>
                </a:solidFill>
              </a:defRPr>
            </a:pPr>
            <a:r>
              <a:rPr sz="1350" b="1">
                <a:solidFill>
                  <a:srgbClr val="132A3A"/>
                </a:solidFill>
              </a:rPr>
              <a:t>Corpus livre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B8D6A6-BF3E-4E7A-9F25-83C7491A2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1657350"/>
            <a:ext cx="3048000" cy="2762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132A3A"/>
                </a:solidFill>
              </a:defRPr>
            </a:pPr>
            <a:r>
              <a:rPr sz="1650" b="0">
                <a:solidFill>
                  <a:srgbClr val="132A3A"/>
                </a:solidFill>
              </a:rPr>
              <a:t>Paris uniquement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650" b="0">
                <a:solidFill>
                  <a:srgbClr val="132A3A"/>
                </a:solidFill>
              </a:defRPr>
            </a:pPr>
            <a:r>
              <a:rPr sz="1650" b="0">
                <a:solidFill>
                  <a:srgbClr val="132A3A"/>
                </a:solidFill>
              </a:rPr>
              <a:t>Fenetre collecte: du 2025-07-10 au 2026-07-10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650" b="0">
                <a:solidFill>
                  <a:srgbClr val="132A3A"/>
                </a:solidFill>
              </a:defRPr>
            </a:pPr>
            <a:r>
              <a:rPr sz="1650" b="0">
                <a:solidFill>
                  <a:srgbClr val="132A3A"/>
                </a:solidFill>
              </a:rPr>
              <a:t>7 586 evenements normalises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650" b="0">
                <a:solidFill>
                  <a:srgbClr val="132A3A"/>
                </a:solidFill>
              </a:defRPr>
            </a:pPr>
            <a:r>
              <a:rPr sz="1650" b="0">
                <a:solidFill>
                  <a:srgbClr val="132A3A"/>
                </a:solidFill>
              </a:rPr>
              <a:t>14 903 chunks FAISS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A862DC8-0C9E-4740-BBBD-B779A578A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4953000"/>
            <a:ext cx="3048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5F6B73"/>
                </a:solidFill>
              </a:defRPr>
            </a:pPr>
            <a:r>
              <a:rPr sz="1350" b="0">
                <a:solidFill>
                  <a:srgbClr val="5F6B73"/>
                </a:solidFill>
              </a:rPr>
              <a:t>POC operationnel, evalue et conteneurise.</a:t>
            </a:r>
          </a:p>
        </p:txBody>
      </p:sp>
    </p:spTree>
    <p:extLst>
      <p:ext uri="{BB962C8B-B14F-4D97-AF65-F5344CB8AC3E}">
        <p14:creationId xmlns:p14="http://schemas.microsoft.com/office/powerpoint/2010/main" val="169987604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5427E9A-C408-469B-A500-CF881679D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5F6B73"/>
                </a:solidFill>
              </a:defRPr>
            </a:pPr>
            <a:r>
              <a:rPr sz="900" b="1">
                <a:solidFill>
                  <a:srgbClr val="5F6B73"/>
                </a:solidFill>
              </a:rPr>
              <a:t>CONTEXTE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4CA8E5-D839-4D58-A036-AA8E0DCED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66700"/>
            <a:ext cx="647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5F6B73"/>
                </a:solidFill>
              </a:defRPr>
            </a:pPr>
            <a:r>
              <a:rPr sz="900" b="1">
                <a:solidFill>
                  <a:srgbClr val="5F6B73"/>
                </a:solidFill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AB4B7E-BFC8-4305-A584-4D56C5962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763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132A3A"/>
                </a:solidFill>
              </a:defRPr>
            </a:pPr>
            <a:r>
              <a:rPr sz="2100" b="1">
                <a:solidFill>
                  <a:srgbClr val="132A3A"/>
                </a:solidFill>
              </a:rPr>
              <a:t>Le probleme metier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6C9193-C629-4CA3-83E6-5A1E64A5F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933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F6B73"/>
                </a:solidFill>
              </a:defRPr>
            </a:pPr>
            <a:r>
              <a:rPr sz="1275" b="0">
                <a:solidFill>
                  <a:srgbClr val="5F6B73"/>
                </a:solidFill>
              </a:rPr>
              <a:t>Puls-Events veut tester un chatbot capable de recommander des evenements culturels a partir d'un corpus reel et evolutif.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EBEF6B-1B0D-4632-AC0B-32BB22E25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3238500" cy="342900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FF7F3"/>
          </a:solidFill>
          <a:ln xmlns:a="http://schemas.openxmlformats.org/drawingml/2006/main" w="9525">
            <a:solidFill>
              <a:srgbClr val="D9D2C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EA710F-63E5-4197-BC97-D261407EE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66950"/>
            <a:ext cx="2781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32A3A"/>
                </a:solidFill>
              </a:defRPr>
            </a:pPr>
            <a:r>
              <a:rPr sz="1350" b="1">
                <a:solidFill>
                  <a:srgbClr val="132A3A"/>
                </a:solidFill>
              </a:rPr>
              <a:t>Attente metier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C809EA-4868-451D-94B2-473DD0890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86050"/>
            <a:ext cx="2781300" cy="2590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Poser une question naturelle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Obtenir des suggestions utiles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Justifier la reponse par des sources verifiables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Donner une interface testable aux equipes produit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02D925-0BC5-45D2-B4A2-33A7BF367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2076450"/>
            <a:ext cx="3238500" cy="342900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3F8F7"/>
          </a:solidFill>
          <a:ln xmlns:a="http://schemas.openxmlformats.org/drawingml/2006/main" w="9525">
            <a:solidFill>
              <a:srgbClr val="D9D2C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BED723-EBD9-4558-BFDC-7A0843C4F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266950"/>
            <a:ext cx="2781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32A3A"/>
                </a:solidFill>
              </a:defRPr>
            </a:pPr>
            <a:r>
              <a:rPr sz="1350" b="1">
                <a:solidFill>
                  <a:srgbClr val="132A3A"/>
                </a:solidFill>
              </a:rPr>
              <a:t>Difficulte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0E56DA-44A9-49EB-B8F9-973430AFE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686050"/>
            <a:ext cx="2781300" cy="2590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Donnees evenementielles heterogenes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Descriptions longues et bruites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Besoin de recherche semantique, pas seulement par mots-clés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Necessite de garder les metadonnees date / lieu / URL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671887-EEE7-4A97-8030-8CDA672F7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076450"/>
            <a:ext cx="3886200" cy="34290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7F5FB"/>
          </a:solidFill>
          <a:ln xmlns:a="http://schemas.openxmlformats.org/drawingml/2006/main" w="9525">
            <a:solidFill>
              <a:srgbClr val="D9D2C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62E5A1-6B24-4DE7-A391-D69603932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266950"/>
            <a:ext cx="342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32A3A"/>
                </a:solidFill>
              </a:defRPr>
            </a:pPr>
            <a:r>
              <a:rPr sz="1350" b="1">
                <a:solidFill>
                  <a:srgbClr val="132A3A"/>
                </a:solidFill>
              </a:rPr>
              <a:t>Reponse proposee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7146E2D-7D96-4098-B67F-592D56E8F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686050"/>
            <a:ext cx="3429000" cy="2590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Preparation d'un dataset propre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Vectorisation Mistral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Index local FAISS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Generation de reponse via Mistral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Exposition par API FastAPI puis Docker</a:t>
            </a:r>
          </a:p>
        </p:txBody>
      </p:sp>
    </p:spTree>
    <p:extLst>
      <p:ext uri="{BB962C8B-B14F-4D97-AF65-F5344CB8AC3E}">
        <p14:creationId xmlns:p14="http://schemas.microsoft.com/office/powerpoint/2010/main" val="75666380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B7AEF8A-6E27-4DE0-8681-D50D5D0CF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5F6B73"/>
                </a:solidFill>
              </a:defRPr>
            </a:pPr>
            <a:r>
              <a:rPr sz="900" b="1">
                <a:solidFill>
                  <a:srgbClr val="5F6B73"/>
                </a:solidFill>
              </a:rPr>
              <a:t>PEDAGOGIE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0EA67C-39F9-42C4-974F-D78284DAB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66700"/>
            <a:ext cx="647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5F6B73"/>
                </a:solidFill>
              </a:defRPr>
            </a:pPr>
            <a:r>
              <a:rPr sz="900" b="1">
                <a:solidFill>
                  <a:srgbClr val="5F6B73"/>
                </a:solidFill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5DB1D8A-D6F2-43F0-B33F-ACC17747F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763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132A3A"/>
                </a:solidFill>
              </a:defRPr>
            </a:pPr>
            <a:r>
              <a:rPr sz="2100" b="1">
                <a:solidFill>
                  <a:srgbClr val="132A3A"/>
                </a:solidFill>
              </a:rPr>
              <a:t>RAG en termes simples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76D11D-8949-4E5C-9C60-A1C877C94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933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F6B73"/>
                </a:solidFill>
              </a:defRPr>
            </a:pPr>
            <a:r>
              <a:rPr sz="1275" b="0">
                <a:solidFill>
                  <a:srgbClr val="5F6B73"/>
                </a:solidFill>
              </a:rPr>
              <a:t>Le systeme combine recherche documentaire et generation de texte, pour repondre avec contexte.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4F9B7D-1FBC-4FD5-89D9-633E6EB12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3048000" cy="247650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FFF7F3"/>
          </a:solidFill>
          <a:ln xmlns:a="http://schemas.openxmlformats.org/drawingml/2006/main" w="9525">
            <a:solidFill>
              <a:srgbClr val="D9D2C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89F420-FA07-4C2B-887F-B5D0AB413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81250"/>
            <a:ext cx="2590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32A3A"/>
                </a:solidFill>
              </a:defRPr>
            </a:pPr>
            <a:r>
              <a:rPr sz="1350" b="1">
                <a:solidFill>
                  <a:srgbClr val="132A3A"/>
                </a:solidFill>
              </a:rPr>
              <a:t>1. Retrieval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BCEAFD-3689-4A9E-A94C-61186B959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00350"/>
            <a:ext cx="25908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La question utilisateur est transformee en vecteur puis comparee a l'index FAISS pour retrouver les evenements les plus proches semantiquement.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7E524E-9CFF-4304-A351-0A76032BC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190750"/>
            <a:ext cx="3048000" cy="247650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F3F8F7"/>
          </a:solidFill>
          <a:ln xmlns:a="http://schemas.openxmlformats.org/drawingml/2006/main" w="9525">
            <a:solidFill>
              <a:srgbClr val="D9D2C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5DAE871-75B4-4308-BEBF-6A3BD6EE1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381250"/>
            <a:ext cx="2590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32A3A"/>
                </a:solidFill>
              </a:defRPr>
            </a:pPr>
            <a:r>
              <a:rPr sz="1350" b="1">
                <a:solidFill>
                  <a:srgbClr val="132A3A"/>
                </a:solidFill>
              </a:rPr>
              <a:t>2. Augmented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2A21354-25A0-4B03-AF00-8D999066C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800350"/>
            <a:ext cx="25908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Les titres, descriptions, dates, lieux et URL des meilleurs evenements sont reformates en contexte de travail pour le LLM.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6720DFA-F5DC-4B98-952B-8FB6D3255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190750"/>
            <a:ext cx="3048000" cy="247650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F7F5FB"/>
          </a:solidFill>
          <a:ln xmlns:a="http://schemas.openxmlformats.org/drawingml/2006/main" w="9525">
            <a:solidFill>
              <a:srgbClr val="D9D2C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BC1187B-8855-480F-9176-CE868C0C4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381250"/>
            <a:ext cx="2590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32A3A"/>
                </a:solidFill>
              </a:defRPr>
            </a:pPr>
            <a:r>
              <a:rPr sz="1350" b="1">
                <a:solidFill>
                  <a:srgbClr val="132A3A"/>
                </a:solidFill>
              </a:rPr>
              <a:t>3. Generation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AEC097F-153F-4BDE-AD52-EB87BF783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800350"/>
            <a:ext cx="25908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Mistral redige une reponse claire, limitee au contexte fourni, avec retour des sources pour verifier les recommandations.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904E6B7-37EC-4FC4-A421-DC70B12C4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0"/>
            <a:ext cx="10820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2E6F73"/>
                </a:solidFill>
              </a:defRPr>
            </a:pPr>
            <a:r>
              <a:rPr sz="1500" b="1">
                <a:solidFill>
                  <a:srgbClr val="2E6F73"/>
                </a:solidFill>
              </a:rPr>
              <a:t>Valeur business: une reponse plus pertinente qu'une recherche plein texte brute, et plus fiable qu'un LLM sans contexte.</a:t>
            </a:r>
          </a:p>
        </p:txBody>
      </p:sp>
    </p:spTree>
    <p:extLst>
      <p:ext uri="{BB962C8B-B14F-4D97-AF65-F5344CB8AC3E}">
        <p14:creationId xmlns:p14="http://schemas.microsoft.com/office/powerpoint/2010/main" val="41667574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5599F97-9507-437F-91BB-470AE53ED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5F6B73"/>
                </a:solidFill>
              </a:defRPr>
            </a:pPr>
            <a:r>
              <a:rPr sz="900" b="1">
                <a:solidFill>
                  <a:srgbClr val="5F6B73"/>
                </a:solidFill>
              </a:rPr>
              <a:t>DONNEES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76215A-0EDF-485F-9B7A-08D5CEDCE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66700"/>
            <a:ext cx="647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5F6B73"/>
                </a:solidFill>
              </a:defRPr>
            </a:pPr>
            <a:r>
              <a:rPr sz="900" b="1">
                <a:solidFill>
                  <a:srgbClr val="5F6B73"/>
                </a:solidFill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B88FD5-5C21-43DB-8820-ED4151700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763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132A3A"/>
                </a:solidFill>
              </a:defRPr>
            </a:pPr>
            <a:r>
              <a:rPr sz="2100" b="1">
                <a:solidFill>
                  <a:srgbClr val="132A3A"/>
                </a:solidFill>
              </a:rPr>
              <a:t>Jeu de donnees OpenAgenda / Opendatasoft utilise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E826E4-ED2B-46F6-9F5E-6785D1C8D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933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F6B73"/>
                </a:solidFill>
              </a:defRPr>
            </a:pPr>
            <a:r>
              <a:rPr sz="1275" b="0">
                <a:solidFill>
                  <a:srgbClr val="5F6B73"/>
                </a:solidFill>
              </a:rPr>
              <a:t>Le projet s'appuie sur le dataset public evenements-publics-openagenda et livre un seed Paris borne.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802C70-5168-436D-838B-A57E6D509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3429000" cy="3143250"/>
          </a:xfrm>
          <a:prstGeom xmlns:a="http://schemas.openxmlformats.org/drawingml/2006/main" prst="roundRect">
            <a:avLst>
              <a:gd name="adj" fmla="val 4848"/>
            </a:avLst>
          </a:prstGeom>
          <a:solidFill xmlns:a="http://schemas.openxmlformats.org/drawingml/2006/main">
            <a:srgbClr val="FFF7F3"/>
          </a:solidFill>
          <a:ln xmlns:a="http://schemas.openxmlformats.org/drawingml/2006/main" w="9525">
            <a:solidFill>
              <a:srgbClr val="D9D2C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3BB19A-2FB2-4A4D-92DA-D73B3AAF1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28850"/>
            <a:ext cx="2971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32A3A"/>
                </a:solidFill>
              </a:defRPr>
            </a:pPr>
            <a:r>
              <a:rPr sz="1350" b="1">
                <a:solidFill>
                  <a:srgbClr val="132A3A"/>
                </a:solidFill>
              </a:rPr>
              <a:t>Source retenue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C0734E-3CEB-44A2-934F-BA47934E3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47950"/>
            <a:ext cx="2971800" cy="2305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API Opendatasoft v2.1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Dataset: evenements-publics-openagenda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Collecte scriptable via `fetch_events.py`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Export brut JSON + parquet structure + manifeste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63A723-D99E-4B4F-A872-F7881E220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038350"/>
            <a:ext cx="3143250" cy="3143250"/>
          </a:xfrm>
          <a:prstGeom xmlns:a="http://schemas.openxmlformats.org/drawingml/2006/main" prst="roundRect">
            <a:avLst>
              <a:gd name="adj" fmla="val 4848"/>
            </a:avLst>
          </a:prstGeom>
          <a:solidFill xmlns:a="http://schemas.openxmlformats.org/drawingml/2006/main">
            <a:srgbClr val="F3F8F7"/>
          </a:solidFill>
          <a:ln xmlns:a="http://schemas.openxmlformats.org/drawingml/2006/main" w="9525">
            <a:solidFill>
              <a:srgbClr val="D9D2C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952A90-E66D-42DA-9F84-3E0DE9D69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228850"/>
            <a:ext cx="2686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32A3A"/>
                </a:solidFill>
              </a:defRPr>
            </a:pPr>
            <a:r>
              <a:rPr sz="1350" b="1">
                <a:solidFill>
                  <a:srgbClr val="132A3A"/>
                </a:solidFill>
              </a:rPr>
              <a:t>Filtre de travail actuel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DAE153D-6D79-4399-BECE-5D04543A6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647950"/>
            <a:ext cx="2686050" cy="2305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Ville: Paris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Fenetre: du 2025-07-10 au 2026-07-10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Agenda source: non restreint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Categories: non restreintes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2A0239-E23D-4AC5-8A6C-05A5AEE02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038350"/>
            <a:ext cx="3714750" cy="3143250"/>
          </a:xfrm>
          <a:prstGeom xmlns:a="http://schemas.openxmlformats.org/drawingml/2006/main" prst="roundRect">
            <a:avLst>
              <a:gd name="adj" fmla="val 4848"/>
            </a:avLst>
          </a:prstGeom>
          <a:solidFill xmlns:a="http://schemas.openxmlformats.org/drawingml/2006/main">
            <a:srgbClr val="F7F5FB"/>
          </a:solidFill>
          <a:ln xmlns:a="http://schemas.openxmlformats.org/drawingml/2006/main" w="9525">
            <a:solidFill>
              <a:srgbClr val="D9D2C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E7EEB2A-D872-4A1A-8A08-E2041A251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228850"/>
            <a:ext cx="3257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32A3A"/>
                </a:solidFill>
              </a:defRPr>
            </a:pPr>
            <a:r>
              <a:rPr sz="1350" b="1">
                <a:solidFill>
                  <a:srgbClr val="132A3A"/>
                </a:solidFill>
              </a:rPr>
              <a:t>Chiffres observes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703B98A-E948-4DC6-8B18-9D6E36F3E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647950"/>
            <a:ext cx="3257550" cy="2305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7 586 evenements bruts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7 586 evenements normalises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1 ville dans le seed livre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Manifeste: fetch_manifest.json</a:t>
            </a:r>
          </a:p>
        </p:txBody>
      </p:sp>
    </p:spTree>
    <p:extLst>
      <p:ext uri="{BB962C8B-B14F-4D97-AF65-F5344CB8AC3E}">
        <p14:creationId xmlns:p14="http://schemas.microsoft.com/office/powerpoint/2010/main" val="205182403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8A755B4-20A8-47AA-9A29-2EED01EBF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5F6B73"/>
                </a:solidFill>
              </a:defRPr>
            </a:pPr>
            <a:r>
              <a:rPr sz="900" b="1">
                <a:solidFill>
                  <a:srgbClr val="5F6B73"/>
                </a:solidFill>
              </a:rPr>
              <a:t>PIPELINE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D557EC-0B81-45FF-82DC-AFE38FB25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66700"/>
            <a:ext cx="647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5F6B73"/>
                </a:solidFill>
              </a:defRPr>
            </a:pPr>
            <a:r>
              <a:rPr sz="900" b="1">
                <a:solidFill>
                  <a:srgbClr val="5F6B73"/>
                </a:solidFill>
              </a:rPr>
              <a:t>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4CA0BF-B043-491D-9FC3-81F40D4A1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763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132A3A"/>
                </a:solidFill>
              </a:defRPr>
            </a:pPr>
            <a:r>
              <a:rPr sz="2100" b="1">
                <a:solidFill>
                  <a:srgbClr val="132A3A"/>
                </a:solidFill>
              </a:rPr>
              <a:t>Pipeline technique de bout en bout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DEC4CE-7C3D-495B-BB44-73852D343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933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F6B73"/>
                </a:solidFill>
              </a:defRPr>
            </a:pPr>
            <a:r>
              <a:rPr sz="1275" b="0">
                <a:solidFill>
                  <a:srgbClr val="5F6B73"/>
                </a:solidFill>
              </a:rPr>
              <a:t>Le POC est structure en etapes distinctes pour rester reproductible et testable.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A07032-CBF6-40E5-A18B-0526FF197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1562100" cy="20002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7F3"/>
          </a:solidFill>
          <a:ln xmlns:a="http://schemas.openxmlformats.org/drawingml/2006/main" w="9525">
            <a:solidFill>
              <a:srgbClr val="D9D2C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1B43258-F0FA-4D7B-B9FD-968A178DF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71750"/>
            <a:ext cx="1104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32A3A"/>
                </a:solidFill>
              </a:defRPr>
            </a:pPr>
            <a:r>
              <a:rPr sz="1350" b="1">
                <a:solidFill>
                  <a:srgbClr val="132A3A"/>
                </a:solidFill>
              </a:rPr>
              <a:t>Collecte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636DEB-28A8-43F3-B1E3-A9B60B95D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90850"/>
            <a:ext cx="11049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Opendatasoft / OpenAgenda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fetch_events.py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1FA870-063E-4FD7-A2CF-89B043251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3162300"/>
            <a:ext cx="228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C65A3D"/>
                </a:solidFill>
              </a:defRPr>
            </a:pPr>
            <a:r>
              <a:rPr sz="1650" b="1">
                <a:solidFill>
                  <a:srgbClr val="C65A3D"/>
                </a:solidFill>
              </a:rPr>
              <a:t>&gt;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5A3424-2AD9-438A-9B30-09A60DA0B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381250"/>
            <a:ext cx="1562100" cy="20002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7F3"/>
          </a:solidFill>
          <a:ln xmlns:a="http://schemas.openxmlformats.org/drawingml/2006/main" w="9525">
            <a:solidFill>
              <a:srgbClr val="D9D2C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D81376B-70EB-4C33-9D51-CCD9EFB41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2571750"/>
            <a:ext cx="1104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32A3A"/>
                </a:solidFill>
              </a:defRPr>
            </a:pPr>
            <a:r>
              <a:rPr sz="1350" b="1">
                <a:solidFill>
                  <a:srgbClr val="132A3A"/>
                </a:solidFill>
              </a:rPr>
              <a:t>Nettoyage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37988A-79CB-4623-8FF7-F0A7D66A9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2990850"/>
            <a:ext cx="11049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normalisation schema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text_for_embedding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1CA74E-27AC-45F0-9865-FF495207C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3162300"/>
            <a:ext cx="228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C65A3D"/>
                </a:solidFill>
              </a:defRPr>
            </a:pPr>
            <a:r>
              <a:rPr sz="1650" b="1">
                <a:solidFill>
                  <a:srgbClr val="C65A3D"/>
                </a:solidFill>
              </a:rPr>
              <a:t>&gt;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C860746-92BB-4DDB-94A7-CF64BA5F1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2381250"/>
            <a:ext cx="1562100" cy="20002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7F3"/>
          </a:solidFill>
          <a:ln xmlns:a="http://schemas.openxmlformats.org/drawingml/2006/main" w="9525">
            <a:solidFill>
              <a:srgbClr val="D9D2C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63B9436-8D10-47E3-A888-DE73F51F6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571750"/>
            <a:ext cx="1104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32A3A"/>
                </a:solidFill>
              </a:defRPr>
            </a:pPr>
            <a:r>
              <a:rPr sz="1350" b="1">
                <a:solidFill>
                  <a:srgbClr val="132A3A"/>
                </a:solidFill>
              </a:rPr>
              <a:t>Indexation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C92C46C-9681-465F-BFE6-DD0D96F42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990850"/>
            <a:ext cx="11049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chunks + Mistral embeddings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FAISS local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4905D06-F127-4E6A-B931-FAE58F517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3162300"/>
            <a:ext cx="228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C65A3D"/>
                </a:solidFill>
              </a:defRPr>
            </a:pPr>
            <a:r>
              <a:rPr sz="1650" b="1">
                <a:solidFill>
                  <a:srgbClr val="C65A3D"/>
                </a:solidFill>
              </a:rPr>
              <a:t>&gt;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073F971-3F43-425A-BB4E-B799A4CCE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2381250"/>
            <a:ext cx="1562100" cy="20002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7F3"/>
          </a:solidFill>
          <a:ln xmlns:a="http://schemas.openxmlformats.org/drawingml/2006/main" w="9525">
            <a:solidFill>
              <a:srgbClr val="D9D2C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EDA8B0A-F681-4B0A-A0A1-1ACE427B7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571750"/>
            <a:ext cx="1104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32A3A"/>
                </a:solidFill>
              </a:defRPr>
            </a:pPr>
            <a:r>
              <a:rPr sz="1350" b="1">
                <a:solidFill>
                  <a:srgbClr val="132A3A"/>
                </a:solidFill>
              </a:rPr>
              <a:t>RAG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B779674-096E-4462-B02F-75366A21D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990850"/>
            <a:ext cx="11049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retriever + prompt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Mistral chat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A305647-2D2A-4B43-9269-F09C484E6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3162300"/>
            <a:ext cx="228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C65A3D"/>
                </a:solidFill>
              </a:defRPr>
            </a:pPr>
            <a:r>
              <a:rPr sz="1650" b="1">
                <a:solidFill>
                  <a:srgbClr val="C65A3D"/>
                </a:solidFill>
              </a:rPr>
              <a:t>&gt;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D3697A3-AFB2-497D-8AE7-A89E4232E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381250"/>
            <a:ext cx="1562100" cy="20002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7F3"/>
          </a:solidFill>
          <a:ln xmlns:a="http://schemas.openxmlformats.org/drawingml/2006/main" w="9525">
            <a:solidFill>
              <a:srgbClr val="D9D2C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01F2443-CBD1-4EB6-B907-67FBC27CF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571750"/>
            <a:ext cx="1104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32A3A"/>
                </a:solidFill>
              </a:defRPr>
            </a:pPr>
            <a:r>
              <a:rPr sz="1350" b="1">
                <a:solidFill>
                  <a:srgbClr val="132A3A"/>
                </a:solidFill>
              </a:rPr>
              <a:t>API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D933D90-0737-444F-A418-B887E9561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990850"/>
            <a:ext cx="11049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FastAPI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/ask /rebuild /health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43F5472-555A-47F2-B9DB-14FBE8EF1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162300"/>
            <a:ext cx="228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C65A3D"/>
                </a:solidFill>
              </a:defRPr>
            </a:pPr>
            <a:r>
              <a:rPr sz="1650" b="1">
                <a:solidFill>
                  <a:srgbClr val="C65A3D"/>
                </a:solidFill>
              </a:rPr>
              <a:t>&gt;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44DD266-A077-4512-8854-530E58EBA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381250"/>
            <a:ext cx="1562100" cy="20002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7F3"/>
          </a:solidFill>
          <a:ln xmlns:a="http://schemas.openxmlformats.org/drawingml/2006/main" w="9525">
            <a:solidFill>
              <a:srgbClr val="D9D2C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8C82329-2E7D-47B0-BDF0-2B44A827F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571750"/>
            <a:ext cx="1104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32A3A"/>
                </a:solidFill>
              </a:defRPr>
            </a:pPr>
            <a:r>
              <a:rPr sz="1350" b="1">
                <a:solidFill>
                  <a:srgbClr val="132A3A"/>
                </a:solidFill>
              </a:rPr>
              <a:t>Docker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027CC64-972B-460C-B4EB-1A952FFFC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990850"/>
            <a:ext cx="11049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image seedee + volume runtime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demo locale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F204C27-A95D-4BE0-B73D-0CB7E9C76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0"/>
            <a:ext cx="10820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 b="0">
                <a:solidFill>
                  <a:srgbClr val="5F6B73"/>
                </a:solidFill>
              </a:defRPr>
            </a:pPr>
            <a:r>
              <a:rPr sz="1425" b="0">
                <a:solidFill>
                  <a:srgbClr val="5F6B73"/>
                </a:solidFill>
              </a:rPr>
              <a:t>Separation claire des responsabilites: ingestion, indexation, generation et exposition HTTP sont decouplees dans `src/openagenda_rag/`.</a:t>
            </a:r>
          </a:p>
        </p:txBody>
      </p:sp>
    </p:spTree>
    <p:extLst>
      <p:ext uri="{BB962C8B-B14F-4D97-AF65-F5344CB8AC3E}">
        <p14:creationId xmlns:p14="http://schemas.microsoft.com/office/powerpoint/2010/main" val="20212246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0A37F2B-8E49-4163-AC13-5D45D2AB8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5F6B73"/>
                </a:solidFill>
              </a:defRPr>
            </a:pPr>
            <a:r>
              <a:rPr sz="900" b="1">
                <a:solidFill>
                  <a:srgbClr val="5F6B73"/>
                </a:solidFill>
              </a:rPr>
              <a:t>INDEX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11DAE8-8574-4FFF-843B-0957D8352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66700"/>
            <a:ext cx="647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5F6B73"/>
                </a:solidFill>
              </a:defRPr>
            </a:pPr>
            <a:r>
              <a:rPr sz="900" b="1">
                <a:solidFill>
                  <a:srgbClr val="5F6B73"/>
                </a:solidFill>
              </a:rPr>
              <a:t>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D10E79-8E75-46E8-9E10-425C25C33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763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132A3A"/>
                </a:solidFill>
              </a:defRPr>
            </a:pPr>
            <a:r>
              <a:rPr sz="2100" b="1">
                <a:solidFill>
                  <a:srgbClr val="132A3A"/>
                </a:solidFill>
              </a:rPr>
              <a:t>Vectorisation Mistral + base FAISS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F3B513-9DAD-4587-AFE5-E7481CAFD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933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F6B73"/>
                </a:solidFill>
              </a:defRPr>
            </a:pPr>
            <a:r>
              <a:rPr sz="1275" b="0">
                <a:solidFill>
                  <a:srgbClr val="5F6B73"/>
                </a:solidFill>
              </a:rPr>
              <a:t>Chaque evenement est converti en chunks textes puis indexe avec ses metadonnees dans FAISS.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3FF72F-2FF5-403C-A428-C096AE018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3429000" cy="3048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FF7F3"/>
          </a:solidFill>
          <a:ln xmlns:a="http://schemas.openxmlformats.org/drawingml/2006/main" w="9525">
            <a:solidFill>
              <a:srgbClr val="D9D2C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FC3F3B-1A17-4228-BE36-FCA52BBC9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86000"/>
            <a:ext cx="2971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32A3A"/>
                </a:solidFill>
              </a:defRPr>
            </a:pPr>
            <a:r>
              <a:rPr sz="1350" b="1">
                <a:solidFill>
                  <a:srgbClr val="132A3A"/>
                </a:solidFill>
              </a:rPr>
              <a:t>Parametres du build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B915A0-C48F-4F4A-A9E2-DB2E5B66D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05100"/>
            <a:ext cx="2971800" cy="2209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Modele d'embedding: mistral-embed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Batch size: 50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Chunk size: 1 000 caracteres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Overlap: 200 caracteres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Script: python scripts/build_index.py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7835A3-F454-464C-A6A4-341C353F6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095500"/>
            <a:ext cx="3333750" cy="3048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3F8F7"/>
          </a:solidFill>
          <a:ln xmlns:a="http://schemas.openxmlformats.org/drawingml/2006/main" w="9525">
            <a:solidFill>
              <a:srgbClr val="D9D2C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6E59469-D0FB-4EB1-8546-7EAFD995F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286000"/>
            <a:ext cx="2876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32A3A"/>
                </a:solidFill>
              </a:defRPr>
            </a:pPr>
            <a:r>
              <a:rPr sz="1350" b="1">
                <a:solidFill>
                  <a:srgbClr val="132A3A"/>
                </a:solidFill>
              </a:rPr>
              <a:t>Artefacts produits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B1CFB30-18D7-444D-8650-008DEA0AC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705100"/>
            <a:ext cx="2876550" cy="2209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data/index/faiss/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index_manifest.json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indexed_documents.parquet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index rechargeable localement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C3A71D-563D-4BE4-97DE-CD35C2B39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095500"/>
            <a:ext cx="3524250" cy="3048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7F5FB"/>
          </a:solidFill>
          <a:ln xmlns:a="http://schemas.openxmlformats.org/drawingml/2006/main" w="9525">
            <a:solidFill>
              <a:srgbClr val="D9D2C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95D68E-FA85-44E3-83E9-713266BD2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286000"/>
            <a:ext cx="3067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32A3A"/>
                </a:solidFill>
              </a:defRPr>
            </a:pPr>
            <a:r>
              <a:rPr sz="1350" b="1">
                <a:solidFill>
                  <a:srgbClr val="132A3A"/>
                </a:solidFill>
              </a:rPr>
              <a:t>Chiffres observes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4B2E583-FD9E-456B-A8C4-3BA732A56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705100"/>
            <a:ext cx="3067050" cy="2209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7 586 evenements indexes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14 903 documents/chunks FAISS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Index rechargeable localement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Metadonnees: titre, ville, dates, URL</a:t>
            </a:r>
          </a:p>
        </p:txBody>
      </p:sp>
    </p:spTree>
    <p:extLst>
      <p:ext uri="{BB962C8B-B14F-4D97-AF65-F5344CB8AC3E}">
        <p14:creationId xmlns:p14="http://schemas.microsoft.com/office/powerpoint/2010/main" val="165166698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B8C8249-90EB-4866-8DEC-4876E2302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5F6B73"/>
                </a:solidFill>
              </a:defRPr>
            </a:pPr>
            <a:r>
              <a:rPr sz="900" b="1">
                <a:solidFill>
                  <a:srgbClr val="5F6B73"/>
                </a:solidFill>
              </a:rPr>
              <a:t>APPLICATION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A686CC0-F2C0-47EA-9964-66DABDD62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66700"/>
            <a:ext cx="647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5F6B73"/>
                </a:solidFill>
              </a:defRPr>
            </a:pPr>
            <a:r>
              <a:rPr sz="900" b="1">
                <a:solidFill>
                  <a:srgbClr val="5F6B73"/>
                </a:solidFill>
              </a:rPr>
              <a:t>07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2AFF95-BF31-43EA-AEC8-B71F5AAD3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763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132A3A"/>
                </a:solidFill>
              </a:defRPr>
            </a:pPr>
            <a:r>
              <a:rPr sz="2100" b="1">
                <a:solidFill>
                  <a:srgbClr val="132A3A"/>
                </a:solidFill>
              </a:rPr>
              <a:t>Chatbot RAG + API FastAPI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D7DCD9-CB86-4AA5-B3C5-A4D3E3D17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933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F6B73"/>
                </a:solidFill>
              </a:defRPr>
            </a:pPr>
            <a:r>
              <a:rPr sz="1275" b="0">
                <a:solidFill>
                  <a:srgbClr val="5F6B73"/>
                </a:solidFill>
              </a:rPr>
              <a:t>Le service garde retriever et modele en memoire et se reinitialise proprement apres /rebuild.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D42736-FDAC-464F-835E-B1612F69A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3143250" cy="3048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FF7F3"/>
          </a:solidFill>
          <a:ln xmlns:a="http://schemas.openxmlformats.org/drawingml/2006/main" w="9525">
            <a:solidFill>
              <a:srgbClr val="D9D2C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4C0BA7-51A3-47D2-BF79-18BB63E17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86000"/>
            <a:ext cx="2686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32A3A"/>
                </a:solidFill>
              </a:defRPr>
            </a:pPr>
            <a:r>
              <a:rPr sz="1350" b="1">
                <a:solidFill>
                  <a:srgbClr val="132A3A"/>
                </a:solidFill>
              </a:rPr>
              <a:t>Chatbot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1AB641E-5DC2-46CC-9431-D0692EC1C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05100"/>
            <a:ext cx="2686050" cy="2209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Recherche top-k dans FAISS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Prompt contraint en francais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Generation Mistral `mistral-small-latest`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Reponse + liste de sources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F3C094-7DA2-40A5-8743-9376F8845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095500"/>
            <a:ext cx="3143250" cy="3048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3F8F7"/>
          </a:solidFill>
          <a:ln xmlns:a="http://schemas.openxmlformats.org/drawingml/2006/main" w="9525">
            <a:solidFill>
              <a:srgbClr val="D9D2C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DD5871-EE06-4D86-ADD2-9DE0BFDEE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286000"/>
            <a:ext cx="2686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32A3A"/>
                </a:solidFill>
              </a:defRPr>
            </a:pPr>
            <a:r>
              <a:rPr sz="1350" b="1">
                <a:solidFill>
                  <a:srgbClr val="132A3A"/>
                </a:solidFill>
              </a:rPr>
              <a:t>Endpoints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7AB555-D018-4307-A638-7557081DF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705100"/>
            <a:ext cx="2686050" cy="2209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GET /health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POST /ask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POST /rebuild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Swagger automatique sur /docs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3CE0D93-B5BA-4B5F-837F-62BBC4D9E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095500"/>
            <a:ext cx="4000500" cy="3048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7F5FB"/>
          </a:solidFill>
          <a:ln xmlns:a="http://schemas.openxmlformats.org/drawingml/2006/main" w="9525">
            <a:solidFill>
              <a:srgbClr val="D9D2C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FB39676-BFCD-4080-9244-92F2DE1F1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286000"/>
            <a:ext cx="3543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32A3A"/>
                </a:solidFill>
              </a:defRPr>
            </a:pPr>
            <a:r>
              <a:rPr sz="1350" b="1">
                <a:solidFill>
                  <a:srgbClr val="132A3A"/>
                </a:solidFill>
              </a:rPr>
              <a:t>Validation observee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4ED3681-BDB8-474F-A33B-4F7216118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705100"/>
            <a:ext cx="3543300" cy="2209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35 tests Python passent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python scripts/api_test.py valide /health et /ask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python scripts/evaluate_rag.py passe en direct et via API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reponses non vides avec sources exploitables</a:t>
            </a:r>
          </a:p>
        </p:txBody>
      </p:sp>
    </p:spTree>
    <p:extLst>
      <p:ext uri="{BB962C8B-B14F-4D97-AF65-F5344CB8AC3E}">
        <p14:creationId xmlns:p14="http://schemas.microsoft.com/office/powerpoint/2010/main" val="63482792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BBC0A84-0E4E-4BD6-BB72-B7235C02C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5F6B73"/>
                </a:solidFill>
              </a:defRPr>
            </a:pPr>
            <a:r>
              <a:rPr sz="900" b="1">
                <a:solidFill>
                  <a:srgbClr val="5F6B73"/>
                </a:solidFill>
              </a:rPr>
              <a:t>DEPLOYMENT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7D6C9E-F613-4E37-B870-A2FFFBEA5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66700"/>
            <a:ext cx="647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5F6B73"/>
                </a:solidFill>
              </a:defRPr>
            </a:pPr>
            <a:r>
              <a:rPr sz="900" b="1">
                <a:solidFill>
                  <a:srgbClr val="5F6B73"/>
                </a:solidFill>
              </a:rPr>
              <a:t>08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85B3CF-2DAD-441C-AB3F-99AA65080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763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132A3A"/>
                </a:solidFill>
              </a:defRPr>
            </a:pPr>
            <a:r>
              <a:rPr sz="2100" b="1">
                <a:solidFill>
                  <a:srgbClr val="132A3A"/>
                </a:solidFill>
              </a:rPr>
              <a:t>Conteneurisation Docker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131E1F-6AC1-4DE6-85EB-024AC3364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933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F6B73"/>
                </a:solidFill>
              </a:defRPr>
            </a:pPr>
            <a:r>
              <a:rPr sz="1275" b="0">
                <a:solidFill>
                  <a:srgbClr val="5F6B73"/>
                </a:solidFill>
              </a:rPr>
              <a:t>La livraison locale embarque un seed du corpus et de l'index pour une demo plus fiable.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2095C5-5FB3-4DE2-9DFF-2D13E62D2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3333750" cy="3143250"/>
          </a:xfrm>
          <a:prstGeom xmlns:a="http://schemas.openxmlformats.org/drawingml/2006/main" prst="roundRect">
            <a:avLst>
              <a:gd name="adj" fmla="val 4848"/>
            </a:avLst>
          </a:prstGeom>
          <a:solidFill xmlns:a="http://schemas.openxmlformats.org/drawingml/2006/main">
            <a:srgbClr val="FFF7F3"/>
          </a:solidFill>
          <a:ln xmlns:a="http://schemas.openxmlformats.org/drawingml/2006/main" w="9525">
            <a:solidFill>
              <a:srgbClr val="D9D2C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F2459A-05D7-41E2-B461-E6D889A9C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86000"/>
            <a:ext cx="2876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32A3A"/>
                </a:solidFill>
              </a:defRPr>
            </a:pPr>
            <a:r>
              <a:rPr sz="1350" b="1">
                <a:solidFill>
                  <a:srgbClr val="132A3A"/>
                </a:solidFill>
              </a:rPr>
              <a:t>Image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8AB4AF-9E67-4DD3-B86E-07DC69E5D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05100"/>
            <a:ext cx="2876550" cy="2305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Base python:3.12-slim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dependances Python installees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code source + scripts copies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seed de data/processed et data/index integre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9B1F1E2-81D8-49D6-8C04-D4C528280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95500"/>
            <a:ext cx="3333750" cy="3143250"/>
          </a:xfrm>
          <a:prstGeom xmlns:a="http://schemas.openxmlformats.org/drawingml/2006/main" prst="roundRect">
            <a:avLst>
              <a:gd name="adj" fmla="val 4848"/>
            </a:avLst>
          </a:prstGeom>
          <a:solidFill xmlns:a="http://schemas.openxmlformats.org/drawingml/2006/main">
            <a:srgbClr val="F3F8F7"/>
          </a:solidFill>
          <a:ln xmlns:a="http://schemas.openxmlformats.org/drawingml/2006/main" w="9525">
            <a:solidFill>
              <a:srgbClr val="D9D2C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0B943EA-1F9B-48FC-8237-270FA0EB6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286000"/>
            <a:ext cx="2876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32A3A"/>
                </a:solidFill>
              </a:defRPr>
            </a:pPr>
            <a:r>
              <a:rPr sz="1350" b="1">
                <a:solidFill>
                  <a:srgbClr val="132A3A"/>
                </a:solidFill>
              </a:rPr>
              <a:t>Runtime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20EE947-EA07-4444-B933-91AF71CDC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705100"/>
            <a:ext cx="2876550" cy="2305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entrypoint copie le seed vers /app/runtime-data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volume nomme Docker pour persister l'index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chemins runtime injectes via variables d'environnement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CE396A-CB53-4F09-8B85-92183EB89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095500"/>
            <a:ext cx="3619500" cy="3143250"/>
          </a:xfrm>
          <a:prstGeom xmlns:a="http://schemas.openxmlformats.org/drawingml/2006/main" prst="roundRect">
            <a:avLst>
              <a:gd name="adj" fmla="val 4848"/>
            </a:avLst>
          </a:prstGeom>
          <a:solidFill xmlns:a="http://schemas.openxmlformats.org/drawingml/2006/main">
            <a:srgbClr val="F7F5FB"/>
          </a:solidFill>
          <a:ln xmlns:a="http://schemas.openxmlformats.org/drawingml/2006/main" w="9525">
            <a:solidFill>
              <a:srgbClr val="D9D2C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932A674-AD54-4694-8239-174768E50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286000"/>
            <a:ext cx="3162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32A3A"/>
                </a:solidFill>
              </a:defRPr>
            </a:pPr>
            <a:r>
              <a:rPr sz="1350" b="1">
                <a:solidFill>
                  <a:srgbClr val="132A3A"/>
                </a:solidFill>
              </a:rPr>
              <a:t>Securite et exploitation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C2DCCA1-21BC-448C-9D9E-5CCC7D49F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705100"/>
            <a:ext cx="3162300" cy="2305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cle Mistral uniquement via .env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/rebuild peut etre protege par X-Admin-Token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demarrage: docker compose up --build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volume runtime pour conserver un rebuild</a:t>
            </a:r>
          </a:p>
        </p:txBody>
      </p:sp>
    </p:spTree>
    <p:extLst>
      <p:ext uri="{BB962C8B-B14F-4D97-AF65-F5344CB8AC3E}">
        <p14:creationId xmlns:p14="http://schemas.microsoft.com/office/powerpoint/2010/main" val="102115992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9FAF232-9D63-41E2-927A-7520EFA1D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5F6B73"/>
                </a:solidFill>
              </a:defRPr>
            </a:pPr>
            <a:r>
              <a:rPr sz="900" b="1">
                <a:solidFill>
                  <a:srgbClr val="5F6B73"/>
                </a:solidFill>
              </a:rPr>
              <a:t>DEMO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4306D4-1395-4376-805F-ABC51B730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66700"/>
            <a:ext cx="647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5F6B73"/>
                </a:solidFill>
              </a:defRPr>
            </a:pPr>
            <a:r>
              <a:rPr sz="900" b="1">
                <a:solidFill>
                  <a:srgbClr val="5F6B73"/>
                </a:solidFill>
              </a:rPr>
              <a:t>09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3E242B-6466-45C2-8241-547930CA7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763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132A3A"/>
                </a:solidFill>
              </a:defRPr>
            </a:pPr>
            <a:r>
              <a:rPr sz="2100" b="1">
                <a:solidFill>
                  <a:srgbClr val="132A3A"/>
                </a:solidFill>
              </a:rPr>
              <a:t>Démo nominale — Concert Fishers à Paris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CB361E-FB15-4009-A833-4475E30EC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933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F6B73"/>
                </a:solidFill>
              </a:defRPr>
            </a:pPr>
            <a:r>
              <a:rPr sz="1275" b="0">
                <a:solidFill>
                  <a:srgbClr val="5F6B73"/>
                </a:solidFill>
              </a:rPr>
              <a:t>Une question précise produit une réponse sourcée en quelques secondes.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29A7FC-57DF-49A7-83BD-1938FD557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5143500" cy="34290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FF7F3"/>
          </a:solidFill>
          <a:ln xmlns:a="http://schemas.openxmlformats.org/drawingml/2006/main" w="9525">
            <a:solidFill>
              <a:srgbClr val="D9D2C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EC0BD5-2093-4409-88D5-821E6A489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86000"/>
            <a:ext cx="4686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32A3A"/>
                </a:solidFill>
              </a:defRPr>
            </a:pPr>
            <a:r>
              <a:rPr sz="1350" b="1">
                <a:solidFill>
                  <a:srgbClr val="132A3A"/>
                </a:solidFill>
              </a:rPr>
              <a:t>Question posée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A52124-14E9-4B67-BC6C-21E1E5DBD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05100"/>
            <a:ext cx="4686300" cy="2590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Parle-moi de Concert Fishers a Paris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0A5488-A6D8-4F31-95F8-E658BE248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95500"/>
            <a:ext cx="5410200" cy="34290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3F8F7"/>
          </a:solidFill>
          <a:ln xmlns:a="http://schemas.openxmlformats.org/drawingml/2006/main" w="9525">
            <a:solidFill>
              <a:srgbClr val="D9D2C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058558-A52C-402B-9983-D09B8F99F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286000"/>
            <a:ext cx="495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32A3A"/>
                </a:solidFill>
              </a:defRPr>
            </a:pPr>
            <a:r>
              <a:rPr sz="1350" b="1">
                <a:solidFill>
                  <a:srgbClr val="132A3A"/>
                </a:solidFill>
              </a:rPr>
              <a:t>Résultat observé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4A383DC-1632-45EB-AD50-4075A5062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705100"/>
            <a:ext cx="4953000" cy="2590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date, lieu et URL correctement repris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4 sources retournées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réponse non vide et traçable</a:t>
            </a:r>
          </a:p>
        </p:txBody>
      </p:sp>
    </p:spTree>
    <p:extLst>
      <p:ext uri="{BB962C8B-B14F-4D97-AF65-F5344CB8AC3E}">
        <p14:creationId xmlns:p14="http://schemas.microsoft.com/office/powerpoint/2010/main" val="207661664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98ABCF6-0941-4FAC-9347-844F9A7AD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5F6B73"/>
                </a:solidFill>
              </a:defRPr>
            </a:pPr>
            <a:r>
              <a:rPr sz="900" b="1">
                <a:solidFill>
                  <a:srgbClr val="5F6B73"/>
                </a:solidFill>
              </a:rPr>
              <a:t>DEMO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FA8D62-34F4-432F-A24A-2C17C2988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66700"/>
            <a:ext cx="647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5F6B73"/>
                </a:solidFill>
              </a:defRPr>
            </a:pPr>
            <a:r>
              <a:rPr sz="900" b="1">
                <a:solidFill>
                  <a:srgbClr val="5F6B73"/>
                </a:solidFill>
              </a:rPr>
              <a:t>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C04C11-EBC2-412B-8081-24F0ACCDA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763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132A3A"/>
                </a:solidFill>
              </a:defRPr>
            </a:pPr>
            <a:r>
              <a:rPr sz="2100" b="1">
                <a:solidFill>
                  <a:srgbClr val="132A3A"/>
                </a:solidFill>
              </a:rPr>
              <a:t>Démo cas limite — une demande hors périmètre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81D58A-2A36-439B-B2F9-64D38178C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933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F6B73"/>
                </a:solidFill>
              </a:defRPr>
            </a:pPr>
            <a:r>
              <a:rPr sz="1275" b="0">
                <a:solidFill>
                  <a:srgbClr val="5F6B73"/>
                </a:solidFill>
              </a:rPr>
              <a:t>Le corpus Paris ne doit pas inventer d'exposition photo à Lyon.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96EC27-FFEF-4C6A-BC4F-D0D58CF96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4095750" cy="3143250"/>
          </a:xfrm>
          <a:prstGeom xmlns:a="http://schemas.openxmlformats.org/drawingml/2006/main" prst="roundRect">
            <a:avLst>
              <a:gd name="adj" fmla="val 4848"/>
            </a:avLst>
          </a:prstGeom>
          <a:solidFill xmlns:a="http://schemas.openxmlformats.org/drawingml/2006/main">
            <a:srgbClr val="FFF7F3"/>
          </a:solidFill>
          <a:ln xmlns:a="http://schemas.openxmlformats.org/drawingml/2006/main" w="9525">
            <a:solidFill>
              <a:srgbClr val="D9D2C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C5D453-C9CD-421D-9B00-FDF120CE7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86000"/>
            <a:ext cx="3638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32A3A"/>
                </a:solidFill>
              </a:defRPr>
            </a:pPr>
            <a:r>
              <a:rPr sz="1350" b="1">
                <a:solidFill>
                  <a:srgbClr val="132A3A"/>
                </a:solidFill>
              </a:rPr>
              <a:t>Question posée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4763F7-64FA-497C-9DBE-179B6E5C0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05100"/>
            <a:ext cx="3638550" cy="2305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Quelles expositions photo a Lyon 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0BE057B-DDA8-45BA-936D-87352510B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095500"/>
            <a:ext cx="6457950" cy="3143250"/>
          </a:xfrm>
          <a:prstGeom xmlns:a="http://schemas.openxmlformats.org/drawingml/2006/main" prst="roundRect">
            <a:avLst>
              <a:gd name="adj" fmla="val 4848"/>
            </a:avLst>
          </a:prstGeom>
          <a:solidFill xmlns:a="http://schemas.openxmlformats.org/drawingml/2006/main">
            <a:srgbClr val="F3F8F7"/>
          </a:solidFill>
          <a:ln xmlns:a="http://schemas.openxmlformats.org/drawingml/2006/main" w="9525">
            <a:solidFill>
              <a:srgbClr val="D9D2C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E38F13-76AB-4D3F-B46A-EF1011A1C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286000"/>
            <a:ext cx="6000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32A3A"/>
                </a:solidFill>
              </a:defRPr>
            </a:pPr>
            <a:r>
              <a:rPr sz="1350" b="1">
                <a:solidFill>
                  <a:srgbClr val="132A3A"/>
                </a:solidFill>
              </a:rPr>
              <a:t>Résultat observé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F65379-2EE9-4FEA-921D-9D194F2B7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705100"/>
            <a:ext cx="6000750" cy="2305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réponse explicite : « Je ne sais pas »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aucun événement lyonnais inventé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démo complète mesurée en 2,240 s</a:t>
            </a:r>
          </a:p>
        </p:txBody>
      </p:sp>
    </p:spTree>
    <p:extLst>
      <p:ext uri="{BB962C8B-B14F-4D97-AF65-F5344CB8AC3E}">
        <p14:creationId xmlns:p14="http://schemas.microsoft.com/office/powerpoint/2010/main" val="88444362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6C1637D-BD7B-4ADE-B37D-424E6EFFA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5F6B73"/>
                </a:solidFill>
              </a:defRPr>
            </a:pPr>
            <a:r>
              <a:rPr sz="900" b="1">
                <a:solidFill>
                  <a:srgbClr val="5F6B73"/>
                </a:solidFill>
              </a:rPr>
              <a:t>EVALUATION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F319EA-F3E5-420B-ABE9-0EE0AC8FB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66700"/>
            <a:ext cx="647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5F6B73"/>
                </a:solidFill>
              </a:defRPr>
            </a:pPr>
            <a:r>
              <a:rPr sz="900" b="1">
                <a:solidFill>
                  <a:srgbClr val="5F6B73"/>
                </a:solidFill>
              </a:rPr>
              <a:t>11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00ADE1-E433-4A2C-ACFE-E616B6FF1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763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132A3A"/>
                </a:solidFill>
              </a:defRPr>
            </a:pPr>
            <a:r>
              <a:rPr sz="2100" b="1">
                <a:solidFill>
                  <a:srgbClr val="132A3A"/>
                </a:solidFill>
              </a:rPr>
              <a:t>RAGAS mesure la qualité sur 3 cas annotés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E9254D-4C88-4A75-BBA2-05E6A4CBA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933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F6B73"/>
                </a:solidFill>
              </a:defRPr>
            </a:pPr>
            <a:r>
              <a:rPr sz="1275" b="0">
                <a:solidFill>
                  <a:srgbClr val="5F6B73"/>
                </a:solidFill>
              </a:rPr>
              <a:t>Question, contextes transmis, réponse Mistral et référence humaine.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1C3D5F-DFD5-4B73-9401-63D44AEAA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4095750" cy="3143250"/>
          </a:xfrm>
          <a:prstGeom xmlns:a="http://schemas.openxmlformats.org/drawingml/2006/main" prst="roundRect">
            <a:avLst>
              <a:gd name="adj" fmla="val 4848"/>
            </a:avLst>
          </a:prstGeom>
          <a:solidFill xmlns:a="http://schemas.openxmlformats.org/drawingml/2006/main">
            <a:srgbClr val="FFF7F3"/>
          </a:solidFill>
          <a:ln xmlns:a="http://schemas.openxmlformats.org/drawingml/2006/main" w="9525">
            <a:solidFill>
              <a:srgbClr val="D9D2C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607F0A-F577-465C-ABD7-A60AE8215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86000"/>
            <a:ext cx="3638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32A3A"/>
                </a:solidFill>
              </a:defRPr>
            </a:pPr>
            <a:r>
              <a:rPr sz="1350" b="1">
                <a:solidFill>
                  <a:srgbClr val="132A3A"/>
                </a:solidFill>
              </a:rPr>
              <a:t>Jeu évalué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CC3E8E-1BA2-402B-A4F1-FAC61BD5D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05100"/>
            <a:ext cx="3638550" cy="2305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3 questions factuelles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Concert Fishers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Salon de la Photo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Sortie en famille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3DA960-95D9-49AD-84EB-082449150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095500"/>
            <a:ext cx="6457950" cy="3143250"/>
          </a:xfrm>
          <a:prstGeom xmlns:a="http://schemas.openxmlformats.org/drawingml/2006/main" prst="roundRect">
            <a:avLst>
              <a:gd name="adj" fmla="val 4848"/>
            </a:avLst>
          </a:prstGeom>
          <a:solidFill xmlns:a="http://schemas.openxmlformats.org/drawingml/2006/main">
            <a:srgbClr val="F3F8F7"/>
          </a:solidFill>
          <a:ln xmlns:a="http://schemas.openxmlformats.org/drawingml/2006/main" w="9525">
            <a:solidFill>
              <a:srgbClr val="D9D2C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097A68-6655-43AA-95A1-5F351E7F4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286000"/>
            <a:ext cx="6000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32A3A"/>
                </a:solidFill>
              </a:defRPr>
            </a:pPr>
            <a:r>
              <a:rPr sz="1350" b="1">
                <a:solidFill>
                  <a:srgbClr val="132A3A"/>
                </a:solidFill>
              </a:rPr>
              <a:t>4 métriques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AC74F9C-BEFD-4568-871F-5D711CE18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705100"/>
            <a:ext cx="6000750" cy="2305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fidélité au contexte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pertinence de la réponse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précision du contexte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correction vs référence</a:t>
            </a:r>
          </a:p>
        </p:txBody>
      </p:sp>
    </p:spTree>
    <p:extLst>
      <p:ext uri="{BB962C8B-B14F-4D97-AF65-F5344CB8AC3E}">
        <p14:creationId xmlns:p14="http://schemas.microsoft.com/office/powerpoint/2010/main" val="112778831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839E81E-427A-4875-85C1-45107D16A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5F6B73"/>
                </a:solidFill>
              </a:defRPr>
            </a:pPr>
            <a:r>
              <a:rPr sz="900" b="1">
                <a:solidFill>
                  <a:srgbClr val="5F6B73"/>
                </a:solidFill>
              </a:rPr>
              <a:t>RAGAS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E05DD5-D65E-4B2C-BDFE-40D2F7DCD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66700"/>
            <a:ext cx="647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5F6B73"/>
                </a:solidFill>
              </a:defRPr>
            </a:pPr>
            <a:r>
              <a:rPr sz="900" b="1">
                <a:solidFill>
                  <a:srgbClr val="5F6B73"/>
                </a:solidFill>
              </a:rPr>
              <a:t>12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B3C200-861A-4FF5-B6E1-1E02A43F3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763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132A3A"/>
                </a:solidFill>
              </a:defRPr>
            </a:pPr>
            <a:r>
              <a:rPr sz="2100" b="1">
                <a:solidFill>
                  <a:srgbClr val="132A3A"/>
                </a:solidFill>
              </a:rPr>
              <a:t>Deux cas précis dépassent 0,82 au global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0058EB-817A-4A66-87D4-54022B620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933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F6B73"/>
                </a:solidFill>
              </a:defRPr>
            </a:pPr>
            <a:r>
              <a:rPr sz="1275" b="0">
                <a:solidFill>
                  <a:srgbClr val="5F6B73"/>
                </a:solidFill>
              </a:rPr>
              <a:t>Les contextes principaux sont classés en première position.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1721D1-84FB-4B98-9B36-914094DFF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3429000" cy="3143250"/>
          </a:xfrm>
          <a:prstGeom xmlns:a="http://schemas.openxmlformats.org/drawingml/2006/main" prst="roundRect">
            <a:avLst>
              <a:gd name="adj" fmla="val 4848"/>
            </a:avLst>
          </a:prstGeom>
          <a:solidFill xmlns:a="http://schemas.openxmlformats.org/drawingml/2006/main">
            <a:srgbClr val="FFF7F3"/>
          </a:solidFill>
          <a:ln xmlns:a="http://schemas.openxmlformats.org/drawingml/2006/main" w="9525">
            <a:solidFill>
              <a:srgbClr val="D9D2C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BC852E-456B-47AD-A157-AB8A00634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86000"/>
            <a:ext cx="2971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32A3A"/>
                </a:solidFill>
              </a:defRPr>
            </a:pPr>
            <a:r>
              <a:rPr sz="1350" b="1">
                <a:solidFill>
                  <a:srgbClr val="132A3A"/>
                </a:solidFill>
              </a:rPr>
              <a:t>Concert Fishers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526119-7EB6-4F78-A343-F063BF8A3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05100"/>
            <a:ext cx="2971800" cy="2305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global 0,823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fidélité 0,750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pertinence 0,805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contexte 1,000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99D8FE-2634-46FF-80CE-E5D57C56C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095500"/>
            <a:ext cx="3333750" cy="3143250"/>
          </a:xfrm>
          <a:prstGeom xmlns:a="http://schemas.openxmlformats.org/drawingml/2006/main" prst="roundRect">
            <a:avLst>
              <a:gd name="adj" fmla="val 4848"/>
            </a:avLst>
          </a:prstGeom>
          <a:solidFill xmlns:a="http://schemas.openxmlformats.org/drawingml/2006/main">
            <a:srgbClr val="F3F8F7"/>
          </a:solidFill>
          <a:ln xmlns:a="http://schemas.openxmlformats.org/drawingml/2006/main" w="9525">
            <a:solidFill>
              <a:srgbClr val="D9D2C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258D83-4161-4DF3-A9E5-3AEF39CD2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286000"/>
            <a:ext cx="2876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32A3A"/>
                </a:solidFill>
              </a:defRPr>
            </a:pPr>
            <a:r>
              <a:rPr sz="1350" b="1">
                <a:solidFill>
                  <a:srgbClr val="132A3A"/>
                </a:solidFill>
              </a:rPr>
              <a:t>Salon de la Photo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41CE944-13CC-4FB7-9DAF-AB97BA9D2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705100"/>
            <a:ext cx="2876550" cy="2305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global 0,887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fidélité 1,000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pertinence 0,817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contexte 1,000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E31983B-151F-4593-829D-A144F09F6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095500"/>
            <a:ext cx="3524250" cy="3143250"/>
          </a:xfrm>
          <a:prstGeom xmlns:a="http://schemas.openxmlformats.org/drawingml/2006/main" prst="roundRect">
            <a:avLst>
              <a:gd name="adj" fmla="val 4848"/>
            </a:avLst>
          </a:prstGeom>
          <a:solidFill xmlns:a="http://schemas.openxmlformats.org/drawingml/2006/main">
            <a:srgbClr val="F7F5FB"/>
          </a:solidFill>
          <a:ln xmlns:a="http://schemas.openxmlformats.org/drawingml/2006/main" w="9525">
            <a:solidFill>
              <a:srgbClr val="D9D2C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5EDEA9-78CB-4BFB-9327-110E96C9C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286000"/>
            <a:ext cx="3067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32A3A"/>
                </a:solidFill>
              </a:defRPr>
            </a:pPr>
            <a:r>
              <a:rPr sz="1350" b="1">
                <a:solidFill>
                  <a:srgbClr val="132A3A"/>
                </a:solidFill>
              </a:rPr>
              <a:t>Lecture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9AABCDC-8E1E-4766-818B-8E6BC36FC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705100"/>
            <a:ext cx="3067050" cy="2305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informations pratiques reprises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sources vérifiables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correction à affiner face aux références</a:t>
            </a:r>
          </a:p>
        </p:txBody>
      </p:sp>
    </p:spTree>
    <p:extLst>
      <p:ext uri="{BB962C8B-B14F-4D97-AF65-F5344CB8AC3E}">
        <p14:creationId xmlns:p14="http://schemas.microsoft.com/office/powerpoint/2010/main" val="1732501536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CDF0AE1-053A-4116-84F6-4CA094D00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5F6B73"/>
                </a:solidFill>
              </a:defRPr>
            </a:pPr>
            <a:r>
              <a:rPr sz="900" b="1">
                <a:solidFill>
                  <a:srgbClr val="5F6B73"/>
                </a:solidFill>
              </a:rPr>
              <a:t>RAGAS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9E1DDB-9548-454C-8187-428960BB8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66700"/>
            <a:ext cx="647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5F6B73"/>
                </a:solidFill>
              </a:defRPr>
            </a:pPr>
            <a:r>
              <a:rPr sz="900" b="1">
                <a:solidFill>
                  <a:srgbClr val="5F6B73"/>
                </a:solidFill>
              </a:rPr>
              <a:t>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B6A4C9-CE93-4D87-A076-26415FA47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763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132A3A"/>
                </a:solidFill>
              </a:defRPr>
            </a:pPr>
            <a:r>
              <a:rPr sz="2100" b="1">
                <a:solidFill>
                  <a:srgbClr val="132A3A"/>
                </a:solidFill>
              </a:rPr>
              <a:t>Le retrieval est solide, la correction reste prioritaire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0791EA-FF47-4DCB-9A92-8224040EF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933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F6B73"/>
                </a:solidFill>
              </a:defRPr>
            </a:pPr>
            <a:r>
              <a:rPr sz="1275" b="0">
                <a:solidFill>
                  <a:srgbClr val="5F6B73"/>
                </a:solidFill>
              </a:rPr>
              <a:t>Le cas famille retrouve plusieurs visites et révèle l'écart principal.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B49460-A316-4CA2-9767-C9F7F8835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3429000" cy="3143250"/>
          </a:xfrm>
          <a:prstGeom xmlns:a="http://schemas.openxmlformats.org/drawingml/2006/main" prst="roundRect">
            <a:avLst>
              <a:gd name="adj" fmla="val 4848"/>
            </a:avLst>
          </a:prstGeom>
          <a:solidFill xmlns:a="http://schemas.openxmlformats.org/drawingml/2006/main">
            <a:srgbClr val="FFF7F3"/>
          </a:solidFill>
          <a:ln xmlns:a="http://schemas.openxmlformats.org/drawingml/2006/main" w="9525">
            <a:solidFill>
              <a:srgbClr val="D9D2C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0BB9F4-2DEB-4BFC-821C-68BC4B6F1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86000"/>
            <a:ext cx="2971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32A3A"/>
                </a:solidFill>
              </a:defRPr>
            </a:pPr>
            <a:r>
              <a:rPr sz="1350" b="1">
                <a:solidFill>
                  <a:srgbClr val="132A3A"/>
                </a:solidFill>
              </a:rPr>
              <a:t>Sortie en famille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3063B9-3944-4888-BC7A-4EBEBC807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05100"/>
            <a:ext cx="2971800" cy="2305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global 0,862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fidélité 0,950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pertinence 0,916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contexte 1,000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CF277DC-1590-43C7-ADCC-A296B2493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095500"/>
            <a:ext cx="3333750" cy="3143250"/>
          </a:xfrm>
          <a:prstGeom xmlns:a="http://schemas.openxmlformats.org/drawingml/2006/main" prst="roundRect">
            <a:avLst>
              <a:gd name="adj" fmla="val 4848"/>
            </a:avLst>
          </a:prstGeom>
          <a:solidFill xmlns:a="http://schemas.openxmlformats.org/drawingml/2006/main">
            <a:srgbClr val="F3F8F7"/>
          </a:solidFill>
          <a:ln xmlns:a="http://schemas.openxmlformats.org/drawingml/2006/main" w="9525">
            <a:solidFill>
              <a:srgbClr val="D9D2C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BB712E-2A81-4C64-8B71-4C1FD7F32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286000"/>
            <a:ext cx="2876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32A3A"/>
                </a:solidFill>
              </a:defRPr>
            </a:pPr>
            <a:r>
              <a:rPr sz="1350" b="1">
                <a:solidFill>
                  <a:srgbClr val="132A3A"/>
                </a:solidFill>
              </a:rPr>
              <a:t>Moyennes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B0911B0-01B1-439C-9B2E-1159F4772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705100"/>
            <a:ext cx="2876550" cy="2305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fidélité 0,900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pertinence 0,846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précision 1,000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correction 0,683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BB0A53-FB12-4137-AAB6-1924F27A2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095500"/>
            <a:ext cx="3524250" cy="3143250"/>
          </a:xfrm>
          <a:prstGeom xmlns:a="http://schemas.openxmlformats.org/drawingml/2006/main" prst="roundRect">
            <a:avLst>
              <a:gd name="adj" fmla="val 4848"/>
            </a:avLst>
          </a:prstGeom>
          <a:solidFill xmlns:a="http://schemas.openxmlformats.org/drawingml/2006/main">
            <a:srgbClr val="F7F5FB"/>
          </a:solidFill>
          <a:ln xmlns:a="http://schemas.openxmlformats.org/drawingml/2006/main" w="9525">
            <a:solidFill>
              <a:srgbClr val="D9D2C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7B21BB-47C7-4F02-8CA2-36C7CD0A9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286000"/>
            <a:ext cx="3067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32A3A"/>
                </a:solidFill>
              </a:defRPr>
            </a:pPr>
            <a:r>
              <a:rPr sz="1350" b="1">
                <a:solidFill>
                  <a:srgbClr val="132A3A"/>
                </a:solidFill>
              </a:rPr>
              <a:t>Priorité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08CE779-4690-49B4-B065-40CCAA553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705100"/>
            <a:ext cx="3067050" cy="2305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Mieux cadrer les détails attendus par la référence, sans dégrader la recherche.</a:t>
            </a:r>
          </a:p>
        </p:txBody>
      </p:sp>
    </p:spTree>
    <p:extLst>
      <p:ext uri="{BB962C8B-B14F-4D97-AF65-F5344CB8AC3E}">
        <p14:creationId xmlns:p14="http://schemas.microsoft.com/office/powerpoint/2010/main" val="116110893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03452DD-D5D0-467E-BC3B-9EBC224D1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5F6B73"/>
                </a:solidFill>
              </a:defRPr>
            </a:pPr>
            <a:r>
              <a:rPr sz="900" b="1">
                <a:solidFill>
                  <a:srgbClr val="5F6B73"/>
                </a:solidFill>
              </a:rPr>
              <a:t>LIMITES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193F0F-8078-4AEB-BD8D-B36E46226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66700"/>
            <a:ext cx="647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5F6B73"/>
                </a:solidFill>
              </a:defRPr>
            </a:pPr>
            <a:r>
              <a:rPr sz="900" b="1">
                <a:solidFill>
                  <a:srgbClr val="5F6B73"/>
                </a:solidFill>
              </a:rPr>
              <a:t>14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7AF4D7-66D0-43EF-B35A-093CDC9FC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763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132A3A"/>
                </a:solidFill>
              </a:defRPr>
            </a:pPr>
            <a:r>
              <a:rPr sz="2100" b="1">
                <a:solidFill>
                  <a:srgbClr val="132A3A"/>
                </a:solidFill>
              </a:rPr>
              <a:t>Le POC valide la faisabilité, pas la production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F540C0-61C7-4B9C-8992-521C9C0C7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933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F6B73"/>
                </a:solidFill>
              </a:defRPr>
            </a:pPr>
            <a:r>
              <a:rPr sz="1275" b="0">
                <a:solidFill>
                  <a:srgbClr val="5F6B73"/>
                </a:solidFill>
              </a:rPr>
              <a:t>Les limites sont explicites et orientent la prochaine itération.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34E5AE-E389-44DE-908E-52911A121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3429000" cy="3143250"/>
          </a:xfrm>
          <a:prstGeom xmlns:a="http://schemas.openxmlformats.org/drawingml/2006/main" prst="roundRect">
            <a:avLst>
              <a:gd name="adj" fmla="val 4848"/>
            </a:avLst>
          </a:prstGeom>
          <a:solidFill xmlns:a="http://schemas.openxmlformats.org/drawingml/2006/main">
            <a:srgbClr val="FFF7F3"/>
          </a:solidFill>
          <a:ln xmlns:a="http://schemas.openxmlformats.org/drawingml/2006/main" w="9525">
            <a:solidFill>
              <a:srgbClr val="D9D2C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0CBCAA-BA6A-4A80-9DB3-04976DDAF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86000"/>
            <a:ext cx="2971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32A3A"/>
                </a:solidFill>
              </a:defRPr>
            </a:pPr>
            <a:r>
              <a:rPr sz="1350" b="1">
                <a:solidFill>
                  <a:srgbClr val="132A3A"/>
                </a:solidFill>
              </a:rPr>
              <a:t>Données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DCD871-0563-4DA8-BE8D-3A9EE7004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05100"/>
            <a:ext cx="2971800" cy="2305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Paris uniquement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fenêtre figée d'un an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descriptions source variables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EC818C-424F-4C06-A7DF-85E04754C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095500"/>
            <a:ext cx="3333750" cy="3143250"/>
          </a:xfrm>
          <a:prstGeom xmlns:a="http://schemas.openxmlformats.org/drawingml/2006/main" prst="roundRect">
            <a:avLst>
              <a:gd name="adj" fmla="val 4848"/>
            </a:avLst>
          </a:prstGeom>
          <a:solidFill xmlns:a="http://schemas.openxmlformats.org/drawingml/2006/main">
            <a:srgbClr val="F3F8F7"/>
          </a:solidFill>
          <a:ln xmlns:a="http://schemas.openxmlformats.org/drawingml/2006/main" w="9525">
            <a:solidFill>
              <a:srgbClr val="D9D2C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20E2F6C-8C2C-4B63-B535-CD19E0B37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286000"/>
            <a:ext cx="2876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32A3A"/>
                </a:solidFill>
              </a:defRPr>
            </a:pPr>
            <a:r>
              <a:rPr sz="1350" b="1">
                <a:solidFill>
                  <a:srgbClr val="132A3A"/>
                </a:solidFill>
              </a:rPr>
              <a:t>Technique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4CAC00-8C55-4626-9D3F-9A7D69EE1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705100"/>
            <a:ext cx="2876550" cy="2305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dépendance Mistral en ligne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rebuild complet coûteux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seuil de rejet à renforcer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57BCEF5-328B-4864-B519-C647617D7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095500"/>
            <a:ext cx="3524250" cy="3143250"/>
          </a:xfrm>
          <a:prstGeom xmlns:a="http://schemas.openxmlformats.org/drawingml/2006/main" prst="roundRect">
            <a:avLst>
              <a:gd name="adj" fmla="val 4848"/>
            </a:avLst>
          </a:prstGeom>
          <a:solidFill xmlns:a="http://schemas.openxmlformats.org/drawingml/2006/main">
            <a:srgbClr val="F7F5FB"/>
          </a:solidFill>
          <a:ln xmlns:a="http://schemas.openxmlformats.org/drawingml/2006/main" w="9525">
            <a:solidFill>
              <a:srgbClr val="D9D2C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33714F-59C2-499F-A6A5-BD075ED43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286000"/>
            <a:ext cx="3067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32A3A"/>
                </a:solidFill>
              </a:defRPr>
            </a:pPr>
            <a:r>
              <a:rPr sz="1350" b="1">
                <a:solidFill>
                  <a:srgbClr val="132A3A"/>
                </a:solidFill>
              </a:rPr>
              <a:t>Évaluation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8110F61-A49B-4BCE-8C50-2C5E6E583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705100"/>
            <a:ext cx="3067050" cy="2305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3 cas RAGAS seulement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scores non déterministes au mot près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tests de charge absents</a:t>
            </a:r>
          </a:p>
        </p:txBody>
      </p:sp>
    </p:spTree>
    <p:extLst>
      <p:ext uri="{BB962C8B-B14F-4D97-AF65-F5344CB8AC3E}">
        <p14:creationId xmlns:p14="http://schemas.microsoft.com/office/powerpoint/2010/main" val="1450606823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08DD4E7-C545-4192-9167-E052A8246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5F6B73"/>
                </a:solidFill>
              </a:defRPr>
            </a:pPr>
            <a:r>
              <a:rPr sz="900" b="1">
                <a:solidFill>
                  <a:srgbClr val="5F6B73"/>
                </a:solidFill>
              </a:rPr>
              <a:t>PERSPECTIVES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5941D3-B002-4C5A-8B6D-0F752EE35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66700"/>
            <a:ext cx="647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b="1">
                <a:solidFill>
                  <a:srgbClr val="5F6B73"/>
                </a:solidFill>
              </a:defRPr>
            </a:pPr>
            <a:r>
              <a:rPr sz="900" b="1">
                <a:solidFill>
                  <a:srgbClr val="5F6B73"/>
                </a:solidFill>
              </a:rPr>
              <a:t>15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725A51-A566-43A7-9E9D-8584FA627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763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132A3A"/>
                </a:solidFill>
              </a:defRPr>
            </a:pPr>
            <a:r>
              <a:rPr sz="2100" b="1">
                <a:solidFill>
                  <a:srgbClr val="132A3A"/>
                </a:solidFill>
              </a:rPr>
              <a:t>La prochaine étape est un pilote multi-villes mesuré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F5E4CA4-48D7-4FBA-A7C8-62D7B2A7F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933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5F6B73"/>
                </a:solidFill>
              </a:defRPr>
            </a:pPr>
            <a:r>
              <a:rPr sz="1275" b="0">
                <a:solidFill>
                  <a:srgbClr val="5F6B73"/>
                </a:solidFill>
              </a:rPr>
              <a:t>L'architecture peut évoluer sans réécriture majeure.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F4AD74-9B2B-4E73-B05A-95011294D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3429000" cy="3143250"/>
          </a:xfrm>
          <a:prstGeom xmlns:a="http://schemas.openxmlformats.org/drawingml/2006/main" prst="roundRect">
            <a:avLst>
              <a:gd name="adj" fmla="val 4848"/>
            </a:avLst>
          </a:prstGeom>
          <a:solidFill xmlns:a="http://schemas.openxmlformats.org/drawingml/2006/main">
            <a:srgbClr val="FFF7F3"/>
          </a:solidFill>
          <a:ln xmlns:a="http://schemas.openxmlformats.org/drawingml/2006/main" w="9525">
            <a:solidFill>
              <a:srgbClr val="D9D2C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2480D8-5FDE-4C76-A59E-88130175A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86000"/>
            <a:ext cx="2971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32A3A"/>
                </a:solidFill>
              </a:defRPr>
            </a:pPr>
            <a:r>
              <a:rPr sz="1350" b="1">
                <a:solidFill>
                  <a:srgbClr val="132A3A"/>
                </a:solidFill>
              </a:rPr>
              <a:t>Améliorations prioritaires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C4AC81-2F12-4573-B92A-0A185C19B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05100"/>
            <a:ext cx="2971800" cy="2305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élargir le jeu annoté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ajouter un seuil de similarité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automatiser collecte et CI</a:t>
            </a:r>
          </a:p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• superviser coût et latence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6CA29F-751D-46C9-82B3-42DDDC989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095500"/>
            <a:ext cx="3333750" cy="3143250"/>
          </a:xfrm>
          <a:prstGeom xmlns:a="http://schemas.openxmlformats.org/drawingml/2006/main" prst="roundRect">
            <a:avLst>
              <a:gd name="adj" fmla="val 4848"/>
            </a:avLst>
          </a:prstGeom>
          <a:solidFill xmlns:a="http://schemas.openxmlformats.org/drawingml/2006/main">
            <a:srgbClr val="F3F8F7"/>
          </a:solidFill>
          <a:ln xmlns:a="http://schemas.openxmlformats.org/drawingml/2006/main" w="9525">
            <a:solidFill>
              <a:srgbClr val="D9D2C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030167A-976F-468B-9F73-5414653AB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286000"/>
            <a:ext cx="2876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32A3A"/>
                </a:solidFill>
              </a:defRPr>
            </a:pPr>
            <a:r>
              <a:rPr sz="1350" b="1">
                <a:solidFill>
                  <a:srgbClr val="132A3A"/>
                </a:solidFill>
              </a:rPr>
              <a:t>Message clé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A1F1B2-751E-4473-A71F-1B4413CC2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705100"/>
            <a:ext cx="2876550" cy="2305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7 586 événements, 14 903 chunks, API Docker et RAGAS réel : la faisabilité est démontrée.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837D4B8-3662-4C99-AF1D-23A253150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095500"/>
            <a:ext cx="3524250" cy="3143250"/>
          </a:xfrm>
          <a:prstGeom xmlns:a="http://schemas.openxmlformats.org/drawingml/2006/main" prst="roundRect">
            <a:avLst>
              <a:gd name="adj" fmla="val 4848"/>
            </a:avLst>
          </a:prstGeom>
          <a:solidFill xmlns:a="http://schemas.openxmlformats.org/drawingml/2006/main">
            <a:srgbClr val="F7F5FB"/>
          </a:solidFill>
          <a:ln xmlns:a="http://schemas.openxmlformats.org/drawingml/2006/main" w="9525">
            <a:solidFill>
              <a:srgbClr val="D9D2C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8BD7A61-BCA3-4780-A3F8-2967C750A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286000"/>
            <a:ext cx="3067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32A3A"/>
                </a:solidFill>
              </a:defRPr>
            </a:pPr>
            <a:r>
              <a:rPr sz="1350" b="1">
                <a:solidFill>
                  <a:srgbClr val="132A3A"/>
                </a:solidFill>
              </a:rPr>
              <a:t>Q&amp;A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080B4B3-A155-48BF-BD7E-7C89E0874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705100"/>
            <a:ext cx="3067050" cy="2305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32A3A"/>
                </a:solidFill>
              </a:defRPr>
            </a:pPr>
            <a:r>
              <a:rPr sz="1350" b="0">
                <a:solidFill>
                  <a:srgbClr val="132A3A"/>
                </a:solidFill>
              </a:rPr>
              <a:t>Décision proposée : tester le POC avec les équipes produit sur un corpus multi-villes.</a:t>
            </a:r>
          </a:p>
        </p:txBody>
      </p:sp>
    </p:spTree>
    <p:extLst>
      <p:ext uri="{BB962C8B-B14F-4D97-AF65-F5344CB8AC3E}">
        <p14:creationId xmlns:p14="http://schemas.microsoft.com/office/powerpoint/2010/main" val="195847367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2026-07-23T14:51:34.0740000Z</dcterms:created>
  <dcterms:modified xsi:type="dcterms:W3CDTF">2026-07-23T14:51:34.0740000Z</dcterms:modified>
</coreProperties>
</file>