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24639659d54b47" /><Relationship Type="http://schemas.openxmlformats.org/officeDocument/2006/relationships/extended-properties" Target="/docProps/app.xml" Id="R03c1661b21da4b8f" /><Relationship Type="http://schemas.openxmlformats.org/officeDocument/2006/relationships/officeDocument" Target="/ppt/presentation.xml" Id="R83a691592b4b45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db146cee604a61"/>
  </p:sldMasterIdLst>
  <p:notesMasterIdLst>
    <p:notesMasterId xmlns:r="http://schemas.openxmlformats.org/officeDocument/2006/relationships" r:id="R3068f630d15345c4"/>
  </p:notesMasterIdLst>
  <p:sldIdLst>
    <p:sldId xmlns:r="http://schemas.openxmlformats.org/officeDocument/2006/relationships" id="256" r:id="Rabe667f9f2bc400f"/>
    <p:sldId xmlns:r="http://schemas.openxmlformats.org/officeDocument/2006/relationships" id="257" r:id="Red7779c5c7ab4433"/>
    <p:sldId xmlns:r="http://schemas.openxmlformats.org/officeDocument/2006/relationships" id="258" r:id="Rb7f9db8ebb2b4ee6"/>
    <p:sldId xmlns:r="http://schemas.openxmlformats.org/officeDocument/2006/relationships" id="259" r:id="Rca19d9b570f14bbf"/>
    <p:sldId xmlns:r="http://schemas.openxmlformats.org/officeDocument/2006/relationships" id="260" r:id="R99617783cfcf4531"/>
    <p:sldId xmlns:r="http://schemas.openxmlformats.org/officeDocument/2006/relationships" id="261" r:id="Rd88dc211d3a348d9"/>
    <p:sldId xmlns:r="http://schemas.openxmlformats.org/officeDocument/2006/relationships" id="262" r:id="R2e0d96f40df449bd"/>
    <p:sldId xmlns:r="http://schemas.openxmlformats.org/officeDocument/2006/relationships" id="263" r:id="R531456759b0a4775"/>
    <p:sldId xmlns:r="http://schemas.openxmlformats.org/officeDocument/2006/relationships" id="264" r:id="R7577d5048457436f"/>
    <p:sldId xmlns:r="http://schemas.openxmlformats.org/officeDocument/2006/relationships" id="265" r:id="R7d0b68848cc245f5"/>
    <p:sldId xmlns:r="http://schemas.openxmlformats.org/officeDocument/2006/relationships" id="266" r:id="Rdb19dd51fcd74307"/>
    <p:sldId xmlns:r="http://schemas.openxmlformats.org/officeDocument/2006/relationships" id="267" r:id="Rb8e0a53e8be043e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f4574c13ef4331" /><Relationship Type="http://schemas.openxmlformats.org/officeDocument/2006/relationships/slideMaster" Target="/ppt/slideMasters/slideMaster1.xml" Id="R6adb146cee604a61" /><Relationship Type="http://schemas.openxmlformats.org/officeDocument/2006/relationships/notesMaster" Target="/ppt/notesMasters/notesMaster1.xml" Id="R3068f630d15345c4" /><Relationship Type="http://schemas.openxmlformats.org/officeDocument/2006/relationships/presProps" Target="/ppt/presProps.xml" Id="R516406d38fba4ce1" /><Relationship Type="http://schemas.openxmlformats.org/officeDocument/2006/relationships/tableStyles" Target="/ppt/tableStyles.xml" Id="R574b1549a97047bf" /><Relationship Type="http://schemas.openxmlformats.org/officeDocument/2006/relationships/slide" Target="/ppt/slides/slide1.xml" Id="Rabe667f9f2bc400f" /><Relationship Type="http://schemas.openxmlformats.org/officeDocument/2006/relationships/slide" Target="/ppt/slides/slide2.xml" Id="Red7779c5c7ab4433" /><Relationship Type="http://schemas.openxmlformats.org/officeDocument/2006/relationships/slide" Target="/ppt/slides/slide3.xml" Id="Rb7f9db8ebb2b4ee6" /><Relationship Type="http://schemas.openxmlformats.org/officeDocument/2006/relationships/slide" Target="/ppt/slides/slide4.xml" Id="Rca19d9b570f14bbf" /><Relationship Type="http://schemas.openxmlformats.org/officeDocument/2006/relationships/slide" Target="/ppt/slides/slide5.xml" Id="R99617783cfcf4531" /><Relationship Type="http://schemas.openxmlformats.org/officeDocument/2006/relationships/slide" Target="/ppt/slides/slide6.xml" Id="Rd88dc211d3a348d9" /><Relationship Type="http://schemas.openxmlformats.org/officeDocument/2006/relationships/slide" Target="/ppt/slides/slide7.xml" Id="R2e0d96f40df449bd" /><Relationship Type="http://schemas.openxmlformats.org/officeDocument/2006/relationships/slide" Target="/ppt/slides/slide8.xml" Id="R531456759b0a4775" /><Relationship Type="http://schemas.openxmlformats.org/officeDocument/2006/relationships/slide" Target="/ppt/slides/slide9.xml" Id="R7577d5048457436f" /><Relationship Type="http://schemas.openxmlformats.org/officeDocument/2006/relationships/slide" Target="/ppt/slides/slide10.xml" Id="R7d0b68848cc245f5" /><Relationship Type="http://schemas.openxmlformats.org/officeDocument/2006/relationships/slide" Target="/ppt/slides/slide11.xml" Id="Rdb19dd51fcd74307" /><Relationship Type="http://schemas.openxmlformats.org/officeDocument/2006/relationships/slide" Target="/ppt/slides/slide12.xml" Id="Rb8e0a53e8be043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34d759d76e46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2717137d6a47c3" /><Relationship Type="http://schemas.openxmlformats.org/officeDocument/2006/relationships/notesMaster" Target="/ppt/notesMasters/notesMaster1.xml" Id="Rf0156fdcf5644f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65f2b89e2e4f92" /><Relationship Type="http://schemas.openxmlformats.org/officeDocument/2006/relationships/notesMaster" Target="/ppt/notesMasters/notesMaster1.xml" Id="R55fcfcf57e2446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179e558b324a7f" /><Relationship Type="http://schemas.openxmlformats.org/officeDocument/2006/relationships/notesMaster" Target="/ppt/notesMasters/notesMaster1.xml" Id="R1f2bbc3346eb42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870516175c499a" /><Relationship Type="http://schemas.openxmlformats.org/officeDocument/2006/relationships/notesMaster" Target="/ppt/notesMasters/notesMaster1.xml" Id="R5a126d98ce5448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bce34b36bb40ed" /><Relationship Type="http://schemas.openxmlformats.org/officeDocument/2006/relationships/notesMaster" Target="/ppt/notesMasters/notesMaster1.xml" Id="R372e8ed144144a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c4a2002e0d46fa" /><Relationship Type="http://schemas.openxmlformats.org/officeDocument/2006/relationships/notesMaster" Target="/ppt/notesMasters/notesMaster1.xml" Id="Rba529fbd9d7940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efb811905d4984" /><Relationship Type="http://schemas.openxmlformats.org/officeDocument/2006/relationships/notesMaster" Target="/ppt/notesMasters/notesMaster1.xml" Id="R210ddd950fef4f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b53c74727c4dfb" /><Relationship Type="http://schemas.openxmlformats.org/officeDocument/2006/relationships/notesMaster" Target="/ppt/notesMasters/notesMaster1.xml" Id="Re1185e44c88e43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a052a8cc2d4756" /><Relationship Type="http://schemas.openxmlformats.org/officeDocument/2006/relationships/notesMaster" Target="/ppt/notesMasters/notesMaster1.xml" Id="R99818be4414e47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da3511860a4369" /><Relationship Type="http://schemas.openxmlformats.org/officeDocument/2006/relationships/notesMaster" Target="/ppt/notesMasters/notesMaster1.xml" Id="Rd90c84dcf57a41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0611fc39f342d9" /><Relationship Type="http://schemas.openxmlformats.org/officeDocument/2006/relationships/notesMaster" Target="/ppt/notesMasters/notesMaster1.xml" Id="R9fb8bd25a6a74b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73faa102534776" /><Relationship Type="http://schemas.openxmlformats.org/officeDocument/2006/relationships/notesMaster" Target="/ppt/notesMasters/notesMaster1.xml" Id="R14a998e8093c40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Objectif : ouvrir sur le résultat, pas sur la liste des technologies.</a:t>
            </a:r>
          </a:p>
          <a:p xmlns:a="http://schemas.openxmlformats.org/drawingml/2006/main">
            <a:r>
              <a:t>À dire : J’ai construit pour Puls-Events un POC RAG complet. Il part de données OpenAgenda, retrouve les événements pertinents, génère une réponse avec Mistral et l’expose dans une API Docker.</a:t>
            </a:r>
          </a:p>
          <a:p xmlns:a="http://schemas.openxmlformats.org/drawingml/2006/main">
            <a:r>
              <a:t>À montrer : les quatre preuves à droite.</a:t>
            </a:r>
          </a:p>
          <a:p xmlns:a="http://schemas.openxmlformats.org/drawingml/2006/main">
            <a:r>
              <a:t>À défendre : un POC démontre la faisabilité ; il ne prétend pas être déjà un produit de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Objectif : expliquer le besoin métier avant l’architecture.</a:t>
            </a:r>
          </a:p>
          <a:p xmlns:a="http://schemas.openxmlformats.org/drawingml/2006/main">
            <a:r>
              <a:t>À dire : La recherche classique comprend mal une envie formulée librement. Un LLM seul répond bien mais peut inventer. Le RAG combine la souplesse du langage naturel avec des événements réels et vérifiables.</a:t>
            </a:r>
          </a:p>
          <a:p xmlns:a="http://schemas.openxmlformats.org/drawingml/2006/main">
            <a:r>
              <a:t>À ne pas dire : le RAG supprime toute hallucination. Il réduit le risque mais exige encore des garde-fous.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Objectif : rendre le RAG compréhensible sans formule mathématique.</a:t>
            </a:r>
          </a:p>
          <a:p xmlns:a="http://schemas.openxmlformats.org/drawingml/2006/main">
            <a:r>
              <a:t>Entrée : une question utilisateur.</a:t>
            </a:r>
          </a:p>
          <a:p xmlns:a="http://schemas.openxmlformats.org/drawingml/2006/main">
            <a:r>
              <a:t>Traitement : embedding de la question, recherche FAISS, construction du contexte, génération Mistral.</a:t>
            </a:r>
          </a:p>
          <a:p xmlns:a="http://schemas.openxmlformats.org/drawingml/2006/main">
            <a:r>
              <a:t>Sortie : une réponse et une liste de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Objectif : montrer d’où viennent les données et reconnaître la limite de fraîcheur.</a:t>
            </a:r>
          </a:p>
          <a:p xmlns:a="http://schemas.openxmlformats.org/drawingml/2006/main">
            <a:r>
              <a:t>Ce que fait le code : il filtre firstdate_begin, normalise les champs, retire le HTML et tolère les valeurs manquantes.</a:t>
            </a:r>
          </a:p>
          <a:p xmlns:a="http://schemas.openxmlformats.org/drawingml/2006/main">
            <a:r>
              <a:t>Pourquoi : le seed rend Docker reproductible sans dépendre d’une nouvelle collecte pendant la démo.</a:t>
            </a:r>
          </a:p>
          <a:p xmlns:a="http://schemas.openxmlformats.org/drawingml/2006/main">
            <a:r>
              <a:t>À ne pas dire : le corpus est mis à jour en temps réel.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Objectif : expliquer l’architecture comme une circulation de données.</a:t>
            </a:r>
          </a:p>
          <a:p xmlns:a="http://schemas.openxmlformats.org/drawingml/2006/main">
            <a:r>
              <a:t>Entrée : données OpenAgenda.</a:t>
            </a:r>
          </a:p>
          <a:p xmlns:a="http://schemas.openxmlformats.org/drawingml/2006/main">
            <a:r>
              <a:t>Transformations : collecte, nettoyage, chunking, embedding, retrieval, génération et sérialisation HTTP.</a:t>
            </a:r>
          </a:p>
          <a:p xmlns:a="http://schemas.openxmlformats.org/drawingml/2006/main">
            <a:r>
              <a:t>Sortie : une API reproductible.</a:t>
            </a:r>
          </a:p>
          <a:p xmlns:a="http://schemas.openxmlformats.org/drawingml/2006/main">
            <a:r>
              <a:t>Pourquoi : le découplage permet les tests unitaires et le remplacement d’un composant.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Objectif : comprendre le passage du texte à la recherche sémantique.</a:t>
            </a:r>
          </a:p>
          <a:p xmlns:a="http://schemas.openxmlformats.org/drawingml/2006/main">
            <a:r>
              <a:t>Pourquoi des chunks : un événement long contient plusieurs informations ; des passages plus courts améliorent la précision.</a:t>
            </a:r>
          </a:p>
          <a:p xmlns:a="http://schemas.openxmlformats.org/drawingml/2006/main">
            <a:r>
              <a:t>Pourquoi 1000/200 : paramètres raisonnables de POC, pas optimum démontré.</a:t>
            </a:r>
          </a:p>
          <a:p xmlns:a="http://schemas.openxmlformats.org/drawingml/2006/main">
            <a:r>
              <a:t>Pourquoi FAISS : rapide, local et suffisant pour 14 903 passages.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Objectif : relier le moteur RAG à un service exploitable.</a:t>
            </a:r>
          </a:p>
          <a:p xmlns:a="http://schemas.openxmlformats.org/drawingml/2006/main">
            <a:r>
              <a:t>Pourquoi top_k=4 : compromis de POC entre couverture, bruit, tokens, latence et coût.</a:t>
            </a:r>
          </a:p>
          <a:p xmlns:a="http://schemas.openxmlformats.org/drawingml/2006/main">
            <a:r>
              <a:t>Pourquoi la mémoire : éviter de recharger l’index à chaque question.</a:t>
            </a:r>
          </a:p>
          <a:p xmlns:a="http://schemas.openxmlformats.org/drawingml/2006/main">
            <a:r>
              <a:t>Sécurité : MISTRAL_API_KEY est injectée par environnement ; API_REBUILD_TOKEN peut protéger /rebuild.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 : lancer bash scripts/demo_api_5min.sh.</a:t>
            </a:r>
          </a:p>
          <a:p xmlns:a="http://schemas.openxmlformats.org/drawingml/2006/main">
            <a:r>
              <a:t>À montrer : réponse Concert Fishers, quatre sources, refus Lyon et durée.</a:t>
            </a:r>
          </a:p>
          <a:p xmlns:a="http://schemas.openxmlformats.org/drawingml/2006/main">
            <a:r>
              <a:t>Puis montrer en 40 secondes le sommaire du rapport et les dossiers scripts, src, tests, seed-data.</a:t>
            </a:r>
          </a:p>
          <a:p xmlns:a="http://schemas.openxmlformats.org/drawingml/2006/main">
            <a:r>
              <a:t>Limite : sans seuil de similarité, FAISS retourne toujours quatre voisins.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Objectif : distinguer clairement quatre cas fonctionnels et trois cas RAGAS.</a:t>
            </a:r>
          </a:p>
          <a:p xmlns:a="http://schemas.openxmlformats.org/drawingml/2006/main">
            <a:r>
              <a:t>Pourquoi deux niveaux : les tests déterministes valident le comportement ; RAGAS évalue la qualité sémantique.</a:t>
            </a:r>
          </a:p>
          <a:p xmlns:a="http://schemas.openxmlformats.org/drawingml/2006/main">
            <a:r>
              <a:t>Limite : trois cas montrent la méthode mais ne permettent pas une conclusion statistique.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Objectif : transformer les métriques en décision.</a:t>
            </a:r>
          </a:p>
          <a:p xmlns:a="http://schemas.openxmlformats.org/drawingml/2006/main">
            <a:r>
              <a:t>Interprétation : les bons passages sont retrouvés et la réponse reste ancrée.</a:t>
            </a:r>
          </a:p>
          <a:p xmlns:a="http://schemas.openxmlformats.org/drawingml/2006/main">
            <a:r>
              <a:t>Priorité : rapprocher la réponse de la référence humaine sans dégrader le retrieval.</a:t>
            </a:r>
          </a:p>
          <a:p xmlns:a="http://schemas.openxmlformats.org/drawingml/2006/main">
            <a:r>
              <a:t>À ne pas dire : une précision à 1,000 prouve une recherche parfaite. Elle porte seulement sur trois cas.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Objectif : reconnaître les limites sans dévaloriser le POC.</a:t>
            </a:r>
          </a:p>
          <a:p xmlns:a="http://schemas.openxmlformats.org/drawingml/2006/main">
            <a:r>
              <a:t>Données : collecte planifiée et corpus multi-villes.</a:t>
            </a:r>
          </a:p>
          <a:p xmlns:a="http://schemas.openxmlformats.org/drawingml/2006/main">
            <a:r>
              <a:t>Retrieval : filtres de métadonnées et seuil de similarité.</a:t>
            </a:r>
          </a:p>
          <a:p xmlns:a="http://schemas.openxmlformats.org/drawingml/2006/main">
            <a:r>
              <a:t>Évaluation : benchmark plus large, revue humaine et tests de charge.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: le POC couvre données, index, chatbot, API, Docker, tests et évaluation.</a:t>
            </a:r>
          </a:p>
          <a:p xmlns:a="http://schemas.openxmlformats.org/drawingml/2006/main">
            <a:r>
              <a:t>Recommandation à Jérémy : lancer un pilote multi-villes avec un benchmark construit avec les équipes produit.</a:t>
            </a:r>
          </a:p>
          <a:p xmlns:a="http://schemas.openxmlformats.org/drawingml/2006/main">
            <a:r>
              <a:t>Message final : la faisabilité est démontrée ; le travail restant avant production est identifié et priorisé.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f7261b2b14b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08d10b0c244d75" /><Relationship Type="http://schemas.openxmlformats.org/officeDocument/2006/relationships/slideLayout" Target="/ppt/slideLayouts/slideLayout1.xml" Id="R7cd99442cf994a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d99442cf994a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d89144de04483" /><Relationship Type="http://schemas.openxmlformats.org/officeDocument/2006/relationships/notesSlide" Target="/ppt/notesSlides/notesSlide1.xml" Id="Rfb1c7e62e77c45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2ce71876649c2" /><Relationship Type="http://schemas.openxmlformats.org/officeDocument/2006/relationships/notesSlide" Target="/ppt/notesSlides/notesSlide2.xml" Id="Rfc05ec22280e46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037f15bef4645" /><Relationship Type="http://schemas.openxmlformats.org/officeDocument/2006/relationships/notesSlide" Target="/ppt/notesSlides/notesSlide3.xml" Id="R14ee87fbac2645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c8a33476d43e6" /><Relationship Type="http://schemas.openxmlformats.org/officeDocument/2006/relationships/notesSlide" Target="/ppt/notesSlides/notesSlide4.xml" Id="R04c9312165dd48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0b51326ff40e2" /><Relationship Type="http://schemas.openxmlformats.org/officeDocument/2006/relationships/notesSlide" Target="/ppt/notesSlides/notesSlide5.xml" Id="R85befbf261684e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c2ed4d9324e2b" /><Relationship Type="http://schemas.openxmlformats.org/officeDocument/2006/relationships/notesSlide" Target="/ppt/notesSlides/notesSlide6.xml" Id="Ra6b6c65b18fd4b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85b51913242f8" /><Relationship Type="http://schemas.openxmlformats.org/officeDocument/2006/relationships/notesSlide" Target="/ppt/notesSlides/notesSlide7.xml" Id="Rffd4499a118645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bf617086b42a3" /><Relationship Type="http://schemas.openxmlformats.org/officeDocument/2006/relationships/notesSlide" Target="/ppt/notesSlides/notesSlide8.xml" Id="R05230720d94b46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11b0cc40c45db" /><Relationship Type="http://schemas.openxmlformats.org/officeDocument/2006/relationships/notesSlide" Target="/ppt/notesSlides/notesSlide9.xml" Id="R07242d16b56148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a486413484cea" /><Relationship Type="http://schemas.openxmlformats.org/officeDocument/2006/relationships/notesSlide" Target="/ppt/notesSlides/notesSlide10.xml" Id="Rea21161b23bd46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b462bd1644186" /><Relationship Type="http://schemas.openxmlformats.org/officeDocument/2006/relationships/notesSlide" Target="/ppt/notesSlides/notesSlide11.xml" Id="R27c18f69ae1348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f26d857af4f6b" /><Relationship Type="http://schemas.openxmlformats.org/officeDocument/2006/relationships/notesSlide" Target="/ppt/notesSlides/notesSlide12.xml" Id="Rea22bb1a251445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A900C4-AD42-441D-BC1C-CCB3BCDB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000500" cy="57531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FE8DD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CC180-FBF0-4EE3-98B8-C4202608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A3D"/>
          </a:solidFill>
          <a:ln xmlns:a="http://schemas.openxmlformats.org/drawingml/2006/main" w="0">
            <a:solidFill>
              <a:srgbClr val="C65A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00945-5BA9-43E3-AFFC-750395B7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90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32A3A"/>
                </a:solidFill>
              </a:defRPr>
            </a:pPr>
            <a:r>
              <a:rPr sz="3300" b="1">
                <a:solidFill>
                  <a:srgbClr val="132A3A"/>
                </a:solidFill>
              </a:rPr>
              <a:t>Le POC démontre toute la chaîne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88034-CCCB-4F66-962D-DABFD1BF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F6B73"/>
                </a:solidFill>
              </a:defRPr>
            </a:pPr>
            <a:r>
              <a:rPr sz="1575" b="0">
                <a:solidFill>
                  <a:srgbClr val="5F6B73"/>
                </a:solidFill>
              </a:rPr>
              <a:t>Un assistant culturel qui retrouve des événements réels, génère une réponse sourcée et l’expose par API.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38340-9E74-49C3-8B70-7C03ADA4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B6B69"/>
                </a:solidFill>
              </a:defRPr>
            </a:pPr>
            <a:r>
              <a:rPr sz="975" b="1">
                <a:solidFill>
                  <a:srgbClr val="0B6B69"/>
                </a:solidFill>
              </a:rPr>
              <a:t>Soutenance · juillet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D294F-21FE-40DE-814B-88C080E5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0096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Preuves livrées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8D6A6-BF3E-4E7A-9F25-83C7491A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304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32A3A"/>
                </a:solidFill>
              </a:defRPr>
            </a:pPr>
            <a:r>
              <a:rPr sz="1575" b="1">
                <a:solidFill>
                  <a:srgbClr val="132A3A"/>
                </a:solidFill>
              </a:rPr>
              <a:t>7 586 événements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132A3A"/>
                </a:solidFill>
              </a:defRPr>
            </a:pPr>
            <a:r>
              <a:rPr sz="1575" b="1">
                <a:solidFill>
                  <a:srgbClr val="132A3A"/>
                </a:solidFill>
              </a:rPr>
              <a:t>14 903 passages indexés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132A3A"/>
                </a:solidFill>
              </a:defRPr>
            </a:pPr>
            <a:r>
              <a:rPr sz="1575" b="1">
                <a:solidFill>
                  <a:srgbClr val="132A3A"/>
                </a:solidFill>
              </a:rPr>
              <a:t>59 tests passants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132A3A"/>
                </a:solidFill>
              </a:defRPr>
            </a:pPr>
            <a:r>
              <a:rPr sz="1575" b="1">
                <a:solidFill>
                  <a:srgbClr val="132A3A"/>
                </a:solidFill>
              </a:rPr>
              <a:t>API Docker opérationnelle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62DC8-0C9E-4740-BBBD-B779A578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9530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6B69"/>
                </a:solidFill>
              </a:defRPr>
            </a:pPr>
            <a:r>
              <a:rPr sz="1275" b="1">
                <a:solidFill>
                  <a:srgbClr val="0B6B69"/>
                </a:solidFill>
              </a:rPr>
              <a:t>Faisabilité technique et métier démontrée.</a:t>
            </a:r>
          </a:p>
        </p:txBody>
      </p:sp>
    </p:spTree>
    <p:extLst>
      <p:ext uri="{BB962C8B-B14F-4D97-AF65-F5344CB8AC3E}">
        <p14:creationId xmlns:p14="http://schemas.microsoft.com/office/powerpoint/2010/main" val="16998760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427E9A-C408-469B-A500-CF881679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CONTEXTE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CA8E5-D839-4D58-A036-AA8E0DCE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B4B7E-BFC8-4305-A584-4D56C596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32A3A"/>
                </a:solidFill>
              </a:defRPr>
            </a:pPr>
            <a:r>
              <a:rPr sz="2250" b="1">
                <a:solidFill>
                  <a:srgbClr val="132A3A"/>
                </a:solidFill>
              </a:rPr>
              <a:t>Le RAG évite deux mauvaises réponses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C9193-C629-4CA3-83E6-5A1E64A5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Une recherche rigide manque l’intention ; un LLM seul peut inventer.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BEF6B-1B0D-4632-AC0B-32BB22E2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238500" cy="34290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A710F-63E5-4197-BC97-D261407E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Recherche classique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809EA-4868-451D-94B2-473DD089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7813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32A3A"/>
                </a:solidFill>
              </a:defRPr>
            </a:pPr>
            <a:r>
              <a:rPr sz="1500" b="0">
                <a:solidFill>
                  <a:srgbClr val="132A3A"/>
                </a:solidFill>
              </a:rPr>
              <a:t>Mots-clés exacts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132A3A"/>
                </a:solidFill>
              </a:defRPr>
            </a:pPr>
            <a:r>
              <a:rPr sz="1500" b="0">
                <a:solidFill>
                  <a:srgbClr val="132A3A"/>
                </a:solidFill>
              </a:rPr>
              <a:t>Peu flexible face aux formulations naturelles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2D925-0BC5-45D2-B4A2-33A7BF36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76450"/>
            <a:ext cx="3238500" cy="34290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ED723-EBD9-4558-BFDC-7A0843C4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LLM seul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E56DA-44A9-49EB-B8F9-973430AF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27813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32A3A"/>
                </a:solidFill>
              </a:defRPr>
            </a:pPr>
            <a:r>
              <a:rPr sz="1500" b="0">
                <a:solidFill>
                  <a:srgbClr val="132A3A"/>
                </a:solidFill>
              </a:rPr>
              <a:t>Réponse fluide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132A3A"/>
                </a:solidFill>
              </a:defRPr>
            </a:pPr>
            <a:r>
              <a:rPr sz="1500" b="0">
                <a:solidFill>
                  <a:srgbClr val="132A3A"/>
                </a:solidFill>
              </a:rPr>
              <a:t>Aucune garantie que l’événement existe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71887-EEE7-4A97-8030-8CDA672F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76450"/>
            <a:ext cx="38862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5FB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2E5A1-6B24-4DE7-A391-D6960393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Solution RAG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46E2D-7D96-4098-B67F-592D56E8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86050"/>
            <a:ext cx="34290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6B69"/>
                </a:solidFill>
              </a:defRPr>
            </a:pPr>
            <a:r>
              <a:rPr sz="1650" b="1">
                <a:solidFill>
                  <a:srgbClr val="0B6B69"/>
                </a:solidFill>
              </a:rPr>
              <a:t>Recherche sémantique</a:t>
            </a:r>
          </a:p>
          <a:p xmlns:a="http://schemas.openxmlformats.org/drawingml/2006/main">
            <a:pPr>
              <a:buNone/>
              <a:defRPr sz="1650" b="1">
                <a:solidFill>
                  <a:srgbClr val="0B6B69"/>
                </a:solidFill>
              </a:defRPr>
            </a:pPr>
            <a:r>
              <a:rPr sz="1650" b="1">
                <a:solidFill>
                  <a:srgbClr val="0B6B69"/>
                </a:solidFill>
              </a:rPr>
              <a:t>+</a:t>
            </a:r>
          </a:p>
          <a:p xmlns:a="http://schemas.openxmlformats.org/drawingml/2006/main">
            <a:pPr>
              <a:buNone/>
              <a:defRPr sz="1650" b="1">
                <a:solidFill>
                  <a:srgbClr val="0B6B69"/>
                </a:solidFill>
              </a:defRPr>
            </a:pPr>
            <a:r>
              <a:rPr sz="1650" b="1">
                <a:solidFill>
                  <a:srgbClr val="0B6B69"/>
                </a:solidFill>
              </a:rPr>
              <a:t>Génération contrainte</a:t>
            </a:r>
          </a:p>
          <a:p xmlns:a="http://schemas.openxmlformats.org/drawingml/2006/main">
            <a:pPr>
              <a:buNone/>
              <a:defRPr sz="1650" b="1">
                <a:solidFill>
                  <a:srgbClr val="0B6B69"/>
                </a:solidFill>
              </a:defRPr>
            </a:pPr>
            <a:r>
              <a:rPr sz="1650" b="1">
                <a:solidFill>
                  <a:srgbClr val="0B6B69"/>
                </a:solidFill>
              </a:rPr>
              <a:t>+</a:t>
            </a:r>
          </a:p>
          <a:p xmlns:a="http://schemas.openxmlformats.org/drawingml/2006/main">
            <a:pPr>
              <a:buNone/>
              <a:defRPr sz="1650" b="1">
                <a:solidFill>
                  <a:srgbClr val="0B6B69"/>
                </a:solidFill>
              </a:defRPr>
            </a:pPr>
            <a:r>
              <a:rPr sz="1650" b="1">
                <a:solidFill>
                  <a:srgbClr val="0B6B69"/>
                </a:solidFill>
              </a:rPr>
              <a:t>Sources vérifiables</a:t>
            </a:r>
          </a:p>
        </p:txBody>
      </p:sp>
    </p:spTree>
    <p:extLst>
      <p:ext uri="{BB962C8B-B14F-4D97-AF65-F5344CB8AC3E}">
        <p14:creationId xmlns:p14="http://schemas.microsoft.com/office/powerpoint/2010/main" val="7566638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7AEF8A-6E27-4DE0-8681-D50D5D0C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FONCTIONNEMENT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EA67C-39F9-42C4-974F-D78284DA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B1D8A-D6F2-43F0-B33F-ACC17747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32A3A"/>
                </a:solidFill>
              </a:defRPr>
            </a:pPr>
            <a:r>
              <a:rPr sz="2250" b="1">
                <a:solidFill>
                  <a:srgbClr val="132A3A"/>
                </a:solidFill>
              </a:rPr>
              <a:t>Une question devient une réponse sourcée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6D11D-8949-4E5C-9C60-A1C877C9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Le modèle ne mémorise pas le catalogue : il consulte le contexte récupéré.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F9B7D-1FBC-4FD5-89D9-633E6EB1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0480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9F420-FA07-4C2B-887F-B5D0AB41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1. Rechercher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CEAFD-3689-4A9E-A94C-61186B95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5908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32A3A"/>
                </a:solidFill>
              </a:defRPr>
            </a:pPr>
            <a:r>
              <a:rPr sz="1500" b="0">
                <a:solidFill>
                  <a:srgbClr val="132A3A"/>
                </a:solidFill>
              </a:rPr>
              <a:t>La question est vectorisée.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132A3A"/>
                </a:solidFill>
              </a:defRPr>
            </a:pPr>
            <a:r>
              <a:rPr sz="1500" b="0">
                <a:solidFill>
                  <a:srgbClr val="132A3A"/>
                </a:solidFill>
              </a:rPr>
              <a:t>FAISS retrouve les passages les plus proches.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E524E-9CFF-4304-A351-0A76032B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30480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AE871-75B4-4308-BEBF-6A3BD6EE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812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2. Augmenter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21354-25A0-4B03-AF00-8D999066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00350"/>
            <a:ext cx="25908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32A3A"/>
                </a:solidFill>
              </a:defRPr>
            </a:pPr>
            <a:r>
              <a:rPr sz="1500" b="0">
                <a:solidFill>
                  <a:srgbClr val="132A3A"/>
                </a:solidFill>
              </a:rPr>
              <a:t>Titres, dates, lieux et URL sont injectés dans le prompt.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20DFA-F5DC-4B98-952B-8FB6D325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0750"/>
            <a:ext cx="30480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5FB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1187B-8855-480F-9176-CE868C0C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3. Générer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C097F-153F-4BDE-AD52-EB87BF78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00350"/>
            <a:ext cx="25908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32A3A"/>
                </a:solidFill>
              </a:defRPr>
            </a:pPr>
            <a:r>
              <a:rPr sz="1500" b="0">
                <a:solidFill>
                  <a:srgbClr val="132A3A"/>
                </a:solidFill>
              </a:rPr>
              <a:t>Mistral rédige en français et renvoie les sources.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4E6B7-37EC-4FC4-A421-DC70B12C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6B69"/>
                </a:solidFill>
              </a:defRPr>
            </a:pPr>
            <a:r>
              <a:rPr sz="1425" b="1">
                <a:solidFill>
                  <a:srgbClr val="0B6B69"/>
                </a:solidFill>
              </a:rPr>
              <a:t>Résultat : une réponse naturelle, ancrée dans le corpus et vérifiable.</a:t>
            </a:r>
          </a:p>
        </p:txBody>
      </p:sp>
    </p:spTree>
    <p:extLst>
      <p:ext uri="{BB962C8B-B14F-4D97-AF65-F5344CB8AC3E}">
        <p14:creationId xmlns:p14="http://schemas.microsoft.com/office/powerpoint/2010/main" val="4166757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599F97-9507-437F-91BB-470AE53E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DONNÉES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6215A-0EDF-485F-9B7A-08D5CEDC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88FD5-5C21-43DB-8820-ED415170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32A3A"/>
                </a:solidFill>
              </a:defRPr>
            </a:pPr>
            <a:r>
              <a:rPr sz="2250" b="1">
                <a:solidFill>
                  <a:srgbClr val="132A3A"/>
                </a:solidFill>
              </a:rPr>
              <a:t>Le corpus est un instantané reproductible de Paris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826E4-ED2B-46F6-9F5E-6785D1C8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La collecte est tracée ; la fraîcheur automatique reste une étape de production.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02C70-5168-436D-838B-A57E6D50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4290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BB19A-2FB2-4A4D-92DA-D73B3AAF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0734E-3CEB-44A2-934F-BA47934E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9718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>OpenAgenda via Opendatasoft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>API publique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>Données culturelles réelles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3A723-D99E-4B4F-A872-F7881E22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38350"/>
            <a:ext cx="3143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52A90-E66D-42DA-9F84-3E0DE9D6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288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Périmètre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E153D-6D79-4399-BECE-5D04543A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47950"/>
            <a:ext cx="26860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>Paris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>10/07/2025 → 10/07/2026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>Snapshot collecté le 10/07/2026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A0239-E23D-4AC5-8A6C-05A5AEE0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38350"/>
            <a:ext cx="3714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5FB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EEB2A-D872-4A1A-8A08-E2041A25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Après nettoyage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3B98A-E948-4DC6-8B18-9D6E36F3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32575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6B69"/>
                </a:solidFill>
              </a:defRPr>
            </a:pPr>
            <a:r>
              <a:rPr sz="1500" b="1">
                <a:solidFill>
                  <a:srgbClr val="0B6B69"/>
                </a:solidFill>
              </a:rPr>
              <a:t>7 586 événements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500" b="1">
                <a:solidFill>
                  <a:srgbClr val="0B6B69"/>
                </a:solidFill>
              </a:defRPr>
            </a:pPr>
            <a:r>
              <a:rPr sz="1500" b="1">
                <a:solidFill>
                  <a:srgbClr val="0B6B69"/>
                </a:solidFill>
              </a:rPr>
              <a:t>Titre · description · lieu</a:t>
            </a:r>
          </a:p>
          <a:p xmlns:a="http://schemas.openxmlformats.org/drawingml/2006/main">
            <a:pPr>
              <a:buNone/>
              <a:defRPr sz="1500" b="1">
                <a:solidFill>
                  <a:srgbClr val="0B6B69"/>
                </a:solidFill>
              </a:defRPr>
            </a:pPr>
            <a:r>
              <a:rPr sz="1500" b="1">
                <a:solidFill>
                  <a:srgbClr val="0B6B69"/>
                </a:solidFill>
              </a:rPr>
              <a:t>Date · URL · catégories</a:t>
            </a:r>
          </a:p>
        </p:txBody>
      </p:sp>
    </p:spTree>
    <p:extLst>
      <p:ext uri="{BB962C8B-B14F-4D97-AF65-F5344CB8AC3E}">
        <p14:creationId xmlns:p14="http://schemas.microsoft.com/office/powerpoint/2010/main" val="20518240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A755B4-20A8-47AA-9A29-2EED01EB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557EC-0B81-45FF-82DC-AFE38FB2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CA0BF-B043-491D-9FC3-81F40D4A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32A3A"/>
                </a:solidFill>
              </a:defRPr>
            </a:pPr>
            <a:r>
              <a:rPr sz="2250" b="1">
                <a:solidFill>
                  <a:srgbClr val="132A3A"/>
                </a:solidFill>
              </a:rPr>
              <a:t>Chaque responsabilité reste isolée et testable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EC4CE-7C3D-495B-BB44-73852D34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Les scripts pilotent des modules séparés ; les artefacts restent inspectables.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07032-CBF6-40E5-A18B-0526FF19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562100" cy="20002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43258-F0FA-4D7B-B9FD-968A178D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Collecte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36DEB-28A8-43F3-B1E3-A9B60B95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104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32A3A"/>
                </a:solidFill>
              </a:defRPr>
            </a:pPr>
            <a:r>
              <a:rPr sz="1200" b="0">
                <a:solidFill>
                  <a:srgbClr val="132A3A"/>
                </a:solidFill>
              </a:rPr>
              <a:t>API</a:t>
            </a:r>
          </a:p>
          <a:p xmlns:a="http://schemas.openxmlformats.org/drawingml/2006/main">
            <a:pPr>
              <a:buNone/>
              <a:defRPr sz="1200" b="0">
                <a:solidFill>
                  <a:srgbClr val="132A3A"/>
                </a:solidFill>
              </a:defRPr>
            </a:pPr>
            <a:r>
              <a:rPr sz="1200" b="0">
                <a:solidFill>
                  <a:srgbClr val="132A3A"/>
                </a:solidFill>
              </a:rPr>
              <a:t>→ JSON / parquet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FA870-063E-4FD7-A2CF-89B04325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62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B83A27"/>
                </a:solidFill>
              </a:defRPr>
            </a:pPr>
            <a:r>
              <a:rPr sz="1500" b="1">
                <a:solidFill>
                  <a:srgbClr val="B83A27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A3424-2AD9-438A-9B30-09A60DA0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81250"/>
            <a:ext cx="1562100" cy="20002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1376B-70EB-4C33-9D51-CCD9EFB4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717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Préparer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7988A-79CB-4623-8FF7-F0A7D66A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90850"/>
            <a:ext cx="1104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32A3A"/>
                </a:solidFill>
              </a:defRPr>
            </a:pPr>
            <a:r>
              <a:rPr sz="1200" b="0">
                <a:solidFill>
                  <a:srgbClr val="132A3A"/>
                </a:solidFill>
              </a:rPr>
              <a:t>nettoyer</a:t>
            </a:r>
          </a:p>
          <a:p xmlns:a="http://schemas.openxmlformats.org/drawingml/2006/main">
            <a:pPr>
              <a:buNone/>
              <a:defRPr sz="1200" b="0">
                <a:solidFill>
                  <a:srgbClr val="132A3A"/>
                </a:solidFill>
              </a:defRPr>
            </a:pPr>
            <a:r>
              <a:rPr sz="1200" b="0">
                <a:solidFill>
                  <a:srgbClr val="132A3A"/>
                </a:solidFill>
              </a:rPr>
              <a:t>→ texte utile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CA74E-27AC-45F0-9865-FF495207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62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B83A27"/>
                </a:solidFill>
              </a:defRPr>
            </a:pPr>
            <a:r>
              <a:rPr sz="1500" b="1">
                <a:solidFill>
                  <a:srgbClr val="B83A27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60746-92BB-4DDB-94A7-CF64BA5F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81250"/>
            <a:ext cx="1562100" cy="20002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B9436-8D10-47E3-A888-DE73F51F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Indexer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92C46C-9681-465F-BFE6-DD0D96F4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1104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32A3A"/>
                </a:solidFill>
              </a:defRPr>
            </a:pPr>
            <a:r>
              <a:rPr sz="1200" b="0">
                <a:solidFill>
                  <a:srgbClr val="132A3A"/>
                </a:solidFill>
              </a:rPr>
              <a:t>chunks</a:t>
            </a:r>
          </a:p>
          <a:p xmlns:a="http://schemas.openxmlformats.org/drawingml/2006/main">
            <a:pPr>
              <a:buNone/>
              <a:defRPr sz="1200" b="0">
                <a:solidFill>
                  <a:srgbClr val="132A3A"/>
                </a:solidFill>
              </a:defRPr>
            </a:pPr>
            <a:r>
              <a:rPr sz="1200" b="0">
                <a:solidFill>
                  <a:srgbClr val="132A3A"/>
                </a:solidFill>
              </a:rPr>
              <a:t>→ embeddings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05D06-F127-4E6A-B931-FAE58F51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62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B83A27"/>
                </a:solidFill>
              </a:defRPr>
            </a:pPr>
            <a:r>
              <a:rPr sz="1500" b="1">
                <a:solidFill>
                  <a:srgbClr val="B83A27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3F971-3F43-425A-BB4E-B799A4CC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81250"/>
            <a:ext cx="1562100" cy="20002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A8B0A-F681-4B0A-A0A1-1ACE427B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Répondre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779674-096E-4462-B02F-75366A21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90850"/>
            <a:ext cx="1104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32A3A"/>
                </a:solidFill>
              </a:defRPr>
            </a:pPr>
            <a:r>
              <a:rPr sz="1200" b="0">
                <a:solidFill>
                  <a:srgbClr val="132A3A"/>
                </a:solidFill>
              </a:rPr>
              <a:t>FAISS</a:t>
            </a:r>
          </a:p>
          <a:p xmlns:a="http://schemas.openxmlformats.org/drawingml/2006/main">
            <a:pPr>
              <a:buNone/>
              <a:defRPr sz="1200" b="0">
                <a:solidFill>
                  <a:srgbClr val="132A3A"/>
                </a:solidFill>
              </a:defRPr>
            </a:pPr>
            <a:r>
              <a:rPr sz="1200" b="0">
                <a:solidFill>
                  <a:srgbClr val="132A3A"/>
                </a:solidFill>
              </a:rPr>
              <a:t>→ Mistral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05647-2D2A-4B43-9269-F09C484E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62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B83A27"/>
                </a:solidFill>
              </a:defRPr>
            </a:pPr>
            <a:r>
              <a:rPr sz="1500" b="1">
                <a:solidFill>
                  <a:srgbClr val="B83A27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3697A3-AFB2-497D-8AE7-A89E4232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1562100" cy="20002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F2443-CBD1-4EB6-B907-67FBC27C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Exposer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933D90-0737-444F-A418-B887E956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1104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32A3A"/>
                </a:solidFill>
              </a:defRPr>
            </a:pPr>
            <a:r>
              <a:rPr sz="1200" b="0">
                <a:solidFill>
                  <a:srgbClr val="132A3A"/>
                </a:solidFill>
              </a:rPr>
              <a:t>FastAPI</a:t>
            </a:r>
          </a:p>
          <a:p xmlns:a="http://schemas.openxmlformats.org/drawingml/2006/main">
            <a:pPr>
              <a:buNone/>
              <a:defRPr sz="1200" b="0">
                <a:solidFill>
                  <a:srgbClr val="132A3A"/>
                </a:solidFill>
              </a:defRPr>
            </a:pPr>
            <a:r>
              <a:rPr sz="1200" b="0">
                <a:solidFill>
                  <a:srgbClr val="132A3A"/>
                </a:solidFill>
              </a:rPr>
              <a:t>→ 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3F5472-555A-47F2-B9DB-14FBE8EF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62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B83A27"/>
                </a:solidFill>
              </a:defRPr>
            </a:pPr>
            <a:r>
              <a:rPr sz="1500" b="1">
                <a:solidFill>
                  <a:srgbClr val="B83A27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4DD266-A077-4512-8854-530E58EB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81250"/>
            <a:ext cx="1562100" cy="20002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C82329-2E7D-47B0-BDF0-2B44A827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717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Déployer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27CC64-972B-460C-B4EB-1A952FFF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90850"/>
            <a:ext cx="1104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32A3A"/>
                </a:solidFill>
              </a:defRPr>
            </a:pPr>
            <a:r>
              <a:rPr sz="1200" b="0">
                <a:solidFill>
                  <a:srgbClr val="132A3A"/>
                </a:solidFill>
              </a:rPr>
              <a:t>Docker</a:t>
            </a:r>
          </a:p>
          <a:p xmlns:a="http://schemas.openxmlformats.org/drawingml/2006/main">
            <a:pPr>
              <a:buNone/>
              <a:defRPr sz="1200" b="0">
                <a:solidFill>
                  <a:srgbClr val="132A3A"/>
                </a:solidFill>
              </a:defRPr>
            </a:pPr>
            <a:r>
              <a:rPr sz="1200" b="0">
                <a:solidFill>
                  <a:srgbClr val="132A3A"/>
                </a:solidFill>
              </a:rPr>
              <a:t>→ port 8000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204C27-A95D-4BE0-B73D-0CB7E9C7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6B69"/>
                </a:solidFill>
              </a:defRPr>
            </a:pPr>
            <a:r>
              <a:rPr sz="1350" b="1">
                <a:solidFill>
                  <a:srgbClr val="0B6B69"/>
                </a:solidFill>
              </a:rPr>
              <a:t>Une étape peut évoluer sans réécrire toute la chaîne.</a:t>
            </a:r>
          </a:p>
        </p:txBody>
      </p:sp>
    </p:spTree>
    <p:extLst>
      <p:ext uri="{BB962C8B-B14F-4D97-AF65-F5344CB8AC3E}">
        <p14:creationId xmlns:p14="http://schemas.microsoft.com/office/powerpoint/2010/main" val="202122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A37F2B-8E49-4163-AC13-5D45D2AB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INDEXATION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1DAE8-8574-4FFF-843B-0957D835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10E79-8E75-46E8-9E10-425C25C3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32A3A"/>
                </a:solidFill>
              </a:defRPr>
            </a:pPr>
            <a:r>
              <a:rPr sz="2250" b="1">
                <a:solidFill>
                  <a:srgbClr val="132A3A"/>
                </a:solidFill>
              </a:rPr>
              <a:t>Les descriptions deviennent 14 903 passages recherchables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3B513-9DAD-4587-AFE5-E7481CAF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La recherche porte sur le sens, tout en conservant les métadonnées de preuve.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FF72F-2FF5-403C-A428-C096AE01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4290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C3F3B-1A17-4228-BE36-FCA52BBC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Découper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915A0-C48F-4F4A-A9E2-DB2E5B66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971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Chunks de 1000 caractères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Chevauchement de 200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Évite de perdre une frontière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835A3-F454-464C-A6A4-341C353F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3337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59469-D0FB-4EB1-8546-7EAFD995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860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Vectoriser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CFB30-18D7-444D-8650-008DEA0A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05100"/>
            <a:ext cx="28765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mistral-embed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Lots de 50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Vecteurs de dimension 1024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3A71D-563D-4BE4-97DE-CD35C2B3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5242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5FB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5D68E-FA85-44E3-83E9-713266BD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Indexer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2E583-FD9E-456B-A8C4-3BA732A5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05100"/>
            <a:ext cx="30670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6B69"/>
                </a:solidFill>
              </a:defRPr>
            </a:pPr>
            <a:r>
              <a:rPr sz="1425" b="1">
                <a:solidFill>
                  <a:srgbClr val="0B6B69"/>
                </a:solidFill>
              </a:rPr>
              <a:t>14 903 passages FAISS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1">
                <a:solidFill>
                  <a:srgbClr val="0B6B69"/>
                </a:solidFill>
              </a:defRPr>
            </a:pPr>
            <a:r>
              <a:rPr sz="1425" b="1">
                <a:solidFill>
                  <a:srgbClr val="0B6B69"/>
                </a:solidFill>
              </a:rPr>
              <a:t>7 586 événements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1">
                <a:solidFill>
                  <a:srgbClr val="0B6B69"/>
                </a:solidFill>
              </a:defRPr>
            </a:pPr>
            <a:r>
              <a:rPr sz="1425" b="1">
                <a:solidFill>
                  <a:srgbClr val="0B6B69"/>
                </a:solidFill>
              </a:rPr>
              <a:t>Titre · date · lieu · URL</a:t>
            </a:r>
          </a:p>
        </p:txBody>
      </p:sp>
    </p:spTree>
    <p:extLst>
      <p:ext uri="{BB962C8B-B14F-4D97-AF65-F5344CB8AC3E}">
        <p14:creationId xmlns:p14="http://schemas.microsoft.com/office/powerpoint/2010/main" val="16516669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8C8249-90EB-4866-8DEC-4876E230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86CC0-F2C0-47EA-9964-66DABDD6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AFF95-BF31-43EA-AEC8-B71F5AAD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32A3A"/>
                </a:solidFill>
              </a:defRPr>
            </a:pPr>
            <a:r>
              <a:rPr sz="2250" b="1">
                <a:solidFill>
                  <a:srgbClr val="132A3A"/>
                </a:solidFill>
              </a:rPr>
              <a:t>L’API expose le RAG sans le recharger à chaque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7DCD9-CB86-4AA5-B3C5-A4D3E3D1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Le runtime reste rapide, testable et reproductible dans Docker.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42736-FDAC-464F-835E-B1612F69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C0BA7-51A3-47D2-BF79-18BB63E1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Répondre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B641E-5DC2-46CC-9431-D0692EC1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6860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top_k=4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Prompt contraint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Mistral Small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Réponse +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3C094-7DA2-40A5-8743-9376F884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31432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D5871-EE06-4D86-ADD2-9DE0BFDE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860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Exposer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AB555-D018-4307-A638-7557081D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05100"/>
            <a:ext cx="26860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GET /health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POST /ask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POST /rebuild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Swagger /docs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E0D93-B5BA-4B5F-837F-62BBC4D9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95500"/>
            <a:ext cx="40005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5FB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39676-BFCD-4080-9244-92F2DE1F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Exploiter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D3681-BDB8-474F-A33B-4F721611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05100"/>
            <a:ext cx="35433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6B69"/>
                </a:solidFill>
              </a:defRPr>
            </a:pPr>
            <a:r>
              <a:rPr sz="1425" b="1">
                <a:solidFill>
                  <a:srgbClr val="0B6B69"/>
                </a:solidFill>
              </a:rPr>
              <a:t>Retriever et modèle en mémoire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1">
                <a:solidFill>
                  <a:srgbClr val="0B6B69"/>
                </a:solidFill>
              </a:defRPr>
            </a:pPr>
            <a:r>
              <a:rPr sz="1425" b="1">
                <a:solidFill>
                  <a:srgbClr val="0B6B69"/>
                </a:solidFill>
              </a:rPr>
              <a:t>59 tests passants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1">
                <a:solidFill>
                  <a:srgbClr val="0B6B69"/>
                </a:solidFill>
              </a:defRPr>
            </a:pPr>
            <a:r>
              <a:rPr sz="1425" b="1">
                <a:solidFill>
                  <a:srgbClr val="0B6B69"/>
                </a:solidFill>
              </a:rPr>
              <a:t>Seed + volume Docker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1">
                <a:solidFill>
                  <a:srgbClr val="0B6B69"/>
                </a:solidFill>
              </a:defRPr>
            </a:pPr>
            <a:r>
              <a:rPr sz="1425" b="1">
                <a:solidFill>
                  <a:srgbClr val="0B6B69"/>
                </a:solidFill>
              </a:rPr>
              <a:t>Secrets hors image</a:t>
            </a:r>
          </a:p>
        </p:txBody>
      </p:sp>
    </p:spTree>
    <p:extLst>
      <p:ext uri="{BB962C8B-B14F-4D97-AF65-F5344CB8AC3E}">
        <p14:creationId xmlns:p14="http://schemas.microsoft.com/office/powerpoint/2010/main" val="6348279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FAF232-9D63-41E2-927A-7520EFA1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DÉMONSTRATION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306D4-1395-4376-805F-ABC51B73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E242B-6466-45C2-8241-547930CA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32A3A"/>
                </a:solidFill>
              </a:defRPr>
            </a:pPr>
            <a:r>
              <a:rPr sz="2250" b="1">
                <a:solidFill>
                  <a:srgbClr val="132A3A"/>
                </a:solidFill>
              </a:rPr>
              <a:t>La démo prouve le résultat et rend la limite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B361E-FB15-4009-A833-4475E30E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Deux questions, une réponse sourcée et un refus explicite d’inventer.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9A7FC-57DF-49A7-83BD-1938FD55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C0BD5-2093-4409-88D5-821E6A48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Cas nominal · Paris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52124-14E9-4B67-BC6C-21E1E5DB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6863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6B69"/>
                </a:solidFill>
              </a:defRPr>
            </a:pPr>
            <a:r>
              <a:rPr sz="1500" b="1">
                <a:solidFill>
                  <a:srgbClr val="0B6B69"/>
                </a:solidFill>
              </a:rPr>
              <a:t>« Parle-moi de Concert Fishers »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500" b="1">
                <a:solidFill>
                  <a:srgbClr val="0B6B69"/>
                </a:solidFill>
              </a:defRPr>
            </a:pPr>
            <a:r>
              <a:rPr sz="1500" b="1">
                <a:solidFill>
                  <a:srgbClr val="0B6B69"/>
                </a:solidFill>
              </a:rPr>
              <a:t>Date, horaires, lieu et URL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500" b="1">
                <a:solidFill>
                  <a:srgbClr val="0B6B69"/>
                </a:solidFill>
              </a:defRPr>
            </a:pPr>
            <a:r>
              <a:rPr sz="1500" b="1">
                <a:solidFill>
                  <a:srgbClr val="0B6B69"/>
                </a:solidFill>
              </a:rPr>
              <a:t>4 sources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500" b="1">
                <a:solidFill>
                  <a:srgbClr val="0B6B69"/>
                </a:solidFill>
              </a:defRPr>
            </a:pPr>
            <a:r>
              <a:rPr sz="1500" b="1">
                <a:solidFill>
                  <a:srgbClr val="0B6B69"/>
                </a:solidFill>
              </a:rPr>
              <a:t>Réponse vérifiable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A5488-A6D8-4F31-95F8-E658BE24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54102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58558-A52C-402B-9983-D09B8F99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Cas limite · Lyon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383DC-1632-45EB-AD50-4075A506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49530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« Quelles expositions photo à Lyon ? »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« Je ne sais pas »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Aucune invention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Limite : 4 voisins parisiens restent retournés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Démo réelle : 9,62 s</a:t>
            </a:r>
          </a:p>
        </p:txBody>
      </p:sp>
    </p:spTree>
    <p:extLst>
      <p:ext uri="{BB962C8B-B14F-4D97-AF65-F5344CB8AC3E}">
        <p14:creationId xmlns:p14="http://schemas.microsoft.com/office/powerpoint/2010/main" val="20766166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C1637D-BD7B-4ADE-B37D-424E6EFF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ÉVALUATION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319EA-F3E5-420B-ABE9-0EE0AC8F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0ADE1-E433-4A2C-ACFE-E616B6FF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32A3A"/>
                </a:solidFill>
              </a:defRPr>
            </a:pPr>
            <a:r>
              <a:rPr sz="2250" b="1">
                <a:solidFill>
                  <a:srgbClr val="132A3A"/>
                </a:solidFill>
              </a:rPr>
              <a:t>L’évaluation sépare recherche, fidélité et correction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9254D-4C88-4A75-BBA2-05E6A4CB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Deux niveaux complémentaires : tests fonctionnels et métriques RAGAS.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C3D5F-DFD5-4B73-9401-63D44AEA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95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07F0A-F577-465C-ABD7-A60AE821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Jeu annoté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C3E8E-1BA2-402B-A4F1-FAC61BD5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36385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6B69"/>
                </a:solidFill>
              </a:defRPr>
            </a:pPr>
            <a:r>
              <a:rPr sz="1575" b="1">
                <a:solidFill>
                  <a:srgbClr val="0B6B69"/>
                </a:solidFill>
              </a:rPr>
              <a:t>4 cas fonctionnels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0B6B69"/>
                </a:solidFill>
              </a:defRPr>
            </a:pPr>
            <a:r>
              <a:rPr sz="1575" b="1">
                <a:solidFill>
                  <a:srgbClr val="0B6B69"/>
                </a:solidFill>
              </a:rPr>
              <a:t>3 positifs</a:t>
            </a:r>
          </a:p>
          <a:p xmlns:a="http://schemas.openxmlformats.org/drawingml/2006/main">
            <a:pPr>
              <a:buNone/>
              <a:defRPr sz="1575" b="1">
                <a:solidFill>
                  <a:srgbClr val="0B6B69"/>
                </a:solidFill>
              </a:defRPr>
            </a:pPr>
            <a:r>
              <a:rPr sz="1575" b="1">
                <a:solidFill>
                  <a:srgbClr val="0B6B69"/>
                </a:solidFill>
              </a:rPr>
              <a:t>1 hors périmètre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0B6B69"/>
                </a:solidFill>
              </a:defRPr>
            </a:pPr>
            <a:r>
              <a:rPr sz="1575" b="1">
                <a:solidFill>
                  <a:srgbClr val="0B6B69"/>
                </a:solidFill>
              </a:rPr>
              <a:t>Direct · API · Docker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DA960-95D9-49AD-84EB-08244915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95500"/>
            <a:ext cx="64579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97A68-6655-43AA-95A1-5F351E7F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860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3 cas RAGAS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74F9C-BEFD-4568-871F-5D711CE1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05100"/>
            <a:ext cx="6000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32A3A"/>
                </a:solidFill>
              </a:defRPr>
            </a:pPr>
            <a:r>
              <a:rPr sz="1500" b="0">
                <a:solidFill>
                  <a:srgbClr val="132A3A"/>
                </a:solidFill>
              </a:rPr>
              <a:t>Fidélité au contexte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132A3A"/>
                </a:solidFill>
              </a:defRPr>
            </a:pPr>
            <a:r>
              <a:rPr sz="1500" b="0">
                <a:solidFill>
                  <a:srgbClr val="132A3A"/>
                </a:solidFill>
              </a:rPr>
              <a:t>Pertinence de la réponse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132A3A"/>
                </a:solidFill>
              </a:defRPr>
            </a:pPr>
            <a:r>
              <a:rPr sz="1500" b="0">
                <a:solidFill>
                  <a:srgbClr val="132A3A"/>
                </a:solidFill>
              </a:rPr>
              <a:t>Précision du contexte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132A3A"/>
                </a:solidFill>
              </a:defRPr>
            </a:pPr>
            <a:r>
              <a:rPr sz="1500" b="0">
                <a:solidFill>
                  <a:srgbClr val="132A3A"/>
                </a:solidFill>
              </a:rPr>
              <a:t>Correction face à la référence</a:t>
            </a:r>
          </a:p>
        </p:txBody>
      </p:sp>
    </p:spTree>
    <p:extLst>
      <p:ext uri="{BB962C8B-B14F-4D97-AF65-F5344CB8AC3E}">
        <p14:creationId xmlns:p14="http://schemas.microsoft.com/office/powerpoint/2010/main" val="11277883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DF0AE1-053A-4116-84F6-4CA094D0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RÉSULTATS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E1DDB-9548-454C-8187-428960BB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6A4C9-CE93-4D87-A076-26415FA4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32A3A"/>
                </a:solidFill>
              </a:defRPr>
            </a:pPr>
            <a:r>
              <a:rPr sz="2250" b="1">
                <a:solidFill>
                  <a:srgbClr val="132A3A"/>
                </a:solidFill>
              </a:rPr>
              <a:t>La recherche est solide, la correction reste prioritaire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791EA-FF47-4DCB-9A92-8224040E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Les trois cas RAGAS valident la méthode et désignent l’amélioration suivante.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49460-A316-4CA2-9767-C9F7F883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4290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BB9F4-2DEB-4BFC-821C-68BC4B6F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Réponse ancrée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063B9-3944-4888-BC7A-4EBEBC80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9718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6B69"/>
                </a:solidFill>
              </a:defRPr>
            </a:pPr>
            <a:r>
              <a:rPr sz="2100" b="1">
                <a:solidFill>
                  <a:srgbClr val="0B6B69"/>
                </a:solidFill>
              </a:rPr>
              <a:t>0,900</a:t>
            </a:r>
          </a:p>
          <a:p xmlns:a="http://schemas.openxmlformats.org/drawingml/2006/main">
            <a:pPr>
              <a:buNone/>
              <a:defRPr sz="2100" b="1">
                <a:solidFill>
                  <a:srgbClr val="0B6B69"/>
                </a:solidFill>
              </a:defRPr>
            </a:pPr>
            <a:r>
              <a:rPr sz="2100" b="1">
                <a:solidFill>
                  <a:srgbClr val="0B6B69"/>
                </a:solidFill>
              </a:rPr>
              <a:t>Fidélité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2100" b="1">
                <a:solidFill>
                  <a:srgbClr val="0B6B69"/>
                </a:solidFill>
              </a:defRPr>
            </a:pPr>
            <a:r>
              <a:rPr sz="2100" b="1">
                <a:solidFill>
                  <a:srgbClr val="0B6B69"/>
                </a:solidFill>
              </a:rPr>
              <a:t>0,846</a:t>
            </a:r>
          </a:p>
          <a:p xmlns:a="http://schemas.openxmlformats.org/drawingml/2006/main">
            <a:pPr>
              <a:buNone/>
              <a:defRPr sz="2100" b="1">
                <a:solidFill>
                  <a:srgbClr val="0B6B69"/>
                </a:solidFill>
              </a:defRPr>
            </a:pPr>
            <a:r>
              <a:rPr sz="2100" b="1">
                <a:solidFill>
                  <a:srgbClr val="0B6B69"/>
                </a:solidFill>
              </a:rPr>
              <a:t>Pertinence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277DC-1590-43C7-ADCC-A296B249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333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B712E-2A81-4C64-8B71-4C1FD7F3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860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Contexte bien classé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911B0-01B1-439C-9B2E-1159F477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05100"/>
            <a:ext cx="28765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69"/>
                </a:solidFill>
              </a:defRPr>
            </a:pPr>
            <a:r>
              <a:rPr sz="2250" b="1">
                <a:solidFill>
                  <a:srgbClr val="0B6B69"/>
                </a:solidFill>
              </a:rPr>
              <a:t>1,000</a:t>
            </a:r>
          </a:p>
          <a:p xmlns:a="http://schemas.openxmlformats.org/drawingml/2006/main">
            <a:pPr>
              <a:buNone/>
              <a:defRPr sz="2250" b="1">
                <a:solidFill>
                  <a:srgbClr val="0B6B69"/>
                </a:solidFill>
              </a:defRPr>
            </a:pPr>
            <a:r>
              <a:rPr sz="2250" b="1">
                <a:solidFill>
                  <a:srgbClr val="0B6B69"/>
                </a:solidFill>
              </a:rPr>
              <a:t>Précision du contexte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B0A53-FB12-4137-AAB6-1924F27A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524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5FB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B21BB-47C7-4F02-8CA2-36C7CD0A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Priorité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CE779-4690-49B4-B065-40CCAA55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05100"/>
            <a:ext cx="30670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B83A27"/>
                </a:solidFill>
              </a:defRPr>
            </a:pPr>
            <a:r>
              <a:rPr sz="1800" b="1">
                <a:solidFill>
                  <a:srgbClr val="B83A27"/>
                </a:solidFill>
              </a:rPr>
              <a:t>0,683</a:t>
            </a:r>
          </a:p>
          <a:p xmlns:a="http://schemas.openxmlformats.org/drawingml/2006/main">
            <a:pPr>
              <a:buNone/>
              <a:defRPr sz="1800" b="1">
                <a:solidFill>
                  <a:srgbClr val="B83A27"/>
                </a:solidFill>
              </a:defRPr>
            </a:pPr>
            <a:r>
              <a:rPr sz="1800" b="1">
                <a:solidFill>
                  <a:srgbClr val="B83A27"/>
                </a:solidFill>
              </a:rPr>
              <a:t>Correction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B83A27"/>
                </a:solidFill>
              </a:defRPr>
            </a:pPr>
            <a:r>
              <a:rPr sz="1800" b="1">
                <a:solidFill>
                  <a:srgbClr val="B83A27"/>
                </a:solidFill>
              </a:rPr>
              <a:t>Mieux cadrer les détails attendus et élargir le benchmark.</a:t>
            </a:r>
          </a:p>
        </p:txBody>
      </p:sp>
    </p:spTree>
    <p:extLst>
      <p:ext uri="{BB962C8B-B14F-4D97-AF65-F5344CB8AC3E}">
        <p14:creationId xmlns:p14="http://schemas.microsoft.com/office/powerpoint/2010/main" val="11611089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3452DD-D5D0-467E-BC3B-9EBC224D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LIMITES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93F0F-8078-4AEB-BD8D-B36E4622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AF4D7-66D0-43EF-B35A-093CDC9F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32A3A"/>
                </a:solidFill>
              </a:defRPr>
            </a:pPr>
            <a:r>
              <a:rPr sz="2250" b="1">
                <a:solidFill>
                  <a:srgbClr val="132A3A"/>
                </a:solidFill>
              </a:rPr>
              <a:t>Le POC valide la faisabilité, pas la production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540C0-61C7-4B9C-8992-521C9C0C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Chaque limite connue correspond à une action d’industrialisation.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4E5AE-E389-44DE-908E-52911A12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4290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CBCAA-BA6A-4A80-9DB3-04976DDA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Données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CD871-0563-4DA8-BE8D-3A9EE700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9718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32A3A"/>
                </a:solidFill>
              </a:defRPr>
            </a:pPr>
            <a:r>
              <a:rPr sz="1500" b="0">
                <a:solidFill>
                  <a:srgbClr val="132A3A"/>
                </a:solidFill>
              </a:rPr>
              <a:t>Paris uniquement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132A3A"/>
                </a:solidFill>
              </a:defRPr>
            </a:pPr>
            <a:r>
              <a:rPr sz="1500" b="0">
                <a:solidFill>
                  <a:srgbClr val="132A3A"/>
                </a:solidFill>
              </a:rPr>
              <a:t>Snapshot figé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132A3A"/>
                </a:solidFill>
              </a:defRPr>
            </a:pPr>
            <a:r>
              <a:rPr sz="1500" b="0">
                <a:solidFill>
                  <a:srgbClr val="132A3A"/>
                </a:solidFill>
              </a:rPr>
              <a:t>Descriptions parfois bruitées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C818C-424F-4C06-A7DF-85E04754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333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E2F6C-8C2C-4B63-B535-CD19E0B3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860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Retrieval et modèle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CAC00-8C55-4626-9D3F-9A7D69EE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05100"/>
            <a:ext cx="28765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Pas de seuil de similarité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Mistral nécessite Internet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top_k et chunking à calibrer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BCEF5-328B-4864-B519-C647617D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524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5FB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3714F-59C2-499F-A6A5-BD075ED4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Évaluation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10F61-A49B-4BCE-8C50-2C5E6E58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05100"/>
            <a:ext cx="30670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32A3A"/>
                </a:solidFill>
              </a:defRPr>
            </a:pPr>
            <a:r>
              <a:rPr sz="1500" b="0">
                <a:solidFill>
                  <a:srgbClr val="132A3A"/>
                </a:solidFill>
              </a:rPr>
              <a:t>3 cas RAGAS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132A3A"/>
                </a:solidFill>
              </a:defRPr>
            </a:pPr>
            <a:r>
              <a:rPr sz="1500" b="0">
                <a:solidFill>
                  <a:srgbClr val="132A3A"/>
                </a:solidFill>
              </a:rPr>
              <a:t>Pas de test de charge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132A3A"/>
                </a:solidFill>
              </a:defRPr>
            </a:pPr>
            <a:r>
              <a:rPr sz="1500" b="0">
                <a:solidFill>
                  <a:srgbClr val="132A3A"/>
                </a:solidFill>
              </a:rPr>
              <a:t>Pas de suivi continu en production</a:t>
            </a:r>
          </a:p>
        </p:txBody>
      </p:sp>
    </p:spTree>
    <p:extLst>
      <p:ext uri="{BB962C8B-B14F-4D97-AF65-F5344CB8AC3E}">
        <p14:creationId xmlns:p14="http://schemas.microsoft.com/office/powerpoint/2010/main" val="14506068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8DD4E7-C545-4192-9167-E052A824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RECOMMANDATION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941D3-B002-4C5A-8B6D-0F752EE3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6B73"/>
                </a:solidFill>
              </a:defRPr>
            </a:pPr>
            <a:r>
              <a:rPr sz="900" b="1">
                <a:solidFill>
                  <a:srgbClr val="5F6B73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25A51-A566-43A7-9E9D-8584FA62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32A3A"/>
                </a:solidFill>
              </a:defRPr>
            </a:pPr>
            <a:r>
              <a:rPr sz="2250" b="1">
                <a:solidFill>
                  <a:srgbClr val="132A3A"/>
                </a:solidFill>
              </a:rPr>
              <a:t>La prochaine étape est un pilote multi-villes mesuré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E4CA4-48D7-4FBA-A7C8-62D7B2A7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Le POC est prêt à être confronté à des usages métier plus représentatifs.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4AD74-9B2B-4E73-B05A-95011294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4290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480D8-5FDE-4C76-A59E-88130175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1. Élargir les preuves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4AC81-2F12-4573-B92A-0A185C19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9718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Plus de villes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Jeu annoté métier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Cas négatifs et ambigus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CA29F-751D-46C9-82B3-42DDDC98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333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0167A-976F-468B-9F73-5414653A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860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2. Ajouter les garde-fous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1F1B2-751E-4473-A71F-1B4413CC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05100"/>
            <a:ext cx="28765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Filtres de métadonnées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Seuil de similarité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Réponses plus structurées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7D4B8-3662-4C99-AF1D-23A25315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524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5FB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D7A61-BCA3-4780-A3F8-2967C750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A3A"/>
                </a:solidFill>
              </a:defRPr>
            </a:pPr>
            <a:r>
              <a:rPr sz="1350" b="1">
                <a:solidFill>
                  <a:srgbClr val="132A3A"/>
                </a:solidFill>
              </a:rPr>
              <a:t>3. Industrialiser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0B4B3-A155-48BF-BD7E-7C89E087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05100"/>
            <a:ext cx="30670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Collecte planifiée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Supervision et quotas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Authentification</a:t>
            </a:r>
          </a:p>
          <a:p xmlns:a="http://schemas.openxmlformats.org/drawingml/2006/main">
            <a:pPr>
              <a:buNone/>
              <a:defRPr sz="1350" b="0">
                <a:solidFill>
                  <a:srgbClr val="132A3A"/>
                </a:solidFill>
              </a:defRPr>
            </a:pPr>
            <a:r>
              <a:rPr sz="1350" b="0">
                <a:solidFill>
                  <a:srgbClr val="132A3A"/>
                </a:solidFill>
              </a:rPr>
              <a:t/>
            </a:r>
          </a:p>
          <a:p xmlns:a="http://schemas.openxmlformats.org/drawingml/2006/main">
            <a:pPr>
              <a:buNone/>
              <a:defRPr sz="1425" b="0">
                <a:solidFill>
                  <a:srgbClr val="132A3A"/>
                </a:solidFill>
              </a:defRPr>
            </a:pPr>
            <a:r>
              <a:rPr sz="1425" b="0">
                <a:solidFill>
                  <a:srgbClr val="132A3A"/>
                </a:solidFill>
              </a:rPr>
              <a:t>Tests de charge</a:t>
            </a:r>
          </a:p>
        </p:txBody>
      </p:sp>
    </p:spTree>
    <p:extLst>
      <p:ext uri="{BB962C8B-B14F-4D97-AF65-F5344CB8AC3E}">
        <p14:creationId xmlns:p14="http://schemas.microsoft.com/office/powerpoint/2010/main" val="19584736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2026-07-30T09:36:24.8300000Z</dcterms:created>
  <dcterms:modified xsi:type="dcterms:W3CDTF">2026-07-30T09:36:24.8300000Z</dcterms:modified>
</coreProperties>
</file>