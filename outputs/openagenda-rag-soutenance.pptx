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8cecb220d4459f" /><Relationship Type="http://schemas.openxmlformats.org/officeDocument/2006/relationships/extended-properties" Target="/docProps/app.xml" Id="R191d5309d0d341e2" /><Relationship Type="http://schemas.openxmlformats.org/officeDocument/2006/relationships/officeDocument" Target="/ppt/presentation.xml" Id="R00f7e4ea05f849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3b6907214645d4"/>
  </p:sldMasterIdLst>
  <p:notesMasterIdLst>
    <p:notesMasterId xmlns:r="http://schemas.openxmlformats.org/officeDocument/2006/relationships" r:id="R136f33c4591740ee"/>
  </p:notesMasterIdLst>
  <p:sldIdLst>
    <p:sldId xmlns:r="http://schemas.openxmlformats.org/officeDocument/2006/relationships" id="256" r:id="Ra7f3c216dfb840da"/>
    <p:sldId xmlns:r="http://schemas.openxmlformats.org/officeDocument/2006/relationships" id="257" r:id="R732b5935a44f4c01"/>
    <p:sldId xmlns:r="http://schemas.openxmlformats.org/officeDocument/2006/relationships" id="258" r:id="R0a1911443d914d9e"/>
    <p:sldId xmlns:r="http://schemas.openxmlformats.org/officeDocument/2006/relationships" id="259" r:id="Raef1e9973e104108"/>
    <p:sldId xmlns:r="http://schemas.openxmlformats.org/officeDocument/2006/relationships" id="260" r:id="R1d0459a0ccee4535"/>
    <p:sldId xmlns:r="http://schemas.openxmlformats.org/officeDocument/2006/relationships" id="261" r:id="R2466ced80d4b441b"/>
    <p:sldId xmlns:r="http://schemas.openxmlformats.org/officeDocument/2006/relationships" id="262" r:id="Rd17ce74b47e74c79"/>
    <p:sldId xmlns:r="http://schemas.openxmlformats.org/officeDocument/2006/relationships" id="263" r:id="R9e92b42d126a4cb7"/>
    <p:sldId xmlns:r="http://schemas.openxmlformats.org/officeDocument/2006/relationships" id="264" r:id="R9e3afb61f5a54134"/>
    <p:sldId xmlns:r="http://schemas.openxmlformats.org/officeDocument/2006/relationships" id="265" r:id="R3ec1c7c04bc7438c"/>
    <p:sldId xmlns:r="http://schemas.openxmlformats.org/officeDocument/2006/relationships" id="266" r:id="Ra3c0f12cf5734073"/>
    <p:sldId xmlns:r="http://schemas.openxmlformats.org/officeDocument/2006/relationships" id="267" r:id="Rc1952b0af17f48b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804dad417249ee" /><Relationship Type="http://schemas.openxmlformats.org/officeDocument/2006/relationships/slideMaster" Target="/ppt/slideMasters/slideMaster1.xml" Id="R023b6907214645d4" /><Relationship Type="http://schemas.openxmlformats.org/officeDocument/2006/relationships/notesMaster" Target="/ppt/notesMasters/notesMaster1.xml" Id="R136f33c4591740ee" /><Relationship Type="http://schemas.openxmlformats.org/officeDocument/2006/relationships/presProps" Target="/ppt/presProps.xml" Id="R76a90cbe62574c59" /><Relationship Type="http://schemas.openxmlformats.org/officeDocument/2006/relationships/tableStyles" Target="/ppt/tableStyles.xml" Id="R7d5a5e08f2a24cec" /><Relationship Type="http://schemas.openxmlformats.org/officeDocument/2006/relationships/slide" Target="/ppt/slides/slide1.xml" Id="Ra7f3c216dfb840da" /><Relationship Type="http://schemas.openxmlformats.org/officeDocument/2006/relationships/slide" Target="/ppt/slides/slide2.xml" Id="R732b5935a44f4c01" /><Relationship Type="http://schemas.openxmlformats.org/officeDocument/2006/relationships/slide" Target="/ppt/slides/slide3.xml" Id="R0a1911443d914d9e" /><Relationship Type="http://schemas.openxmlformats.org/officeDocument/2006/relationships/slide" Target="/ppt/slides/slide4.xml" Id="Raef1e9973e104108" /><Relationship Type="http://schemas.openxmlformats.org/officeDocument/2006/relationships/slide" Target="/ppt/slides/slide5.xml" Id="R1d0459a0ccee4535" /><Relationship Type="http://schemas.openxmlformats.org/officeDocument/2006/relationships/slide" Target="/ppt/slides/slide6.xml" Id="R2466ced80d4b441b" /><Relationship Type="http://schemas.openxmlformats.org/officeDocument/2006/relationships/slide" Target="/ppt/slides/slide7.xml" Id="Rd17ce74b47e74c79" /><Relationship Type="http://schemas.openxmlformats.org/officeDocument/2006/relationships/slide" Target="/ppt/slides/slide8.xml" Id="R9e92b42d126a4cb7" /><Relationship Type="http://schemas.openxmlformats.org/officeDocument/2006/relationships/slide" Target="/ppt/slides/slide9.xml" Id="R9e3afb61f5a54134" /><Relationship Type="http://schemas.openxmlformats.org/officeDocument/2006/relationships/slide" Target="/ppt/slides/slide10.xml" Id="R3ec1c7c04bc7438c" /><Relationship Type="http://schemas.openxmlformats.org/officeDocument/2006/relationships/slide" Target="/ppt/slides/slide11.xml" Id="Ra3c0f12cf5734073" /><Relationship Type="http://schemas.openxmlformats.org/officeDocument/2006/relationships/slide" Target="/ppt/slides/slide12.xml" Id="Rc1952b0af17f48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52f5dfaa7d4e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b63b5712c141fa" /><Relationship Type="http://schemas.openxmlformats.org/officeDocument/2006/relationships/notesMaster" Target="/ppt/notesMasters/notesMaster1.xml" Id="R44c93a5e113f45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3d12bbc6ae47df" /><Relationship Type="http://schemas.openxmlformats.org/officeDocument/2006/relationships/notesMaster" Target="/ppt/notesMasters/notesMaster1.xml" Id="Rea7fc27c4b7e4a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fec15e63bc4cb1" /><Relationship Type="http://schemas.openxmlformats.org/officeDocument/2006/relationships/notesMaster" Target="/ppt/notesMasters/notesMaster1.xml" Id="Ra26df246425c45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f98a420f9e4faa" /><Relationship Type="http://schemas.openxmlformats.org/officeDocument/2006/relationships/notesMaster" Target="/ppt/notesMasters/notesMaster1.xml" Id="Rcf02bd3a73da4a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b9134db7b34914" /><Relationship Type="http://schemas.openxmlformats.org/officeDocument/2006/relationships/notesMaster" Target="/ppt/notesMasters/notesMaster1.xml" Id="Rbf901d9d045340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917ce0cd214c52" /><Relationship Type="http://schemas.openxmlformats.org/officeDocument/2006/relationships/notesMaster" Target="/ppt/notesMasters/notesMaster1.xml" Id="R3cc88cd3c23b49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84d2d1e6f84cea" /><Relationship Type="http://schemas.openxmlformats.org/officeDocument/2006/relationships/notesMaster" Target="/ppt/notesMasters/notesMaster1.xml" Id="R52fc79109a4148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11af8cc7874a50" /><Relationship Type="http://schemas.openxmlformats.org/officeDocument/2006/relationships/notesMaster" Target="/ppt/notesMasters/notesMaster1.xml" Id="R4885bc00166b4f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b5c2d1fdb04189" /><Relationship Type="http://schemas.openxmlformats.org/officeDocument/2006/relationships/notesMaster" Target="/ppt/notesMasters/notesMaster1.xml" Id="R56d6236671d640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5b0d0309ff4550" /><Relationship Type="http://schemas.openxmlformats.org/officeDocument/2006/relationships/notesMaster" Target="/ppt/notesMasters/notesMaster1.xml" Id="Ra4665ab6b37e40c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b8f4351862447a" /><Relationship Type="http://schemas.openxmlformats.org/officeDocument/2006/relationships/notesMaster" Target="/ppt/notesMasters/notesMaster1.xml" Id="R9e959f501ff5472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abf0d46b2347bb" /><Relationship Type="http://schemas.openxmlformats.org/officeDocument/2006/relationships/notesMaster" Target="/ppt/notesMasters/notesMaster1.xml" Id="Rb0dcdb7594894b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50 secondes.</a:t>
            </a:r>
          </a:p>
          <a:p xmlns:a="http://schemas.openxmlformats.org/drawingml/2006/main">
            <a:r>
              <a:t>Bonjour Jérémy. Mon objectif est de démontrer qu’un assistant peut recommander des événements réels sans en inventer.</a:t>
            </a:r>
          </a:p>
          <a:p xmlns:a="http://schemas.openxmlformats.org/drawingml/2006/main">
            <a:r>
              <a:t>Le POC part de 7 586 événements, les transforme en 14 903 passages FAISS, puis les expose dans une API Docker testée 59 fois.</a:t>
            </a:r>
          </a:p>
          <a:p xmlns:a="http://schemas.openxmlformats.org/drawingml/2006/main">
            <a:r>
              <a:t>La décision attendue est un pilote mesuré, pas une production immédiate.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60 secondes.</a:t>
            </a:r>
          </a:p>
          <a:p xmlns:a="http://schemas.openxmlformats.org/drawingml/2006/main">
            <a:r>
              <a:t>Une recherche par mots-clés est rigide, tandis qu’un LLM seul peut inventer.</a:t>
            </a:r>
          </a:p>
          <a:p xmlns:a="http://schemas.openxmlformats.org/drawingml/2006/main">
            <a:r>
              <a:t>Le RAG recherche d’abord dans les événements réels puis Mistral reformule uniquement ce que les sources fournissent.</a:t>
            </a:r>
          </a:p>
          <a:p xmlns:a="http://schemas.openxmlformats.org/drawingml/2006/main">
            <a:r>
              <a:t>Les liens retournés rendent la recommandation vérifiable.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70 secondes.</a:t>
            </a:r>
          </a:p>
          <a:p xmlns:a="http://schemas.openxmlformats.org/drawingml/2006/main">
            <a:r>
              <a:t>OpenAgenda est riche mais hétérogène : HTML, valeurs absentes, dates variées et doublons.</a:t>
            </a:r>
          </a:p>
          <a:p xmlns:a="http://schemas.openxmlformats.org/drawingml/2006/main">
            <a:r>
              <a:t>Je filtre Paris et les événements récents, nettoie les textes, normalise les champs et déduplique par event_uid.</a:t>
            </a:r>
          </a:p>
          <a:p xmlns:a="http://schemas.openxmlformats.org/drawingml/2006/main">
            <a:r>
              <a:t>Le parquet obtenu est un snapshot reproductible, et la conservation des métadonnées garantit la traçabilité.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70 secondes.</a:t>
            </a:r>
          </a:p>
          <a:p xmlns:a="http://schemas.openxmlformats.org/drawingml/2006/main">
            <a:r>
              <a:t>CHIMERE a une description de 10 273 caractères : elle est trop longue pour une recherche précise.</a:t>
            </a:r>
          </a:p>
          <a:p xmlns:a="http://schemas.openxmlformats.org/drawingml/2006/main">
            <a:r>
              <a:t>Je la découpe en chunks de 1 000 caractères avec 200 de chevauchement, puis mistral-embed produit des vecteurs de 1 024 dimensions.</a:t>
            </a:r>
          </a:p>
          <a:p xmlns:a="http://schemas.openxmlformats.org/drawingml/2006/main">
            <a:r>
              <a:t>FAISS stocke 14 903 passages avec date, lieu et URL pour retrouver le bon contexte.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65 secondes.</a:t>
            </a:r>
          </a:p>
          <a:p xmlns:a="http://schemas.openxmlformats.org/drawingml/2006/main">
            <a:r>
              <a:t>La question est vectorisée et FAISS retourne les quatre passages les plus proches.</a:t>
            </a:r>
          </a:p>
          <a:p xmlns:a="http://schemas.openxmlformats.org/drawingml/2006/main">
            <a:r>
              <a:t>Le prompt contient la question, le contexte et une règle centrale : répondre uniquement avec les sources, sans invention.</a:t>
            </a:r>
          </a:p>
          <a:p xmlns:a="http://schemas.openxmlformats.org/drawingml/2006/main">
            <a:r>
              <a:t>mistral-embed sert à la recherche ; mistral-small-latest sert à la génération. La température à 0,1 stabilise le POC.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55 secondes.</a:t>
            </a:r>
          </a:p>
          <a:p xmlns:a="http://schemas.openxmlformats.org/drawingml/2006/main">
            <a:r>
              <a:t>La collecte, le nettoyage et l’indexation sont réalisés hors ligne et peuvent être reconstruits par scripts.</a:t>
            </a:r>
          </a:p>
          <a:p xmlns:a="http://schemas.openxmlformats.org/drawingml/2006/main">
            <a:r>
              <a:t>En ligne, l’API charge l’index persistant, retrouve le contexte, construit le prompt et génère une réponse.</a:t>
            </a:r>
          </a:p>
          <a:p xmlns:a="http://schemas.openxmlformats.org/drawingml/2006/main">
            <a:r>
              <a:t>Cette séparation rend chaque brique testable et évite de reconstruire FAISS à chaque question.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50 secondes.</a:t>
            </a:r>
          </a:p>
          <a:p xmlns:a="http://schemas.openxmlformats.org/drawingml/2006/main">
            <a:r>
              <a:t>FastAPI fournit le contrat de service : health vérifie que l’index est prêt, ask reçoit une question et retourne la réponse avec ses sources.</a:t>
            </a:r>
          </a:p>
          <a:p xmlns:a="http://schemas.openxmlformats.org/drawingml/2006/main">
            <a:r>
              <a:t>Docker Compose rend ce runtime local reproductible. La documentation Swagger visible ici est une vraie capture de l’API locale.</a:t>
            </a:r>
          </a:p>
          <a:p xmlns:a="http://schemas.openxmlformats.org/drawingml/2006/main">
            <a:r>
              <a:t>Je passe maintenant à la démonstration de deux comportements métier.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25 secondes sur la slide, puis 2 minutes au terminal.</a:t>
            </a:r>
          </a:p>
          <a:p xmlns:a="http://schemas.openxmlformats.org/drawingml/2006/main">
            <a:r>
              <a:t>Je vérifie d’abord health, puis Concert Fishers à Paris : réponse, date, lieu, URL et quatre sources.</a:t>
            </a:r>
          </a:p>
          <a:p xmlns:a="http://schemas.openxmlformats.org/drawingml/2006/main">
            <a:r>
              <a:t>Ensuite je demande des expositions à Lyon. Comme le corpus couvre Paris, le comportement attendu est prudent : aucune invention.</a:t>
            </a:r>
          </a:p>
          <a:p xmlns:a="http://schemas.openxmlformats.org/drawingml/2006/main">
            <a:r>
              <a:t>Commande : bash scripts/demo_api_5min.sh.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75 secondes.</a:t>
            </a:r>
          </a:p>
          <a:p xmlns:a="http://schemas.openxmlformats.org/drawingml/2006/main">
            <a:r>
              <a:t>Les 59 tests détectent les régressions techniques : ingestion, normalisation, index, RAG, API et évaluation.</a:t>
            </a:r>
          </a:p>
          <a:p xmlns:a="http://schemas.openxmlformats.org/drawingml/2006/main">
            <a:r>
              <a:t>Ils ne remplacent pas l’évaluation de qualité : ils vérifient que le contrat reste intact après un changement.</a:t>
            </a:r>
          </a:p>
          <a:p xmlns:a="http://schemas.openxmlformats.org/drawingml/2006/main">
            <a:r>
              <a:t>La CI/CD est une recommandation explicite : elle n’est pas livrée dans ce POC.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80 secondes.</a:t>
            </a:r>
          </a:p>
          <a:p xmlns:a="http://schemas.openxmlformats.org/drawingml/2006/main">
            <a:r>
              <a:t>RAGAS compare question, contextes, réponse générée et réponse de référence. Il distingue retrieval et génération.</a:t>
            </a:r>
          </a:p>
          <a:p xmlns:a="http://schemas.openxmlformats.org/drawingml/2006/main">
            <a:r>
              <a:t>La fidélité, la pertinence et la précision du contexte sont prometteuses sur trois cas.</a:t>
            </a:r>
          </a:p>
          <a:p xmlns:a="http://schemas.openxmlformats.org/drawingml/2006/main">
            <a:r>
              <a:t>La correction à 0,683 est la priorité : je dois structurer la réponse et élargir le benchmark, pas changer de modèle à l’aveugle.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60 secondes.</a:t>
            </a:r>
          </a:p>
          <a:p xmlns:a="http://schemas.openxmlformats.org/drawingml/2006/main">
            <a:r>
              <a:t>Je présente les limites par familles et toujours avec leur action corrective.</a:t>
            </a:r>
          </a:p>
          <a:p xmlns:a="http://schemas.openxmlformats.org/drawingml/2006/main">
            <a:r>
              <a:t>Le risque métier principal est une réponse plausible mais incomplète : les sources, la prudence du prompt et un futur seuil métier réduisent ce risque.</a:t>
            </a:r>
          </a:p>
          <a:p xmlns:a="http://schemas.openxmlformats.org/drawingml/2006/main">
            <a:r>
              <a:t>Docker prouve la reproductibilité locale, pas l’industrialisation complète.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cible : 55 secondes, puis 40 secondes pour rapport et dépôt.</a:t>
            </a:r>
          </a:p>
          <a:p xmlns:a="http://schemas.openxmlformats.org/drawingml/2006/main">
            <a:r>
              <a:t>Le POC couvre les données, l’index FAISS, Mistral, l’API Docker, les tests et la première évaluation RAGAS.</a:t>
            </a:r>
          </a:p>
          <a:p xmlns:a="http://schemas.openxmlformats.org/drawingml/2006/main">
            <a:r>
              <a:t>Je recommande un pilote multi-villes mesuré, avec plus de données et de cas annotés avant toute industrialisation large.</a:t>
            </a:r>
          </a:p>
          <a:p xmlns:a="http://schemas.openxmlformats.org/drawingml/2006/main">
            <a:r>
              <a:t>Merci. Je suis prêt à répondre aux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89eb4cc5d541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c544355262463c" /><Relationship Type="http://schemas.openxmlformats.org/officeDocument/2006/relationships/slideLayout" Target="/ppt/slideLayouts/slideLayout1.xml" Id="R831d2d7645f047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1d2d7645f047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11751da19471b" /><Relationship Type="http://schemas.openxmlformats.org/officeDocument/2006/relationships/notesSlide" Target="/ppt/notesSlides/notesSlide1.xml" Id="Rc2d6d9a6d11348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2e22cdc184737" /><Relationship Type="http://schemas.openxmlformats.org/officeDocument/2006/relationships/notesSlide" Target="/ppt/notesSlides/notesSlide2.xml" Id="R396b9bd852784f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bab9968824bf6" /><Relationship Type="http://schemas.openxmlformats.org/officeDocument/2006/relationships/notesSlide" Target="/ppt/notesSlides/notesSlide3.xml" Id="R86b6d382054741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bc381185544a8" /><Relationship Type="http://schemas.openxmlformats.org/officeDocument/2006/relationships/notesSlide" Target="/ppt/notesSlides/notesSlide4.xml" Id="R2409948b34cb42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f0bed62934726" /><Relationship Type="http://schemas.openxmlformats.org/officeDocument/2006/relationships/image" Target="/ppt/media/image.png" Id="R4b56819ab4284b94" /><Relationship Type="http://schemas.openxmlformats.org/officeDocument/2006/relationships/hyperlink" Target="https://hgbe-gh-openclassrooms-projet5.hf.space/docs" TargetMode="External" Id="R6844438907d94cc3" /><Relationship Type="http://schemas.openxmlformats.org/officeDocument/2006/relationships/hyperlink" Target="https://hgbe-gh-openclassrooms-projet5.hf.space/health" TargetMode="External" Id="R0b78160179b54897" /><Relationship Type="http://schemas.openxmlformats.org/officeDocument/2006/relationships/notesSlide" Target="/ppt/notesSlides/notesSlide5.xml" Id="Rebe65a89563244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849e7302c4d96" /><Relationship Type="http://schemas.openxmlformats.org/officeDocument/2006/relationships/notesSlide" Target="/ppt/notesSlides/notesSlide6.xml" Id="R37d101af52764b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a2d29937946d6" /><Relationship Type="http://schemas.openxmlformats.org/officeDocument/2006/relationships/image" Target="/ppt/media/image.png" Id="R6b569ac3944242bd" /><Relationship Type="http://schemas.openxmlformats.org/officeDocument/2006/relationships/hyperlink" Target="https://hgbe-gh-openclassrooms-projet5.hf.space/docs" TargetMode="External" Id="R7343f8f3aeb44311" /><Relationship Type="http://schemas.openxmlformats.org/officeDocument/2006/relationships/hyperlink" Target="https://hgbe-gh-openclassrooms-projet5.hf.space/health" TargetMode="External" Id="R0cc91732c0cc4dd5" /><Relationship Type="http://schemas.openxmlformats.org/officeDocument/2006/relationships/notesSlide" Target="/ppt/notesSlides/notesSlide7.xml" Id="Rc17b7e65e8a14c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3e5bd7dbb4433" /><Relationship Type="http://schemas.openxmlformats.org/officeDocument/2006/relationships/hyperlink" Target="https://hgbe-gh-openclassrooms-projet5.hf.space/docs" TargetMode="External" Id="Rdc0d2bd3f0bb4434" /><Relationship Type="http://schemas.openxmlformats.org/officeDocument/2006/relationships/hyperlink" Target="https://hgbe-gh-openclassrooms-projet5.hf.space/health" TargetMode="External" Id="R2ef9d6a475dc4c6d" /><Relationship Type="http://schemas.openxmlformats.org/officeDocument/2006/relationships/hyperlink" Target="https://github.com/hgbe-GH/openclassrooms-projet5/actions/runs/30814421390" TargetMode="External" Id="Rf96b4979790041db" /><Relationship Type="http://schemas.openxmlformats.org/officeDocument/2006/relationships/hyperlink" Target="https://github.com/hgbe-GH/openclassrooms-projet5" TargetMode="External" Id="R520f488127a54c0a" /><Relationship Type="http://schemas.openxmlformats.org/officeDocument/2006/relationships/notesSlide" Target="/ppt/notesSlides/notesSlide8.xml" Id="R6644f48965994b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1012659984ef3" /><Relationship Type="http://schemas.openxmlformats.org/officeDocument/2006/relationships/notesSlide" Target="/ppt/notesSlides/notesSlide9.xml" Id="Rfd726a518f9c48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5168d54d243c1" /><Relationship Type="http://schemas.openxmlformats.org/officeDocument/2006/relationships/notesSlide" Target="/ppt/notesSlides/notesSlide10.xml" Id="Rf78b9dbd660142a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fe2b9718c4ca4" /><Relationship Type="http://schemas.openxmlformats.org/officeDocument/2006/relationships/notesSlide" Target="/ppt/notesSlides/notesSlide11.xml" Id="R26e314a824c741d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28162fdee4c28" /><Relationship Type="http://schemas.openxmlformats.org/officeDocument/2006/relationships/notesSlide" Target="/ppt/notesSlides/notesSlide12.xml" Id="R9691e15ea0de4f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142339-7B07-4DCF-B587-ED5D929F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B1A11-27B1-4544-82FF-4A9E5253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79552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7DBD28-CDDD-4793-893D-6F7F4539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666750"/>
            <a:ext cx="44748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CF5E5-FBBF-45A8-9EB5-3124092C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8813" y="666750"/>
            <a:ext cx="4143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505292-04E4-4A8B-862A-FB88FFF3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MISSION PULS-EVENTS  •  PROJET 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5EB4D-9038-48CE-B32E-C32FDAE7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64198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Un assistant RAG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pour recommander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8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sans inventer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89524-CAED-444B-B497-42C42D56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647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OpenAgenda · FAISS · Mistral · FastAPI · Docker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A1E5E-573F-4C03-BD1F-77DB4991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1924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POC DÉMONTRABLE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71D8-5509-42C2-B3FA-9BC7846A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816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Hugo Gaube  •  Data Scientist freelance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FF538-5767-49B3-9978-19A899F1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435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Soutenance — reprise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079AB3-EB64-4F47-ADC0-4F3BF4C3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104900"/>
            <a:ext cx="3295650" cy="4514850"/>
          </a:xfrm>
          <a:prstGeom xmlns:a="http://schemas.openxmlformats.org/drawingml/2006/main" prst="roundRect">
            <a:avLst>
              <a:gd name="adj" fmla="val 7514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E07DE1-C884-44D2-A5D9-964D34E0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590675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DONNÉES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4F7F3-FE23-4675-B0AB-2307DE4E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0E6CF-C58E-4184-893C-5D5367C7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695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7 586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8ADAB1-1D80-4DDC-99DA-CD20270E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086100"/>
            <a:ext cx="0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8A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C1E3-F398-4F6A-AF03-E17B3B28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33800"/>
            <a:ext cx="220980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F67059-CCBF-4080-93CC-E64210D6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14775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PASSAGES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2E0378-697F-4BF2-A759-F2F1851A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100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14 903 · FAISS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C0CAD-F90C-4D96-BF80-183F7DB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629150"/>
            <a:ext cx="0" cy="352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FB27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029E40-5CA6-4F9B-9E95-EDAA5B4C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0673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API + 59 TESTS</a:t>
            </a:r>
          </a:p>
        </p:txBody>
      </p:sp>
    </p:spTree>
    <p:extLst>
      <p:ext uri="{BB962C8B-B14F-4D97-AF65-F5344CB8AC3E}">
        <p14:creationId xmlns:p14="http://schemas.microsoft.com/office/powerpoint/2010/main" val="18987474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4FE70E-E595-4F3C-A9D2-F3D83691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C092F-2E19-452B-9ED9-19C017E1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DC2FB-2FF7-4211-9899-2B3D19B6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3F7C-252D-4088-ACD4-68B2C82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LE BESOIN PULS-EVENTS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01E50-EC1B-45B1-A366-FC8F80CF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Une question devient une recommandation sourcée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FE024-F5A8-42E8-8E79-85564467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66644-1B1D-4886-9C36-16556E6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B4292-1DA1-4296-BACC-CF2C4E26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49D5A-7192-44A9-9EBB-7EA22C5C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01CD5-ECB9-4CF4-AC85-4CC03C08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« Que faire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ce week-end ? 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12A90-2ED5-490A-A5A5-71FDBEA8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3B9BD-43DA-4C2E-B425-036E4C47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9BF44-03A7-4685-8734-B0CA011A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B898E-91E6-451A-9962-7D4576D5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1DF00-D210-48F9-A024-AD5111D6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Recherche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48A8E-5717-4AED-8A2C-A5ACA5E6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FAISS trouve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les passages utiles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F1FCB-6094-47D0-A024-E493C766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40A7E-AB55-4652-903A-9395CE07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616C2-0181-4F5D-A322-BFEB96CE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A9C6E-48DF-4DBD-880C-DCA43CD3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624F4-FE49-4F0D-9158-47E72EEC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Contexte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7CF10-34BA-4691-B76D-DEE6678F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titre · date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lieu · URL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B9C5A4-E5D9-4F0E-9641-C4886A6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DDB49-9397-49F6-8DD8-A419D0F1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B05314-8623-4E9A-AB74-B6BF41FA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BA288F-25F6-4B25-9571-98D241A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E36441-28D8-46F3-99BF-57612A58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Mistral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BBB777-8460-44C6-A9B7-699DF9E9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répond à partir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des sources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BC5E62-83EF-4B18-B21C-B65D0DD5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DA76AC-3BCF-4AD3-8C5A-93CDFEB1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BB2728-D41D-4F7F-867C-D92E0DD4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FA535F-D5B2-4B8E-8774-C3A4BBA9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AF4029-8314-4750-8B99-B54501AB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Vérifier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77E3E9-E945-4263-8A82-9B9227B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liens retournés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à l’utilisateur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406123-EED1-45CF-B507-6C167CF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28A6E-7B26-469D-AF63-146253D3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12FC89-9895-4649-83FE-C7F98867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Le RAG unit compréhension du langage et preuves consultables.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ED5D45-3687-4757-87D7-EDF2FD7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D2431D-9C3E-411A-9FEB-480427A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3316DE-19A4-43DA-A8F8-508780E6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4114853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5A711-1D8F-4C6C-A1F7-2489FC36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E4BC1-3D1E-4C2C-AE44-D28351B1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701FF-C2B3-4924-BD43-9DDB3A12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BDD8AD-10D7-42EE-86C4-313B2382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QUALITÉ DES DONNÉES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539D5-4C50-4357-A176-82505B1C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Le nettoyage transforme OpenAgenda en corpus exploitable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D0E9C3-016B-4749-A61A-DC2CDE8E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BC600C-C643-4AFB-B6CF-28A1CB23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4953000" cy="3752850"/>
          </a:xfrm>
          <a:prstGeom xmlns:a="http://schemas.openxmlformats.org/drawingml/2006/main" prst="roundRect">
            <a:avLst>
              <a:gd name="adj" fmla="val 4569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1CFAC-DDFA-4348-B70E-6E03EBDA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432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7A45"/>
                </a:solidFill>
                <a:latin typeface="Noto Sans Mono"/>
                <a:ea typeface="Noto Sans Mono"/>
                <a:cs typeface="Noto Sans Mono"/>
              </a:defRPr>
            </a:pPr>
            <a:r>
              <a:rPr sz="1200" b="1">
                <a:solidFill>
                  <a:srgbClr val="FF7A45"/>
                </a:solidFill>
                <a:latin typeface="Noto Sans Mono"/>
                <a:ea typeface="Noto Sans Mono"/>
                <a:cs typeface="Noto Sans Mono"/>
              </a:rPr>
              <a:t>openagenda/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1F187F-5B89-49BC-ACE4-8719D2A0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43243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raw/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events.json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E8EDF7"/>
                </a:solidFill>
                <a:latin typeface="Noto Sans Mono"/>
                <a:ea typeface="Noto Sans Mono"/>
                <a:cs typeface="Noto Sans Mono"/>
              </a:defRPr>
            </a:pPr>
            <a:r>
              <a:rPr sz="1350" b="0">
                <a:solidFill>
                  <a:srgbClr val="E8EDF7"/>
                </a:solidFill>
                <a:latin typeface="Noto Sans Mono"/>
                <a:ea typeface="Noto Sans Mono"/>
                <a:cs typeface="Noto Sans Mono"/>
              </a:rP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clean/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html supprimé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dates normalisées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doublons retirés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E8EDF7"/>
                </a:solidFill>
                <a:latin typeface="Noto Sans Mono"/>
                <a:ea typeface="Noto Sans Mono"/>
                <a:cs typeface="Noto Sans Mono"/>
              </a:defRPr>
            </a:pPr>
            <a:r>
              <a:rPr sz="1350" b="0">
                <a:solidFill>
                  <a:srgbClr val="E8EDF7"/>
                </a:solidFill>
                <a:latin typeface="Noto Sans Mono"/>
                <a:ea typeface="Noto Sans Mono"/>
                <a:cs typeface="Noto Sans Mono"/>
              </a:rP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processed/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1125" b="0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  events.parquet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D63A5-A81F-4AC9-997D-4C39B1F1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24003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1DC4A-53AD-4617-BC07-F7316EE4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BEED3-5789-4D3F-9197-50C2F4C5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Périmètre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4DE5E-AC51-4B9C-8511-054BA988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Paris · &lt; 1 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E4CE9E-DD0F-4193-AD0D-7482D80F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38350"/>
            <a:ext cx="24003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89F349-F94E-4D68-B83F-4DDF63AB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09D8E6-1812-42CE-8CD9-196005E2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Texte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EBD06-1975-4225-A481-178CFA9A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HTML + espaces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47C5D3-25D1-4EB6-A579-34C45CEB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71850"/>
            <a:ext cx="24003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F3CA9E-A494-48A4-B0B7-76F58CE6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718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FC5AF-9507-49D4-BA00-F903CC38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Identité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381772-4BF6-46DD-A557-DCA259AC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event_uid unique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271376-2F17-4BF7-9104-669E17FC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71850"/>
            <a:ext cx="24003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1A8F2-FDF7-4EFF-B6D4-CA6D5852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718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4623A4-724B-43BA-9468-87B16B55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242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Résultat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BE8788-820D-421D-A39F-506E49FD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005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7 586 fiches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9BCBCC-840C-4A76-830A-DC9F00DC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00600"/>
            <a:ext cx="50673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9525">
            <a:solidFill>
              <a:srgbClr val="EE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050E38-494F-4D30-B8D5-EFAE837F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PRINCIPE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316B4C-A5D2-476C-B0FD-571CE415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38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Je conserve titre, description, date, lieu et URL : chaque réponse peut revenir à sa source.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B3EACA-2C31-4D5C-A908-31AC4938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203D4-0749-4688-9CA1-CF90AE66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5D176C-16B3-49F5-9E5D-2A286FB9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5051884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4FE70E-E595-4F3C-A9D2-F3D83691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C092F-2E19-452B-9ED9-19C017E1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DC2FB-2FF7-4211-9899-2B3D19B6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3F7C-252D-4088-ACD4-68B2C82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ZOOM CONCRET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01E50-EC1B-45B1-A366-FC8F80CF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CHIMERE devient 14 903 passages recherchables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FE024-F5A8-42E8-8E79-85564467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66644-1B1D-4886-9C36-16556E6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B4292-1DA1-4296-BACC-CF2C4E26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49D5A-7192-44A9-9EBB-7EA22C5C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CHIMERE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01CD5-ECB9-4CF4-AC85-4CC03C08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10 273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caractères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12A90-2ED5-490A-A5A5-71FDBEA8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3B9BD-43DA-4C2E-B425-036E4C47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9BF44-03A7-4685-8734-B0CA011A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B898E-91E6-451A-9962-7D4576D5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1DF00-D210-48F9-A024-AD5111D6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Découper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48A8E-5717-4AED-8A2C-A5ACA5E6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chunks de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1 000 caractères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F1FCB-6094-47D0-A024-E493C766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40A7E-AB55-4652-903A-9395CE07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616C2-0181-4F5D-A322-BFEB96CE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A9C6E-48DF-4DBD-880C-DCA43CD3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624F4-FE49-4F0D-9158-47E72EEC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Conserver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7CF10-34BA-4691-B76D-DEE6678F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200 caractères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de chevauchement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B9C5A4-E5D9-4F0E-9641-C4886A6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DDB49-9397-49F6-8DD8-A419D0F1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B05314-8623-4E9A-AB74-B6BF41FA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BA288F-25F6-4B25-9571-98D241A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E36441-28D8-46F3-99BF-57612A58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Vectoriser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BBB777-8460-44C6-A9B7-699DF9E9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mistral-embed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1 024 dimensions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BC5E62-83EF-4B18-B21C-B65D0DD5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DA76AC-3BCF-4AD3-8C5A-93CDFEB1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BB2728-D41D-4F7F-867C-D92E0DD4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FA535F-D5B2-4B8E-8774-C3A4BBA9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AF4029-8314-4750-8B99-B54501AB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Retrouver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77E3E9-E945-4263-8A82-9B9227B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FAISS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+ métadonnées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406123-EED1-45CF-B507-6C167CF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28A6E-7B26-469D-AF63-146253D3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12FC89-9895-4649-83FE-C7F98867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Le chevauchement protège les informations placées entre deux passages.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ED5D45-3687-4757-87D7-EDF2FD7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D2431D-9C3E-411A-9FEB-480427A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3316DE-19A4-43DA-A8F8-508780E6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4114853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3A931-C19F-45B8-B8EF-8EF019F1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97DA-D80B-46DE-832C-7431631F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7D02D-FF39-4961-994C-C0BF436B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85C0F-8A68-4438-A2DF-EACDBCB7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CONTRÔLE DE LA RÉPONSE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5B4C7-4C0C-4974-A25C-2B1D2611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Le prompt impose une réponse fondée sur les sources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64D0F-B6C9-4F18-8429-EEE903BD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53913-DB2F-4AC9-95EC-1FBD4C4F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40957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DD255-BE19-4AF6-9FF2-88D7546A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095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CONTRAT RAG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4C2E9-2AC2-48AE-A002-E90EEA4B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0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 réponse doit rester en français, utiliser le contexte retrouvé, ne pas inventer et dire « Je ne sais pas » lorsque le contexte manque.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DAC37-E344-4835-84F3-9C7319E3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628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3E3BB-23B4-4E75-A03F-266A9DDA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433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mistral-embed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CCED0-EDCB-4598-B762-B468EE68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628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CONTEXTE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4E4BA5-3AF5-4A19-829C-0E4C2029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6005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top_k = 4 + métadonnées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292CEB-7C11-4902-B6CE-FD629129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628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GÉNÉRATION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090C2-08CA-4976-BBF6-543BE4E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0577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mistral-small-latest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8A9C5-B90F-4EF3-A3DB-BB06EDD9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33575"/>
            <a:ext cx="6572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6819ab4284b94"/>
          <a:stretch xmlns:a="http://schemas.openxmlformats.org/drawingml/2006/main"/>
        </p:blipFill>
        <p:spPr>
          <a:xfrm xmlns:a="http://schemas.openxmlformats.org/drawingml/2006/main">
            <a:off x="5560695" y="2085975"/>
            <a:ext cx="5471160" cy="3419475"/>
          </a:xfrm>
          <a:prstGeom xmlns:a="http://schemas.openxmlformats.org/drawingml/2006/main" prst="round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7CC4DD-C8FD-41C5-B953-B780B8C8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2190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9525">
            <a:solidFill>
              <a:srgbClr val="6C4C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6844438907d94cc3"/>
              </a:rPr>
              <a:t>TEMPÉRATURE 0,1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34DAC-18D3-470A-93E8-36E0A1F4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867400"/>
            <a:ext cx="200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0b78160179b54897"/>
              </a:rPr>
              <a:t>SOURCES DISTINCTES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CE78E-8FE9-4E0A-866F-C725AE49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9340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L’embedding retrouve ; le modèle de chat reformule. Les rôles sont séparés pour pouvoir les évaluer.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4DD707-B146-44A8-BA8C-61218DF7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FB7550-1B4B-421B-900C-8732FF47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B8B756-AC23-4573-84A6-9E316DE7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7846392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4FE70E-E595-4F3C-A9D2-F3D83691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C092F-2E19-452B-9ED9-19C017E1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DC2FB-2FF7-4211-9899-2B3D19B6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3F7C-252D-4088-ACD4-68B2C821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01E50-EC1B-45B1-A366-FC8F80CF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La chaîne RAG sépare préparation et réponse en ligne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FE024-F5A8-42E8-8E79-85564467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66644-1B1D-4886-9C36-16556E6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B4292-1DA1-4296-BACC-CF2C4E26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49D5A-7192-44A9-9EBB-7EA22C5C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Collecter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01CD5-ECB9-4CF4-AC85-4CC03C08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OpenAgenda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12A90-2ED5-490A-A5A5-71FDBEA8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3B9BD-43DA-4C2E-B425-036E4C47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9BF44-03A7-4685-8734-B0CA011A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B898E-91E6-451A-9962-7D4576D5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1DF00-D210-48F9-A024-AD5111D6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Nettoyer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48A8E-5717-4AED-8A2C-A5ACA5E6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normaliser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F1FCB-6094-47D0-A024-E493C766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40A7E-AB55-4652-903A-9395CE07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616C2-0181-4F5D-A322-BFEB96CE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A9C6E-48DF-4DBD-880C-DCA43CD3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624F4-FE49-4F0D-9158-47E72EEC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Indexer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7CF10-34BA-4691-B76D-DEE6678F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chunks + FAISS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B9C5A4-E5D9-4F0E-9641-C4886A6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DDB49-9397-49F6-8DD8-A419D0F1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B05314-8623-4E9A-AB74-B6BF41FA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BA288F-25F6-4B25-9571-98D241A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E36441-28D8-46F3-99BF-57612A58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Rechercher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BBB777-8460-44C6-A9B7-699DF9E9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top_k = 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BC5E62-83EF-4B18-B21C-B65D0DD5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DA76AC-3BCF-4AD3-8C5A-93CDFEB1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BB2728-D41D-4F7F-867C-D92E0DD4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71700"/>
            <a:ext cx="1962150" cy="297180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FA535F-D5B2-4B8E-8774-C3A4BBA9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AF4029-8314-4750-8B99-B54501AB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908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Répondre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77E3E9-E945-4263-8A82-9B9227B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638550"/>
            <a:ext cx="1581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Mistral + sources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406123-EED1-45CF-B507-6C167CF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00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28A6E-7B26-469D-AF63-146253D3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57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12FC89-9895-4649-83FE-C7F98867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Hors ligne : données → index.  En ligne : question → réponse sourcée.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ED5D45-3687-4757-87D7-EDF2FD7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D2431D-9C3E-411A-9FEB-480427A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3316DE-19A4-43DA-A8F8-508780E6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4114853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3A931-C19F-45B8-B8EF-8EF019F1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97DA-D80B-46DE-832C-7431631F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7D02D-FF39-4961-994C-C0BF436B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85C0F-8A68-4438-A2DF-EACDBCB7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API DÉPLOYÉE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5B4C7-4C0C-4974-A25C-2B1D2611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FastAPI expose le RAG comme un service testable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64D0F-B6C9-4F18-8429-EEE903BD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53913-DB2F-4AC9-95EC-1FBD4C4F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40957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DD255-BE19-4AF6-9FF2-88D7546A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095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CONTRAT OPENAPI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4C2E9-2AC2-48AE-A002-E90EEA4B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0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L’API est documentée dans Swagger. La capture à droite vient de l’instance locale réellement lancée.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DAC37-E344-4835-84F3-9C7319E3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3E3BB-23B4-4E75-A03F-266A9DDA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433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/health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CCED0-EDCB-4598-B762-B468EE68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4E4BA5-3AF5-4A19-829C-0E4C2029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6005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/ask + question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292CEB-7C11-4902-B6CE-FD629129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609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7719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ADMIN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090C2-08CA-4976-BBF6-543BE4E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0577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/rebuild protégé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8A9C5-B90F-4EF3-A3DB-BB06EDD9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33575"/>
            <a:ext cx="657225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69ac3944242bd"/>
          <a:srcRect xmlns:a="http://schemas.openxmlformats.org/drawingml/2006/main" l="5000" t="0" r="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60695" y="2085975"/>
            <a:ext cx="5471160" cy="3419475"/>
          </a:xfrm>
          <a:prstGeom xmlns:a="http://schemas.openxmlformats.org/drawingml/2006/main" prst="round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7CC4DD-C8FD-41C5-B953-B780B8C8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2190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9525">
            <a:solidFill>
              <a:srgbClr val="6C4C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7343f8f3aeb44311"/>
              </a:rPr>
              <a:t>DOCKER COMPOSE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34DAC-18D3-470A-93E8-36E0A1F4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867400"/>
            <a:ext cx="200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0cc91732c0cc4dd5"/>
              </a:rPr>
              <a:t>SWAGGER /docs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CE78E-8FE9-4E0A-866F-C725AE49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9340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L’index est chargé au démarrage : l’usage courant ne relance ni l’ingestion ni l’indexation.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4DD707-B146-44A8-BA8C-61218DF7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FB7550-1B4B-421B-900C-8732FF47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B8B756-AC23-4573-84A6-9E316DE7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784639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C8A7CB-C6F1-4A65-B4C2-5704A6BD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67665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5607E-5989-4F75-A88A-BD6A4DEF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256" y="438150"/>
            <a:ext cx="380619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D1F135-B32B-4DFA-8CAE-C7231129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8150"/>
            <a:ext cx="352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2C15CD-4148-4D23-9A64-7F327BAF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DÉMONSTRATION CONTRÔLÉE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18BD5-DD95-46A2-B499-D83F217E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 démo vérifie une valeur et une limite métier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622C5-A087-4D7C-942B-371FDEE4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533650" cy="2343150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3A4A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EFF6D-7ACC-444E-AA1E-16C8A573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93623-E6D7-473B-A8CC-B13D1F76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HEALTH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91188-ED23-42DB-B8DA-860BF6EB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index chargé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service prêt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CC697E-D433-4A44-B109-10A5B8D3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47900"/>
            <a:ext cx="2533650" cy="2343150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3A4A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C88A80-BA23-49CC-A337-0438655A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574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A1D0F-37A0-4B15-862F-0D673A46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28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PARIS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D5011-C6F5-4ADF-9784-6CA6F66F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81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Concert Fishers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+ 4 sources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92ACB4-A017-4131-AA3D-F2661491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2533650" cy="2343150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3A4A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14561-6B70-4685-8444-2B88E7B2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7DA6B-21FE-4564-B4B6-F01B0D72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28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LYON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AD2F24-A262-4594-8F71-9A1A3D85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81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corpus Paris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« Je ne sais pas 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3C952E-73EF-4F5C-8A30-CFE15D59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533650" cy="2343150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3A4A6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AF2E3-0947-43BE-BB7B-7E799781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57450"/>
            <a:ext cx="514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1B0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6F70BC-CB57-483E-B045-FBD0DB92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28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LATENCE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08198A-C23E-4EC7-AA89-8238AEF0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81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démo complète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≈ 3 secondes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D13D4-F881-4F90-BDBE-353AF218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200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9525">
            <a:solidFill>
              <a:srgbClr val="6C4C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dc0d2bd3f0bb4434"/>
              </a:rPr>
              <a:t>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B64FE0-7128-4A02-9E72-C59A5BAF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48250"/>
            <a:ext cx="1809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2435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2ef9d6a475dc4c6d"/>
              </a:rPr>
              <a:t>SOURCES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7752A1-F1F3-4A3C-880B-3504E3F1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48250"/>
            <a:ext cx="200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FB274"/>
          </a:solidFill>
          <a:ln xmlns:a="http://schemas.openxmlformats.org/drawingml/2006/main" w="9525">
            <a:solidFill>
              <a:srgbClr val="2FB27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f96b4979790041db"/>
              </a:rPr>
              <a:t>PRUDENCE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3022C1-07CE-4EE1-962F-CC43D854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48250"/>
            <a:ext cx="1809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43558"/>
          </a:solidFill>
          <a:ln xmlns:a="http://schemas.openxmlformats.org/drawingml/2006/main" w="9525">
            <a:solidFill>
              <a:srgbClr val="2435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  <a:hlinkClick xmlns:r="http://schemas.openxmlformats.org/officeDocument/2006/relationships" r:id="R520f488127a54c0a"/>
              </a:rPr>
              <a:t>DOCKER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BF6829-5041-44FA-B8A1-F50715A9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048250"/>
            <a:ext cx="264795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9525">
            <a:solidFill>
              <a:srgbClr val="FFF0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4A2B0-7F5C-401A-9971-C36F7BDA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81600"/>
            <a:ext cx="2228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Retour attendu → tests et évaluation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97BF56-1BE6-4E90-9A0D-4217CE04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Je montre volontairement un cas Paris sourcé et un cas Lyon hors périmètre : pas seulement un exemple favorable.</a:t>
            </a:r>
          </a:p>
        </p:txBody>
      </p:sp>
    </p:spTree>
    <p:extLst>
      <p:ext uri="{BB962C8B-B14F-4D97-AF65-F5344CB8AC3E}">
        <p14:creationId xmlns:p14="http://schemas.microsoft.com/office/powerpoint/2010/main" val="1141506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6FFF29-02D1-44DB-B15E-3C219737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02D06A-63EF-4FBA-9F5E-F8831BDB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4B2B8-434C-493C-9F7A-C18E8969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D973C-965A-4F43-9271-DB3D063C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STRATÉGIE DE QUALITÉ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85DE1-943E-4F5C-BCAF-995AC98E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59 tests protègent les comportements critiques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9C4B8-BF29-4540-BF40-F82765D9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98E8B-388B-4CB0-9A68-EBBF6F2E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6477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ACFA5F-2434-44F1-A050-8A45EFA1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INGESTION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2F78A-6FCC-4950-9E61-C75B6CD0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1457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pagination</a:t>
            </a:r>
          </a:p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nettoyage · filtres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09DC9F-9108-46A8-B56D-359C4115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1EBA1-B08F-43F8-8C6F-ED37B9A3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6477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CF8F3-1951-4FF2-8234-7F746E0B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DE86F8-0B25-489A-A8B9-06F09F4B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813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chunks</a:t>
            </a:r>
          </a:p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FAISS · métadonnées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BD5F0-852F-4F3E-BF57-CFC896DD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33725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48CF74-2375-40FE-AAF5-1E7068E9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6477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5E5DCB-1BD9-4FC5-846A-48B15FBD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B274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BB7B87-87D2-4E19-9F7E-51B91F9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4812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health</a:t>
            </a:r>
          </a:p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ask · erreurs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930378-BC1D-410F-A821-DB41242F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0050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1F6D8A-7023-442D-AF47-C8A8C201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6477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13DD06-CDEB-4086-A627-D5BC325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86325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1B0FF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ÉVALUATION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7A0F9D-C269-493E-85EB-19D88B4A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149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jeu annoté</a:t>
            </a:r>
          </a:p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RAGAS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946D60-B96A-4415-94C0-FCCCCAFE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867275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D235D7-E697-4A6C-A839-FEF16F66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95500"/>
            <a:ext cx="4095750" cy="328612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C2024F-53A5-4504-BD85-D03C7A31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314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8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C7D63-D9B1-47B6-9766-7B443DD6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338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BC1996-836C-4F8F-889C-6014D4D1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91025"/>
            <a:ext cx="2952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8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FEA3A5-C9B7-4F9F-B60D-DFF708C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91025"/>
            <a:ext cx="286702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0357B7-948C-4557-B089-4A21D307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101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34C"/>
                </a:solidFill>
                <a:latin typeface="Noto Sans Mono"/>
                <a:ea typeface="Noto Sans Mono"/>
                <a:cs typeface="Noto Sans Mono"/>
              </a:defRPr>
            </a:pPr>
            <a:r>
              <a:rPr sz="900" b="1">
                <a:solidFill>
                  <a:srgbClr val="17234C"/>
                </a:solidFill>
                <a:latin typeface="Noto Sans Mono"/>
                <a:ea typeface="Noto Sans Mono"/>
                <a:cs typeface="Noto Sans Mono"/>
              </a:rPr>
              <a:t>LIVRÉ · pytest passe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F71EF3-E5E7-4EA9-B059-BD831884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953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9525">
            <a:solidFill>
              <a:srgbClr val="EEEA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05B64F-F80E-44C5-A3DC-37E19A18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578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CI/CD proposée : à chaque push, tests → image Docker → healthcheck → rapport. Elle n’est pas implémentée dans le POC.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8319EA-8E7A-4C5F-9990-9FC2A4C7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0EFEAD-D965-4881-924F-F1C99133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8570D3-6C97-4F39-901A-3D58368E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7640775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234156-CD1C-4E7B-AECE-AF8BD014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F622F-53E9-417B-80CE-33E2A5E4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996663-505C-4C83-98C2-141B439A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07B8A-99CB-4F46-8426-BDF991FE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ÉVALUATION RAGAS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251EB-1FC7-434F-BF54-D7C25C30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RAGAS me dit où améliorer la réponse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38E2A-3319-4DA1-A7B0-B942558D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B6776-A6A7-4B1F-8472-2CDF495E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0383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42654-B2B3-4B68-B874-5EEAE128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877FA-6689-49E6-A80F-DEDF8A27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0,900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F99D37-5156-49E1-8D61-D9BEDC65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fidélité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D0ADF8-87A4-4882-9F0B-8E3F98BA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38350"/>
            <a:ext cx="20383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F9C8CA-5ACD-4674-AEB6-AD95F07F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9493C-55DE-45DE-B1F2-72CE25AC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9075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0,846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2C865D-1A1A-44AF-A053-9F58CB68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670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pertinence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37480-163C-46C5-8F15-2E0B6DB8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38350"/>
            <a:ext cx="20383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42FC29-310A-458E-AD49-78F8A389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383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2C560-A606-46A9-B4C8-D350A53B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1,000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ED187-9E1C-4C26-B72A-E385CAC7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670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contexte utile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66719-B82B-4D91-8F32-CADED2E2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6534150" cy="24574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EA4918-10A3-4B96-9D03-D3725FDB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Entrées RAGAS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56D46A-0AE8-48A8-801F-CE427DC2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582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3 cas factuels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62708A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62708A"/>
                </a:solidFill>
                <a:latin typeface="Noto Sans"/>
                <a:ea typeface="Noto Sans"/>
                <a:cs typeface="Noto Sans"/>
              </a:rPr>
              <a:t/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question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contextes récupérés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réponse générée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référence humaine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9009CC-3C57-4803-BA04-230471E2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095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8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33BF82"/>
                </a:solidFill>
                <a:latin typeface="Montserrat"/>
                <a:ea typeface="Montserrat"/>
                <a:cs typeface="Montserrat"/>
              </a:rPr>
              <a:t>BON CONTEXTE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657C91-BAC9-4CD1-B41A-AA44C440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2038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RÉPONSE ANCRÉE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5244EC-6D87-418A-BB7A-B0A67C36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219700"/>
            <a:ext cx="1619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3 CAS · SIGNAL INITIAL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977CE7-6C53-49BC-BCE2-33870E34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38350"/>
            <a:ext cx="4095750" cy="3752850"/>
          </a:xfrm>
          <a:prstGeom xmlns:a="http://schemas.openxmlformats.org/drawingml/2006/main" prst="roundRect">
            <a:avLst>
              <a:gd name="adj" fmla="val 5584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3207B0-4E43-45DA-9E6E-5E005968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3371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PRIORITÉ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222B25-B695-492A-8F99-B8C82FD3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38450"/>
            <a:ext cx="3371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0,683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3539F5-68E6-4CD5-81AD-11204456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5285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correction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E84A95-8AFC-48B9-A4E1-CB85AAA7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62450"/>
            <a:ext cx="3105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8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9F429C-DB31-414E-A435-59F4C9CE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62450"/>
            <a:ext cx="1943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79C2F7-E679-484A-AAB6-8FBA01B6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6720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43FA05-E596-4A5A-A09C-3C297782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59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975" b="1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→ structurer la réponse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Noto Sans Mono"/>
                <a:ea typeface="Noto Sans Mono"/>
                <a:cs typeface="Noto Sans Mono"/>
              </a:defRPr>
            </a:pPr>
            <a:r>
              <a:rPr sz="975" b="1">
                <a:solidFill>
                  <a:srgbClr val="FFFFFF"/>
                </a:solidFill>
                <a:latin typeface="Noto Sans Mono"/>
                <a:ea typeface="Noto Sans Mono"/>
                <a:cs typeface="Noto Sans Mono"/>
              </a:rPr>
              <a:t>→ élargir le benchmark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3576E6-F7A0-4AB2-ADA0-C18581A7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2800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PAS UNE PERFORMANCE GÉNÉRALE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A30AAD-3B8E-468D-9B16-6B5CE65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149FC8-143A-49A2-983F-0E73B8C4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09C2D2-A68D-4518-9D05-B5964B98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0165921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E2AE98-6F84-44BC-AEF6-94F33614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585216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C6DE8-E8BC-41D7-A298-6E964A66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816" y="438150"/>
            <a:ext cx="329184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BBB18-4384-4816-B575-F0F9952A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"/>
            <a:ext cx="304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C2AE5-A915-4A74-97A2-97DBAFB9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LIMITES ET SUITE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3726A3-6712-4EE2-B19B-BE01B0BB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78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Les limites sont connues, donc pilotables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7CF83-5612-44E7-9CFC-7D48D922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AF4B9-1172-416D-8643-DAA81AC0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352800" cy="3371850"/>
          </a:xfrm>
          <a:prstGeom xmlns:a="http://schemas.openxmlformats.org/drawingml/2006/main" prst="roundRect">
            <a:avLst>
              <a:gd name="adj" fmla="val 51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CDB16-CE54-47D0-82ED-49C4AA0A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DONNÉES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789801-853B-4488-AF31-8934786E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2895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Paris uniquement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snapshot figé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13440-1BD0-40DA-9B19-102209E3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DFFC3-7A6D-47AE-8060-64110A3A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PROCHAINE ÉTAPE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70AA9B-B5A8-429A-A4B4-02E7E27A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collecte planifiée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multi-villes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C1E56-F4A9-4C73-BB9B-38E0C890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3352800" cy="3371850"/>
          </a:xfrm>
          <a:prstGeom xmlns:a="http://schemas.openxmlformats.org/drawingml/2006/main" prst="roundRect">
            <a:avLst>
              <a:gd name="adj" fmla="val 51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887CF-6601-4072-9FFB-62C7D1DF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050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RECHERCHE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7148D3-37CD-4256-AF80-F0F944A0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14650"/>
            <a:ext cx="2895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chunks et top_k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à calibrer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5B9C4E-B2BE-47B2-8EE3-BE230A79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6240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28A3EE-1B65-4600-99F2-9DB0CC74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2910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PROCHAINE ÉTAPE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D225BC-C8F3-4F5D-B2E5-6062133C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910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benchmark large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+ seuil métier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A41203-4F7F-4165-8A5E-62251B7C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352800" cy="3371850"/>
          </a:xfrm>
          <a:prstGeom xmlns:a="http://schemas.openxmlformats.org/drawingml/2006/main" prst="roundRect">
            <a:avLst>
              <a:gd name="adj" fmla="val 51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BD3045-8CD9-4482-83CD-2DDD7358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050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EXPLOITATION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9B3343-7321-4699-9BD9-5AB2EA76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14650"/>
            <a:ext cx="2895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FAISS local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instance unique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27ED06-BDEB-4445-86CF-42B39032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6240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C0ED5F-70E1-4D32-A55B-6EC3A4F3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6847FF"/>
                </a:solidFill>
                <a:latin typeface="Montserrat"/>
                <a:ea typeface="Montserrat"/>
                <a:cs typeface="Montserrat"/>
              </a:rPr>
              <a:t>PROCHAINE ÉTAPE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4040EC-FF7B-4491-B79F-BF2DD2ED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910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logs · sécurité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charge · alertes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ABA9EF-4277-4655-9CEC-1F57A89A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91200"/>
            <a:ext cx="7315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4213D"/>
          </a:solidFill>
          <a:ln xmlns:a="http://schemas.openxmlformats.org/drawingml/2006/main" w="9525">
            <a:solidFill>
              <a:srgbClr val="14213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1BCD00-E69F-4BF0-BC09-F66F5FE8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905500"/>
            <a:ext cx="689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Le POC prouve la faisabilité. Ces trois chantiers conditionnent un déploiement élargi.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87A1B1-CF9B-4774-8B4E-8F163142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5C1770-29F0-4AE5-99A6-B89B6E03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PROJET 7  •  PULS-EVENTS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63508A-FAE1-42AC-A5C0-6E030DAB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HUGO GAUBE</a:t>
            </a:r>
          </a:p>
        </p:txBody>
      </p:sp>
    </p:spTree>
    <p:extLst>
      <p:ext uri="{BB962C8B-B14F-4D97-AF65-F5344CB8AC3E}">
        <p14:creationId xmlns:p14="http://schemas.microsoft.com/office/powerpoint/2010/main" val="15605947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EDC87F-1928-4F6A-B5B5-BE8A6903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04672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4C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8F9A6-071A-41A6-999D-9FFD9A23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72" y="457200"/>
            <a:ext cx="45262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8D588-EA10-4383-9934-656A4667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7200"/>
            <a:ext cx="419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77BBC-917C-4CF2-AD7D-4B130B39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CONCLUSION POUR JÉRÉMY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B0AD8-9AF5-4FCF-86FB-0BED45F6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685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Le POC est démontrable.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 suite est mesurée.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9CE0D-3F1D-42E3-A7CE-1EE554C8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D726C-406D-4511-BEF5-194C16CA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8FDA2-9E12-4332-86B3-B26FE5E9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813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Données réelles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5CB68-B297-45D2-80AD-A9EB8FD8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1C806A-889E-42E6-83BE-4D6C474A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8135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93168-16EF-4D04-B261-74C60403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RAG +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74869-E621-42D7-B2E2-2E21226D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39F40C-0632-4B92-8C00-3685254D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8135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66186-AEB9-4084-ABE6-0293084C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813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59 tests + RAGAS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D8D1C-51E0-4BFC-B394-BCF8391E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AD70D-F844-4759-8861-26EE2F7A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6609FE-59EE-4FA4-BEC8-1F6B43FE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862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Docker + démo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A7518F-66B7-4678-AFD3-61F61AD9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B2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B797DA-EECB-4634-9E64-9B87B7ED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86200"/>
            <a:ext cx="323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33BF82"/>
                </a:solidFill>
                <a:latin typeface="Noto Sans"/>
                <a:ea typeface="Noto Sans"/>
                <a:cs typeface="Noto Sans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E6DEC2-ECC2-49DC-920A-31D28089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8862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Sources vérifiables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62A0E3-891C-4380-AFCA-4E33B8E1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219200"/>
            <a:ext cx="3600450" cy="39433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607552-565D-441F-A762-0C0E2B5F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0020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FF7A45"/>
                </a:solidFill>
                <a:latin typeface="Montserrat"/>
                <a:ea typeface="Montserrat"/>
                <a:cs typeface="Montserrat"/>
              </a:rPr>
              <a:t>DÉCISION PROPOSÉE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26B615-A681-4FD7-9724-27379ABB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2876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9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Valider un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950" b="1">
                <a:solidFill>
                  <a:srgbClr val="17234C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17234C"/>
                </a:solidFill>
                <a:latin typeface="Montserrat"/>
                <a:ea typeface="Montserrat"/>
                <a:cs typeface="Montserrat"/>
              </a:rPr>
              <a:t>pilote multi-villes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479DA3-32D3-4435-97D7-53CD5651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5433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1. élargir les données et le jeu annoté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2. ajouter des garde-fous métier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defRPr>
            </a:pPr>
            <a:r>
              <a:rPr sz="975" b="1">
                <a:solidFill>
                  <a:srgbClr val="17234C"/>
                </a:solidFill>
                <a:latin typeface="Noto Sans"/>
                <a:ea typeface="Noto Sans"/>
                <a:cs typeface="Noto Sans"/>
              </a:rPr>
              <a:t>3. industrialiser si la valeur est confirmée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04AFA4-1AB8-4EE2-AA7B-63F64434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05350"/>
            <a:ext cx="21145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A3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QUESTIONS 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D57C2E-AB27-4EBE-9B2F-CD33DCF6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82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Rapport, scripts et dépôt disponibles pour la discussion technique</a:t>
            </a:r>
          </a:p>
        </p:txBody>
      </p:sp>
    </p:spTree>
    <p:extLst>
      <p:ext uri="{BB962C8B-B14F-4D97-AF65-F5344CB8AC3E}">
        <p14:creationId xmlns:p14="http://schemas.microsoft.com/office/powerpoint/2010/main" val="9406652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2026-08-12T15:25:05.5860000Z</dcterms:created>
  <dcterms:modified xsi:type="dcterms:W3CDTF">2026-08-12T15:25:05.5860000Z</dcterms:modified>
</coreProperties>
</file>