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5cd82ec61cd4c45" /><Relationship Type="http://schemas.openxmlformats.org/officeDocument/2006/relationships/extended-properties" Target="/docProps/app.xml" Id="R3cd26437bde6405a" /><Relationship Type="http://schemas.openxmlformats.org/officeDocument/2006/relationships/officeDocument" Target="/ppt/presentation.xml" Id="Rb127e544afc749bd" /></Relationships>
</file>

<file path=ppt/presentation.xml><?xml version="1.0" encoding="utf-8"?>
<p:presentation xmlns:p="http://schemas.openxmlformats.org/presentationml/2006/main">
  <p:sldMasterIdLst>
    <p:sldMasterId xmlns:r="http://schemas.openxmlformats.org/officeDocument/2006/relationships" id="2147483648" r:id="R577b0b22c2004cff"/>
  </p:sldMasterIdLst>
  <p:notesMasterIdLst>
    <p:notesMasterId xmlns:r="http://schemas.openxmlformats.org/officeDocument/2006/relationships" r:id="Ra37dc5962a6e4ee3"/>
  </p:notesMasterIdLst>
  <p:sldIdLst>
    <p:sldId xmlns:r="http://schemas.openxmlformats.org/officeDocument/2006/relationships" id="256" r:id="R13ea2e68a10c412d"/>
    <p:sldId xmlns:r="http://schemas.openxmlformats.org/officeDocument/2006/relationships" id="257" r:id="R3789fd62d58b4941"/>
    <p:sldId xmlns:r="http://schemas.openxmlformats.org/officeDocument/2006/relationships" id="258" r:id="R5e03b3f48f8f4ee2"/>
    <p:sldId xmlns:r="http://schemas.openxmlformats.org/officeDocument/2006/relationships" id="259" r:id="Rb7b26a006e4448cf"/>
    <p:sldId xmlns:r="http://schemas.openxmlformats.org/officeDocument/2006/relationships" id="260" r:id="Ra89e54728bd24786"/>
    <p:sldId xmlns:r="http://schemas.openxmlformats.org/officeDocument/2006/relationships" id="261" r:id="Rb72f7c2d304c4b16"/>
    <p:sldId xmlns:r="http://schemas.openxmlformats.org/officeDocument/2006/relationships" id="262" r:id="Rb47a0c41ceba48b9"/>
    <p:sldId xmlns:r="http://schemas.openxmlformats.org/officeDocument/2006/relationships" id="263" r:id="R3a36de1812f943a4"/>
    <p:sldId xmlns:r="http://schemas.openxmlformats.org/officeDocument/2006/relationships" id="264" r:id="R2fce2eb3e6fb4205"/>
    <p:sldId xmlns:r="http://schemas.openxmlformats.org/officeDocument/2006/relationships" id="265" r:id="R5a3df7169207493a"/>
    <p:sldId xmlns:r="http://schemas.openxmlformats.org/officeDocument/2006/relationships" id="266" r:id="R2bfbc6f796fd4d12"/>
    <p:sldId xmlns:r="http://schemas.openxmlformats.org/officeDocument/2006/relationships" id="267" r:id="R29bf23aa334b4bbc"/>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55d9784bea549d2" /><Relationship Type="http://schemas.openxmlformats.org/officeDocument/2006/relationships/slideMaster" Target="/ppt/slideMasters/slideMaster1.xml" Id="R577b0b22c2004cff" /><Relationship Type="http://schemas.openxmlformats.org/officeDocument/2006/relationships/notesMaster" Target="/ppt/notesMasters/notesMaster1.xml" Id="Ra37dc5962a6e4ee3" /><Relationship Type="http://schemas.openxmlformats.org/officeDocument/2006/relationships/presProps" Target="/ppt/presProps.xml" Id="Ra331393554ec4d23" /><Relationship Type="http://schemas.openxmlformats.org/officeDocument/2006/relationships/tableStyles" Target="/ppt/tableStyles.xml" Id="Rc9e916df59524d6d" /><Relationship Type="http://schemas.openxmlformats.org/officeDocument/2006/relationships/slide" Target="/ppt/slides/slide1.xml" Id="R13ea2e68a10c412d" /><Relationship Type="http://schemas.openxmlformats.org/officeDocument/2006/relationships/slide" Target="/ppt/slides/slide2.xml" Id="R3789fd62d58b4941" /><Relationship Type="http://schemas.openxmlformats.org/officeDocument/2006/relationships/slide" Target="/ppt/slides/slide3.xml" Id="R5e03b3f48f8f4ee2" /><Relationship Type="http://schemas.openxmlformats.org/officeDocument/2006/relationships/slide" Target="/ppt/slides/slide4.xml" Id="Rb7b26a006e4448cf" /><Relationship Type="http://schemas.openxmlformats.org/officeDocument/2006/relationships/slide" Target="/ppt/slides/slide5.xml" Id="Ra89e54728bd24786" /><Relationship Type="http://schemas.openxmlformats.org/officeDocument/2006/relationships/slide" Target="/ppt/slides/slide6.xml" Id="Rb72f7c2d304c4b16" /><Relationship Type="http://schemas.openxmlformats.org/officeDocument/2006/relationships/slide" Target="/ppt/slides/slide7.xml" Id="Rb47a0c41ceba48b9" /><Relationship Type="http://schemas.openxmlformats.org/officeDocument/2006/relationships/slide" Target="/ppt/slides/slide8.xml" Id="R3a36de1812f943a4" /><Relationship Type="http://schemas.openxmlformats.org/officeDocument/2006/relationships/slide" Target="/ppt/slides/slide9.xml" Id="R2fce2eb3e6fb4205" /><Relationship Type="http://schemas.openxmlformats.org/officeDocument/2006/relationships/slide" Target="/ppt/slides/slide10.xml" Id="R5a3df7169207493a" /><Relationship Type="http://schemas.openxmlformats.org/officeDocument/2006/relationships/slide" Target="/ppt/slides/slide11.xml" Id="R2bfbc6f796fd4d12" /><Relationship Type="http://schemas.openxmlformats.org/officeDocument/2006/relationships/slide" Target="/ppt/slides/slide12.xml" Id="R29bf23aa334b4bb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3d0895b1e2483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e812084eb23415e" /><Relationship Type="http://schemas.openxmlformats.org/officeDocument/2006/relationships/notesMaster" Target="/ppt/notesMasters/notesMaster1.xml" Id="R1980eabc4c0341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52aa8c6b5734740" /><Relationship Type="http://schemas.openxmlformats.org/officeDocument/2006/relationships/notesMaster" Target="/ppt/notesMasters/notesMaster1.xml" Id="R8982fe5ede654e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1080bd3d59014ac1" /><Relationship Type="http://schemas.openxmlformats.org/officeDocument/2006/relationships/notesMaster" Target="/ppt/notesMasters/notesMaster1.xml" Id="R590677f9fc7d4bf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ae43f37a07448bf" /><Relationship Type="http://schemas.openxmlformats.org/officeDocument/2006/relationships/notesMaster" Target="/ppt/notesMasters/notesMaster1.xml" Id="R2e754401abf34b5d" /></Relationships>
</file>

<file path=ppt/notesSlides/_rels/notesSlide5.xml.rels>&#65279;<?xml version="1.0" encoding="utf-8"?><Relationships xmlns="http://schemas.openxmlformats.org/package/2006/relationships"><Relationship Type="http://schemas.openxmlformats.org/officeDocument/2006/relationships/slide" Target="/ppt/slides/slide5.xml" Id="R64f07a06f0ec4758" /><Relationship Type="http://schemas.openxmlformats.org/officeDocument/2006/relationships/notesMaster" Target="/ppt/notesMasters/notesMaster1.xml" Id="R09cca30f88c24a1b" /></Relationships>
</file>

<file path=ppt/notesSlides/_rels/notesSlide6.xml.rels>&#65279;<?xml version="1.0" encoding="utf-8"?><Relationships xmlns="http://schemas.openxmlformats.org/package/2006/relationships"><Relationship Type="http://schemas.openxmlformats.org/officeDocument/2006/relationships/slide" Target="/ppt/slides/slide6.xml" Id="R51ae4b308c52473e" /><Relationship Type="http://schemas.openxmlformats.org/officeDocument/2006/relationships/notesMaster" Target="/ppt/notesMasters/notesMaster1.xml" Id="Rc32f97da6b3048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24f51c95a31f4234" /><Relationship Type="http://schemas.openxmlformats.org/officeDocument/2006/relationships/notesMaster" Target="/ppt/notesMasters/notesMaster1.xml" Id="Rb3b9b2a1bf6b4847" /></Relationships>
</file>

<file path=ppt/notesSlides/_rels/notesSlide8.xml.rels>&#65279;<?xml version="1.0" encoding="utf-8"?><Relationships xmlns="http://schemas.openxmlformats.org/package/2006/relationships"><Relationship Type="http://schemas.openxmlformats.org/officeDocument/2006/relationships/slide" Target="/ppt/slides/slide8.xml" Id="R4ab300b293534951" /><Relationship Type="http://schemas.openxmlformats.org/officeDocument/2006/relationships/notesMaster" Target="/ppt/notesMasters/notesMaster1.xml" Id="R7f0c6643db71429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2e574e87a14d52" /><Relationship Type="http://schemas.openxmlformats.org/officeDocument/2006/relationships/notesMaster" Target="/ppt/notesMasters/notesMaster1.xml" Id="R927d48c546c5400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a99e20b1fc4d45" /><Relationship Type="http://schemas.openxmlformats.org/officeDocument/2006/relationships/notesMaster" Target="/ppt/notesMasters/notesMaster1.xml" Id="R946b3ac3bd7d411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077b04b9904b96" /><Relationship Type="http://schemas.openxmlformats.org/officeDocument/2006/relationships/notesMaster" Target="/ppt/notesMasters/notesMaster1.xml" Id="R2f19dd580bd2492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39feab605364c02" /><Relationship Type="http://schemas.openxmlformats.org/officeDocument/2006/relationships/notesMaster" Target="/ppt/notesMasters/notesMaster1.xml" Id="R92a3370c576e45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50 secondes.</a:t>
            </a:r>
          </a:p>
          <a:p xmlns:a="http://schemas.openxmlformats.org/drawingml/2006/main">
            <a:r>
              <a:t>Bonjour Jérémy. Je vais vous présenter le POC que j’ai réalisé pour répondre à une question simple : Puls-Events peut-il proposer un assistant qui recommande des événements réels, sans les inventer ?</a:t>
            </a:r>
          </a:p>
          <a:p xmlns:a="http://schemas.openxmlformats.org/drawingml/2006/main">
            <a:r>
              <a:t>Le résultat n’est pas seulement un chatbot. J’ai préparé 7 586 événements OpenAgenda, produit 14 903 passages recherchables, construit une API Docker et couvert la chaîne par 59 tests automatisés.</a:t>
            </a:r>
          </a:p>
          <a:p xmlns:a="http://schemas.openxmlformats.org/drawingml/2006/main">
            <a:r>
              <a:t>Mon objectif aujourd’hui est de vous montrer la méthode, les preuves et les limites afin de vous proposer une décision de suite réaliste : un pilote mesuré, et non une mise en production immédiate.</a:t>
            </a:r>
          </a:p>
          <a:p xmlns:a="http://schemas.openxmlformats.org/drawingml/2006/main">
            <a:r>
              <a:t>Transition : pour comprendre ce choix, je pars du risque métier à éviter.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60 secondes.</a:t>
            </a:r>
          </a:p>
          <a:p xmlns:a="http://schemas.openxmlformats.org/drawingml/2006/main">
            <a:r>
              <a:t>Un utilisateur ne formule pas sa demande avec les mots exacts du catalogue. Il peut demander une sortie calme, une activité avec des enfants ou un concert électro sans connaître le titre de l’événement.</a:t>
            </a:r>
          </a:p>
          <a:p xmlns:a="http://schemas.openxmlformats.org/drawingml/2006/main">
            <a:r>
              <a:t>Une recherche par mots-clés est utile pour des filtres précis, mais elle comprend mal les variantes de formulation. À l’inverse, un LLM seul est agréable à utiliser mais ne connaît pas naturellement le catalogue Puls-Events : il peut produire une recommandation plausible mais fausse.</a:t>
            </a:r>
          </a:p>
          <a:p xmlns:a="http://schemas.openxmlformats.org/drawingml/2006/main">
            <a:r>
              <a:t>Le RAG combine les deux. Il cherche d’abord dans les données réelles, puis il demande au modèle de formuler une réponse à partir du contexte retrouvé. Les sources restent visibles. Le RAG ne garantit pas zéro erreur ; il réduit le risque et rend le résultat contrôlable.</a:t>
            </a:r>
          </a:p>
          <a:p xmlns:a="http://schemas.openxmlformats.org/drawingml/2006/main">
            <a:r>
              <a:t>Transition : cette qualité dépend d’abord de la qualité des données préparées.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70 secondes.</a:t>
            </a:r>
          </a:p>
          <a:p xmlns:a="http://schemas.openxmlformats.org/drawingml/2006/main">
            <a:r>
              <a:t>Je pars d’OpenAgenda via son miroir Opendatasoft. Le flux est public et riche, mais il n’est pas directement prêt pour un RAG : les descriptions peuvent contenir du HTML, certains champs sont absents, les formats sont hétérogènes et plusieurs lignes peuvent correspondre au même événement.</a:t>
            </a:r>
          </a:p>
          <a:p xmlns:a="http://schemas.openxmlformats.org/drawingml/2006/main">
            <a:r>
              <a:t>Mon script applique d’abord le périmètre choisi : Paris et une fenêtre d’un an, du 10 juillet 2025 au 10 juillet 2026. Ensuite il nettoie les textes, retire le HTML, harmonise les valeurs de lieu, dates et catégories, puis déduplique avec event_uid.</a:t>
            </a:r>
          </a:p>
          <a:p xmlns:a="http://schemas.openxmlformats.org/drawingml/2006/main">
            <a:r>
              <a:t>Je ne garde pas seulement une description : je conserve les métadonnées qui permettront de prouver une recommandation, notamment le titre, le lieu, la date et l’URL. Le résultat est un snapshot de 7 586 événements. Il est reproductible, mais il n’est pas encore actualisé automatiquement : c’est une limite assumée que je traiterai plus tard.</a:t>
            </a:r>
          </a:p>
          <a:p xmlns:a="http://schemas.openxmlformats.org/drawingml/2006/main">
            <a:r>
              <a:t>Transition : je vais maintenant montrer comment un de ces événements devient recherché par le sens.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70 secondes.</a:t>
            </a:r>
          </a:p>
          <a:p xmlns:a="http://schemas.openxmlformats.org/drawingml/2006/main">
            <a:r>
              <a:t>Voici un exemple concret avec l’événement CHIMERE. Sa description préparée contient 10 273 caractères. La chercher en entier réduirait la précision et l’envoyer en entier au modèle augmenterait inutilement le contexte.</a:t>
            </a:r>
          </a:p>
          <a:p xmlns:a="http://schemas.openxmlformats.org/drawingml/2006/main">
            <a:r>
              <a:t>Je découpe donc ce texte en passages. La taille cible est de 1 000 caractères et le chevauchement est de 200 caractères. Le chevauchement signifie qu’une zone de fin de chunk est reprise au début du suivant. Ainsi, une information comme une date ou un lieu ne disparaît pas si elle se trouve à la frontière.</a:t>
            </a:r>
          </a:p>
          <a:p xmlns:a="http://schemas.openxmlformats.org/drawingml/2006/main">
            <a:r>
              <a:t>Chaque passage est envoyé à mistral-embed, qui le représente par un vecteur de 1 024 nombres. Ces nombres ne sont pas une réponse : ils servent à comparer le sens des textes. FAISS stocke ces vecteurs et retrouve les passages proches de la question. Les métadonnées restent liées au passage pour pouvoir revenir à la source.</a:t>
            </a:r>
          </a:p>
          <a:p xmlns:a="http://schemas.openxmlformats.org/drawingml/2006/main">
            <a:r>
              <a:t>Ces paramètres sont des choix de POC à calibrer. Je ne prétends pas qu’ils sont optimaux : je les comparerais sur un jeu d’évaluation plus grand.</a:t>
            </a:r>
          </a:p>
          <a:p xmlns:a="http://schemas.openxmlformats.org/drawingml/2006/main">
            <a:r>
              <a:t>Transition : une fois les bons passages retrouvés, je dois encadrer ce que le modèle a le droit de dire.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65 secondes.</a:t>
            </a:r>
          </a:p>
          <a:p xmlns:a="http://schemas.openxmlformats.org/drawingml/2006/main">
            <a:r>
              <a:t>La question de l’utilisateur passe d’abord dans le même modèle d’embedding que les chunks. FAISS compare alors son vecteur aux 14 903 passages et retourne les quatre voisins les plus proches : top_k vaut 4.</a:t>
            </a:r>
          </a:p>
          <a:p xmlns:a="http://schemas.openxmlformats.org/drawingml/2006/main">
            <a:r>
              <a:t>Le code construit ensuite le prompt. Il comporte un message système très clair : répondre uniquement à partir du contexte, dire qu’il ne sait pas lorsque le contexte est insuffisant, citer les titres, les lieux, les dates et les URLs quand ils existent, et ne jamais inventer un événement, une date ou un lien.</a:t>
            </a:r>
          </a:p>
          <a:p xmlns:a="http://schemas.openxmlformats.org/drawingml/2006/main">
            <a:r>
              <a:t>Le prompt utilisateur ajoute les quatre passages, avec leurs métadonnées, puis la question. Mistral Small rédige la réponse. J’ai choisi mistral-embed pour la recherche sémantique et mistral-small-latest pour la génération : le premier retrouve, le second reformule. La température à 0,1 stabilise la démonstration.</a:t>
            </a:r>
          </a:p>
          <a:p xmlns:a="http://schemas.openxmlformats.org/drawingml/2006/main">
            <a:r>
              <a:t>Transition : ces traitements sont organisés dans une architecture où chaque responsabilité est séparée.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55 secondes.</a:t>
            </a:r>
          </a:p>
          <a:p xmlns:a="http://schemas.openxmlformats.org/drawingml/2006/main">
            <a:r>
              <a:t>Cette slide sépare les traitements hors ligne et la réponse en ligne. Hors ligne, je collecte, nettoie et indexe. Ces étapes peuvent prendre du temps mais elles sont reproductibles et n’ont pas à être relancées lorsqu’un utilisateur pose une question.</a:t>
            </a:r>
          </a:p>
          <a:p xmlns:a="http://schemas.openxmlformats.org/drawingml/2006/main">
            <a:r>
              <a:t>En ligne, FastAPI charge l’index persistant, le retriever FAISS et le modèle de chat. Une requête utilise donc uniquement la recherche, le prompt et la génération. Cette séparation réduit la latence et rend chaque brique testable : je peux tester la normalisation sans Mistral, l’indexation sur un petit corpus, puis le contrat API indépendamment.</a:t>
            </a:r>
          </a:p>
          <a:p xmlns:a="http://schemas.openxmlformats.org/drawingml/2006/main">
            <a:r>
              <a:t>Transition : le résultat de cette architecture est une API exploitable et conteneurisée.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50 secondes.</a:t>
            </a:r>
          </a:p>
          <a:p xmlns:a="http://schemas.openxmlformats.org/drawingml/2006/main">
            <a:r>
              <a:t>FastAPI expose le POC avec un contrat simple. POST /ask reçoit une question et renvoie une réponse, les sources et le nombre de chunks récupérés. GET /health me permet de vérifier que l’index est chargé et de connaître les modèles actifs. Swagger, sur /docs, documente les endpoints.</a:t>
            </a:r>
          </a:p>
          <a:p xmlns:a="http://schemas.openxmlformats.org/drawingml/2006/main">
            <a:r>
              <a:t>L’index et le modèle sont chargés au démarrage. Chaque question ne reconstruit donc ni le corpus ni FAISS. Docker Compose rend ce runtime reproductible. Le endpoint de reconstruction est séparé et protégé, car reconstruire l’index est une tâche d’administration.</a:t>
            </a:r>
          </a:p>
          <a:p xmlns:a="http://schemas.openxmlformats.org/drawingml/2006/main">
            <a:r>
              <a:t>Je vais maintenant montrer deux scénarios : un cas où le POC apporte de la valeur et un cas où il doit reconnaître sa limite.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25 secondes avant la démo, puis 2 minutes en terminal.</a:t>
            </a:r>
          </a:p>
          <a:p xmlns:a="http://schemas.openxmlformats.org/drawingml/2006/main">
            <a:r>
              <a:t>Je vais exécuter le script de démonstration. Il vérifie l’état de Docker, appelle health, puis envoie les deux scénarios à la même API.</a:t>
            </a:r>
          </a:p>
          <a:p xmlns:a="http://schemas.openxmlformats.org/drawingml/2006/main">
            <a:r>
              <a:t>Sur le cas Paris, je regarde seulement les éléments métier : une réponse claire, le titre, la date, le lieu et l’URL. Sur le cas Lyon, mon objectif n’est pas de proposer Lyon correctement, puisque le corpus ne le couvre pas. Je vérifie que le système reste prudent et n’invente pas.</a:t>
            </a:r>
          </a:p>
          <a:p xmlns:a="http://schemas.openxmlformats.org/drawingml/2006/main">
            <a:r>
              <a:t>Après la démo, je reviens à la slide suivante : ces observations doivent être soutenues par une stratégie de tests et d’évaluation.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75 secondes.</a:t>
            </a:r>
          </a:p>
          <a:p xmlns:a="http://schemas.openxmlformats.org/drawingml/2006/main">
            <a:r>
              <a:t>Les 59 tests ne servent pas à prouver qu’une réponse est toujours excellente. Ils servent à éviter les régressions de code. La suite couvre la collecte et la pagination, la normalisation, les filtres, la construction et le rechargement de FAISS, le moteur RAG, le contrat de l’API, le jeu annoté et l’automatisation RAGAS.</a:t>
            </a:r>
          </a:p>
          <a:p xmlns:a="http://schemas.openxmlformats.org/drawingml/2006/main">
            <a:r>
              <a:t>Le rapport de test répond à deux questions : est-ce que les briques techniques fonctionnent encore, et est-ce que les scénarios métier attendus restent couverts ? Les quatre cas fonctionnels comprennent trois demandes positives et un cas hors périmètre. Ils testent le comportement direct, via l’API et dans Docker.</a:t>
            </a:r>
          </a:p>
          <a:p xmlns:a="http://schemas.openxmlformats.org/drawingml/2006/main">
            <a:r>
              <a:t>Je dois être précis sur la CI/CD : elle n’est pas implémentée dans ce POC. C’est la prochaine étape d’industrialisation. À chaque push, la CI installerait l’environnement, lancerait pytest, construirait l’image Docker, lancerait un healthcheck, publierait un rapport, puis bloquerait le déploiement en cas d’échec. Les métriques RAGAS pourraient aussi devenir des quality gates après élargissement du benchmark.</a:t>
            </a:r>
          </a:p>
          <a:p xmlns:a="http://schemas.openxmlformats.org/drawingml/2006/main">
            <a:r>
              <a:t>Transition : au-delà des tests de code, j’évalue maintenant la qualité de la chaîne 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80 secondes.</a:t>
            </a:r>
          </a:p>
          <a:p xmlns:a="http://schemas.openxmlformats.org/drawingml/2006/main">
            <a:r>
              <a:t>RAGAS est un framework d’évaluation spécifique aux systèmes RAG. Son intérêt est de ne pas réduire la qualité à un seul score. Pour chaque cas, j’ai une question, les contextes réellement récupérés, la réponse générée et une référence humaine.</a:t>
            </a:r>
          </a:p>
          <a:p xmlns:a="http://schemas.openxmlformats.org/drawingml/2006/main">
            <a:r>
              <a:t>La fidélité à 0,900 mesure si la réponse est soutenue par le contexte. La pertinence à 0,846 mesure si elle répond à la question. La précision du contexte à 1,000 signifie que les passages récupérés sont utiles sur cet échantillon. La correction à 0,683 compare plus directement la réponse à la référence et reste le point à améliorer.</a:t>
            </a:r>
          </a:p>
          <a:p xmlns:a="http://schemas.openxmlformats.org/drawingml/2006/main">
            <a:r>
              <a:t>L’interprétation est importante : je ne dis pas que le chatbot est exact à 90 %. Les trois cas démontrent la méthode et donnent un signal. Ils montrent que la recherche est solide, mais que la synthèse peut omettre un détail attendu. La suite est donc de structurer davantage la réponse et d’élargir le jeu annoté avant de changer de modèle à l’aveugle.</a:t>
            </a:r>
          </a:p>
          <a:p xmlns:a="http://schemas.openxmlformats.org/drawingml/2006/main">
            <a:r>
              <a:t>Transition : ces résultats sont encourageants mais le POC a des limites que je dois rendre explicites.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60 secondes.</a:t>
            </a:r>
          </a:p>
          <a:p xmlns:a="http://schemas.openxmlformats.org/drawingml/2006/main">
            <a:r>
              <a:t>La première limite concerne les données : le périmètre est Paris, le corpus est un snapshot et la qualité dépend de la source. Je propose une collecte planifiée, des contrôles de qualité et l’élargissement progressif des villes.</a:t>
            </a:r>
          </a:p>
          <a:p xmlns:a="http://schemas.openxmlformats.org/drawingml/2006/main">
            <a:r>
              <a:t>La deuxième concerne la recherche et le modèle. Il n’y a pas encore de seuil de similarité déterministe qui empêcherait la génération si le contexte est trop faible. Le modèle Mistral dépend d’un service en ligne. Les paramètres de chunking et top_k restent à calibrer. Je propose des filtres métier, un seuil de refus et un benchmark élargi.</a:t>
            </a:r>
          </a:p>
          <a:p xmlns:a="http://schemas.openxmlformats.org/drawingml/2006/main">
            <a:r>
              <a:t>Enfin, l’évaluation et l’exploitation restent limitées : trois cas RAGAS ne suffisent pas pour un benchmark et le POC n’a pas de test de charge ni d’observabilité continue. Je les présente comme des chantiers concrets, pas comme des défauts cachés.</a:t>
            </a:r>
          </a:p>
          <a:p xmlns:a="http://schemas.openxmlformats.org/drawingml/2006/main">
            <a:r>
              <a:t>Transition : ces limites conduisent directement à ma recommandation.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cible : 55 secondes.</a:t>
            </a:r>
          </a:p>
          <a:p xmlns:a="http://schemas.openxmlformats.org/drawingml/2006/main">
            <a:r>
              <a:t>Ma recommandation est un pilote multi-villes mesuré, et non un déploiement généralisé immédiat. La chaîne actuelle prouve que le produit est techniquement faisable et qu’il peut répondre avec des sources vérifiables.</a:t>
            </a:r>
          </a:p>
          <a:p xmlns:a="http://schemas.openxmlformats.org/drawingml/2006/main">
            <a:r>
              <a:t>Le pilote doit élargir les villes et le jeu annoté, mesurer l’utilité des réponses, la présence de sources, la latence et les refus corrects. Ensuite, j’ajouterais des filtres de ville, date et catégorie, un seuil de similarité et une réponse structurée. Enfin seulement, j’industrialiserais avec collecte planifiée, CI/CD, supervision, sécurité et tests de charge.</a:t>
            </a:r>
          </a:p>
          <a:p xmlns:a="http://schemas.openxmlformats.org/drawingml/2006/main">
            <a:r>
              <a:t>Après cette slide, je montre le rapport pendant vingt secondes et l’arborescence du dépôt pendant vingt secondes. Je termine : les livrables sont reproductibles, les méthodes sont documentées et la prochaine décision raisonnable est le pilote mesuré.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dc716edadbe4a5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016861cb4824372" /><Relationship Type="http://schemas.openxmlformats.org/officeDocument/2006/relationships/slideLayout" Target="/ppt/slideLayouts/slideLayout1.xml" Id="R5fbc2eb052f841d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fbc2eb052f841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444403e9e0e41de" /><Relationship Type="http://schemas.openxmlformats.org/officeDocument/2006/relationships/notesSlide" Target="/ppt/notesSlides/notesSlide1.xml" Id="R8b248608fb8d4c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48150a43eb041ac" /><Relationship Type="http://schemas.openxmlformats.org/officeDocument/2006/relationships/notesSlide" Target="/ppt/notesSlides/notesSlide2.xml" Id="Ra2e2b839abb040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c9f394ee5d9459f" /><Relationship Type="http://schemas.openxmlformats.org/officeDocument/2006/relationships/notesSlide" Target="/ppt/notesSlides/notesSlide3.xml" Id="R61cfeb34ff5e45d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f227830adf04aa8" /><Relationship Type="http://schemas.openxmlformats.org/officeDocument/2006/relationships/notesSlide" Target="/ppt/notesSlides/notesSlide4.xml" Id="Rc4e12666b0034a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92d453734534914" /><Relationship Type="http://schemas.openxmlformats.org/officeDocument/2006/relationships/notesSlide" Target="/ppt/notesSlides/notesSlide5.xml" Id="R2d5e8a2b7e0e46e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ca658054d304c15" /><Relationship Type="http://schemas.openxmlformats.org/officeDocument/2006/relationships/notesSlide" Target="/ppt/notesSlides/notesSlide6.xml" Id="Rdfdea69ad43840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6bb4d3ed1d24145" /><Relationship Type="http://schemas.openxmlformats.org/officeDocument/2006/relationships/notesSlide" Target="/ppt/notesSlides/notesSlide7.xml" Id="R2a90acf9dc3440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fb54d47b75444bd" /><Relationship Type="http://schemas.openxmlformats.org/officeDocument/2006/relationships/notesSlide" Target="/ppt/notesSlides/notesSlide8.xml" Id="R41cc56ba2e874ee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309e098332c4793" /><Relationship Type="http://schemas.openxmlformats.org/officeDocument/2006/relationships/notesSlide" Target="/ppt/notesSlides/notesSlide9.xml" Id="Rd9e96e96660e4fc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41e462ce21e4f03" /><Relationship Type="http://schemas.openxmlformats.org/officeDocument/2006/relationships/notesSlide" Target="/ppt/notesSlides/notesSlide10.xml" Id="R859d67a4b2ee40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eb50871b1e8478d" /><Relationship Type="http://schemas.openxmlformats.org/officeDocument/2006/relationships/notesSlide" Target="/ppt/notesSlides/notesSlide11.xml" Id="Ref47892154e548c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1ef512d0471421e" /><Relationship Type="http://schemas.openxmlformats.org/officeDocument/2006/relationships/notesSlide" Target="/ppt/notesSlides/notesSlide12.xml" Id="Rd2ecc75940f14db2" /></Relationships>
</file>

<file path=ppt/slides/slide1.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CA900C4-AD42-441D-BC1C-CCB3BCDB4517}"/>
              </a:ext>
            </a:extLst>
          </p:cNvPr>
          <p:cNvSpPr>
            <a:spLocks xmlns:a="http://schemas.openxmlformats.org/drawingml/2006/main" noGrp="1"/>
          </p:cNvSpPr>
          <p:nvPr/>
        </p:nvSpPr>
        <p:spPr>
          <a:xfrm xmlns:a="http://schemas.openxmlformats.org/drawingml/2006/main">
            <a:off x="7239000" y="552450"/>
            <a:ext cx="4000500" cy="5753100"/>
          </a:xfrm>
          <a:prstGeom xmlns:a="http://schemas.openxmlformats.org/drawingml/2006/main" prst="roundRect">
            <a:avLst>
              <a:gd name="adj" fmla="val 3810"/>
            </a:avLst>
          </a:prstGeom>
          <a:solidFill xmlns:a="http://schemas.openxmlformats.org/drawingml/2006/main">
            <a:srgbClr val="EFE8DD"/>
          </a:solidFill>
          <a:ln xmlns:a="http://schemas.openxmlformats.org/drawingml/2006/main" w="9525">
            <a:solidFill>
              <a:srgbClr val="D9D2C7"/>
            </a:solidFill>
            <a:prstDash val="solid"/>
          </a:ln>
        </p:spPr>
      </p:sp>
      <p:sp>
        <p:nvSpPr>
          <p:cNvPr id="2" name="">
            <a:extLst xmlns:a="http://schemas.openxmlformats.org/drawingml/2006/main">
              <a:ext uri="{FF2B5EF4-FFF2-40B4-BE49-F238E27FC236}">
                <a16:creationId xmlns:a16="http://schemas.microsoft.com/office/drawing/2014/main" id="{CBACC180-FBF0-4EE3-98B8-C4202608047D}"/>
              </a:ext>
            </a:extLst>
          </p:cNvPr>
          <p:cNvSpPr>
            <a:spLocks xmlns:a="http://schemas.openxmlformats.org/drawingml/2006/main" noGrp="1"/>
          </p:cNvSpPr>
          <p:nvPr/>
        </p:nvSpPr>
        <p:spPr>
          <a:xfrm xmlns:a="http://schemas.openxmlformats.org/drawingml/2006/main">
            <a:off x="685800" y="1066800"/>
            <a:ext cx="1257300" cy="76200"/>
          </a:xfrm>
          <a:prstGeom xmlns:a="http://schemas.openxmlformats.org/drawingml/2006/main" prst="rect">
            <a:avLst/>
          </a:prstGeom>
          <a:solidFill xmlns:a="http://schemas.openxmlformats.org/drawingml/2006/main">
            <a:srgbClr val="C65A3D"/>
          </a:solidFill>
          <a:ln xmlns:a="http://schemas.openxmlformats.org/drawingml/2006/main" w="0">
            <a:solidFill>
              <a:srgbClr val="C65A3D"/>
            </a:solidFill>
            <a:prstDash val="solid"/>
          </a:ln>
        </p:spPr>
      </p:sp>
      <p:sp>
        <p:nvSpPr>
          <p:cNvPr id="3" name="">
            <a:extLst xmlns:a="http://schemas.openxmlformats.org/drawingml/2006/main">
              <a:ext uri="{FF2B5EF4-FFF2-40B4-BE49-F238E27FC236}">
                <a16:creationId xmlns:a16="http://schemas.microsoft.com/office/drawing/2014/main" id="{2E300945-5BA9-43E3-AFFC-750395B7ACFA}"/>
              </a:ext>
            </a:extLst>
          </p:cNvPr>
          <p:cNvSpPr>
            <a:spLocks xmlns:a="http://schemas.openxmlformats.org/drawingml/2006/main" noGrp="1"/>
          </p:cNvSpPr>
          <p:nvPr/>
        </p:nvSpPr>
        <p:spPr>
          <a:xfrm xmlns:a="http://schemas.openxmlformats.org/drawingml/2006/main">
            <a:off x="685800" y="1447800"/>
            <a:ext cx="5905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32A3A"/>
                </a:solidFill>
              </a:defRPr>
            </a:pPr>
            <a:r>
              <a:rPr sz="3150" b="1">
                <a:solidFill>
                  <a:srgbClr val="132A3A"/>
                </a:solidFill>
              </a:rPr>
              <a:t>Un POC RAG pour décider d’un pilote culturel</a:t>
            </a:r>
          </a:p>
        </p:txBody>
      </p:sp>
      <p:sp>
        <p:nvSpPr>
          <p:cNvPr id="4" name="">
            <a:extLst xmlns:a="http://schemas.openxmlformats.org/drawingml/2006/main">
              <a:ext uri="{FF2B5EF4-FFF2-40B4-BE49-F238E27FC236}">
                <a16:creationId xmlns:a16="http://schemas.microsoft.com/office/drawing/2014/main" id="{59D88034-CCCB-4F66-962D-DABFD1BFAEEB}"/>
              </a:ext>
            </a:extLst>
          </p:cNvPr>
          <p:cNvSpPr>
            <a:spLocks xmlns:a="http://schemas.openxmlformats.org/drawingml/2006/main" noGrp="1"/>
          </p:cNvSpPr>
          <p:nvPr/>
        </p:nvSpPr>
        <p:spPr>
          <a:xfrm xmlns:a="http://schemas.openxmlformats.org/drawingml/2006/main">
            <a:off x="685800" y="3429000"/>
            <a:ext cx="5334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5F6B73"/>
                </a:solidFill>
              </a:defRPr>
            </a:pPr>
            <a:r>
              <a:rPr sz="1500" b="0">
                <a:solidFill>
                  <a:srgbClr val="5F6B73"/>
                </a:solidFill>
              </a:rPr>
              <a:t>La question de Puls-Events : peut-on recommander des événements réels sans inventer ?</a:t>
            </a:r>
          </a:p>
        </p:txBody>
      </p:sp>
      <p:sp>
        <p:nvSpPr>
          <p:cNvPr id="5" name="">
            <a:extLst xmlns:a="http://schemas.openxmlformats.org/drawingml/2006/main">
              <a:ext uri="{FF2B5EF4-FFF2-40B4-BE49-F238E27FC236}">
                <a16:creationId xmlns:a16="http://schemas.microsoft.com/office/drawing/2014/main" id="{C7A38340-9E74-49C3-8B70-7C03ADA4D9F2}"/>
              </a:ext>
            </a:extLst>
          </p:cNvPr>
          <p:cNvSpPr>
            <a:spLocks xmlns:a="http://schemas.openxmlformats.org/drawingml/2006/main" noGrp="1"/>
          </p:cNvSpPr>
          <p:nvPr/>
        </p:nvSpPr>
        <p:spPr>
          <a:xfrm xmlns:a="http://schemas.openxmlformats.org/drawingml/2006/main">
            <a:off x="685800" y="533400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0B6B69"/>
                </a:solidFill>
              </a:defRPr>
            </a:pPr>
            <a:r>
              <a:rPr sz="975" b="1">
                <a:solidFill>
                  <a:srgbClr val="0B6B69"/>
                </a:solidFill>
              </a:rPr>
              <a:t>Soutenance · reprise</a:t>
            </a:r>
          </a:p>
        </p:txBody>
      </p:sp>
      <p:sp>
        <p:nvSpPr>
          <p:cNvPr id="6" name="">
            <a:extLst xmlns:a="http://schemas.openxmlformats.org/drawingml/2006/main">
              <a:ext uri="{FF2B5EF4-FFF2-40B4-BE49-F238E27FC236}">
                <a16:creationId xmlns:a16="http://schemas.microsoft.com/office/drawing/2014/main" id="{07AD294F-21FE-40DE-814B-88C080E516F6}"/>
              </a:ext>
            </a:extLst>
          </p:cNvPr>
          <p:cNvSpPr>
            <a:spLocks xmlns:a="http://schemas.openxmlformats.org/drawingml/2006/main" noGrp="1"/>
          </p:cNvSpPr>
          <p:nvPr/>
        </p:nvSpPr>
        <p:spPr>
          <a:xfrm xmlns:a="http://schemas.openxmlformats.org/drawingml/2006/main">
            <a:off x="7696200" y="1009650"/>
            <a:ext cx="304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132A3A"/>
                </a:solidFill>
              </a:defRPr>
            </a:pPr>
            <a:r>
              <a:rPr sz="1350" b="1">
                <a:solidFill>
                  <a:srgbClr val="132A3A"/>
                </a:solidFill>
              </a:rPr>
              <a:t>Preuves apportées</a:t>
            </a:r>
          </a:p>
        </p:txBody>
      </p:sp>
      <p:sp>
        <p:nvSpPr>
          <p:cNvPr id="7" name="">
            <a:extLst xmlns:a="http://schemas.openxmlformats.org/drawingml/2006/main">
              <a:ext uri="{FF2B5EF4-FFF2-40B4-BE49-F238E27FC236}">
                <a16:creationId xmlns:a16="http://schemas.microsoft.com/office/drawing/2014/main" id="{AFB8D6A6-BF3E-4E7A-9F25-83C7491A257F}"/>
              </a:ext>
            </a:extLst>
          </p:cNvPr>
          <p:cNvSpPr>
            <a:spLocks xmlns:a="http://schemas.openxmlformats.org/drawingml/2006/main" noGrp="1"/>
          </p:cNvSpPr>
          <p:nvPr/>
        </p:nvSpPr>
        <p:spPr>
          <a:xfrm xmlns:a="http://schemas.openxmlformats.org/drawingml/2006/main">
            <a:off x="7696200" y="1657350"/>
            <a:ext cx="3048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32A3A"/>
                </a:solidFill>
              </a:defRPr>
            </a:pPr>
            <a:r>
              <a:rPr sz="1425" b="1">
                <a:solidFill>
                  <a:srgbClr val="132A3A"/>
                </a:solidFill>
              </a:rPr>
              <a:t>7 586 événements</a:t>
            </a:r>
          </a:p>
          <a:p xmlns:a="http://schemas.openxmlformats.org/drawingml/2006/main">
            <a:r>
              <a:t/>
            </a:r>
          </a:p>
          <a:p xmlns:a="http://schemas.openxmlformats.org/drawingml/2006/main">
            <a:pPr>
              <a:buNone/>
              <a:defRPr sz="1425" b="1">
                <a:solidFill>
                  <a:srgbClr val="132A3A"/>
                </a:solidFill>
              </a:defRPr>
            </a:pPr>
            <a:r>
              <a:rPr sz="1425" b="1">
                <a:solidFill>
                  <a:srgbClr val="132A3A"/>
                </a:solidFill>
              </a:rPr>
              <a:t>14 903 passages FAISS</a:t>
            </a:r>
          </a:p>
          <a:p xmlns:a="http://schemas.openxmlformats.org/drawingml/2006/main">
            <a:r>
              <a:t/>
            </a:r>
          </a:p>
          <a:p xmlns:a="http://schemas.openxmlformats.org/drawingml/2006/main">
            <a:pPr>
              <a:buNone/>
              <a:defRPr sz="1425" b="1">
                <a:solidFill>
                  <a:srgbClr val="132A3A"/>
                </a:solidFill>
              </a:defRPr>
            </a:pPr>
            <a:r>
              <a:rPr sz="1425" b="1">
                <a:solidFill>
                  <a:srgbClr val="132A3A"/>
                </a:solidFill>
              </a:rPr>
              <a:t>59 tests automatisés</a:t>
            </a:r>
          </a:p>
          <a:p xmlns:a="http://schemas.openxmlformats.org/drawingml/2006/main">
            <a:r>
              <a:t/>
            </a:r>
          </a:p>
          <a:p xmlns:a="http://schemas.openxmlformats.org/drawingml/2006/main">
            <a:pPr>
              <a:buNone/>
              <a:defRPr sz="1425" b="1">
                <a:solidFill>
                  <a:srgbClr val="132A3A"/>
                </a:solidFill>
              </a:defRPr>
            </a:pPr>
            <a:r>
              <a:rPr sz="1425" b="1">
                <a:solidFill>
                  <a:srgbClr val="132A3A"/>
                </a:solidFill>
              </a:rPr>
              <a:t>API Docker opérationnelle</a:t>
            </a:r>
          </a:p>
        </p:txBody>
      </p:sp>
      <p:sp>
        <p:nvSpPr>
          <p:cNvPr id="8" name="">
            <a:extLst xmlns:a="http://schemas.openxmlformats.org/drawingml/2006/main">
              <a:ext uri="{FF2B5EF4-FFF2-40B4-BE49-F238E27FC236}">
                <a16:creationId xmlns:a16="http://schemas.microsoft.com/office/drawing/2014/main" id="{FA862DC8-0C9E-4740-BBBD-B779A578A09B}"/>
              </a:ext>
            </a:extLst>
          </p:cNvPr>
          <p:cNvSpPr>
            <a:spLocks xmlns:a="http://schemas.openxmlformats.org/drawingml/2006/main" noGrp="1"/>
          </p:cNvSpPr>
          <p:nvPr/>
        </p:nvSpPr>
        <p:spPr>
          <a:xfrm xmlns:a="http://schemas.openxmlformats.org/drawingml/2006/main">
            <a:off x="7696200" y="4953000"/>
            <a:ext cx="304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0B6B69"/>
                </a:solidFill>
              </a:defRPr>
            </a:pPr>
            <a:r>
              <a:rPr sz="1275" b="1">
                <a:solidFill>
                  <a:srgbClr val="0B6B69"/>
                </a:solidFill>
              </a:rPr>
              <a:t>Décision attendue : lancer un pilote mesuré.</a:t>
            </a:r>
          </a:p>
        </p:txBody>
      </p:sp>
    </p:spTree>
    <p:extLst>
      <p:ext uri="{BB962C8B-B14F-4D97-AF65-F5344CB8AC3E}">
        <p14:creationId xmlns:p14="http://schemas.microsoft.com/office/powerpoint/2010/main" val="1699876042"/>
      </p:ext>
    </p:extLst>
  </p:cSld>
</p:sld>
</file>

<file path=ppt/slides/slide2.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5427E9A-C408-469B-A500-CF881679D8AC}"/>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CONTEXTE</a:t>
            </a:r>
          </a:p>
        </p:txBody>
      </p:sp>
      <p:sp>
        <p:nvSpPr>
          <p:cNvPr id="2" name="">
            <a:extLst xmlns:a="http://schemas.openxmlformats.org/drawingml/2006/main">
              <a:ext uri="{FF2B5EF4-FFF2-40B4-BE49-F238E27FC236}">
                <a16:creationId xmlns:a16="http://schemas.microsoft.com/office/drawing/2014/main" id="{394CA8E5-D839-4D58-A036-AA8E0DCED790}"/>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02</a:t>
            </a:r>
          </a:p>
        </p:txBody>
      </p:sp>
      <p:sp>
        <p:nvSpPr>
          <p:cNvPr id="3" name="">
            <a:extLst xmlns:a="http://schemas.openxmlformats.org/drawingml/2006/main">
              <a:ext uri="{FF2B5EF4-FFF2-40B4-BE49-F238E27FC236}">
                <a16:creationId xmlns:a16="http://schemas.microsoft.com/office/drawing/2014/main" id="{75AB4B7E-BFC8-4305-A584-4D56C5962510}"/>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250" b="1">
                <a:solidFill>
                  <a:srgbClr val="132A3A"/>
                </a:solidFill>
              </a:defRPr>
            </a:pPr>
            <a:r>
              <a:rPr sz="2250" b="1">
                <a:solidFill>
                  <a:srgbClr val="132A3A"/>
                </a:solidFill>
              </a:rPr>
              <a:t>Le RAG réduit le risque de recommandation non vérifiable</a:t>
            </a:r>
          </a:p>
        </p:txBody>
      </p:sp>
      <p:sp>
        <p:nvSpPr>
          <p:cNvPr id="4" name="">
            <a:extLst xmlns:a="http://schemas.openxmlformats.org/drawingml/2006/main">
              <a:ext uri="{FF2B5EF4-FFF2-40B4-BE49-F238E27FC236}">
                <a16:creationId xmlns:a16="http://schemas.microsoft.com/office/drawing/2014/main" id="{BF6C9193-C629-4CA3-83E6-5A1E64A5F422}"/>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5F6B73"/>
                </a:solidFill>
              </a:defRPr>
            </a:pPr>
            <a:r>
              <a:rPr sz="1200" b="0">
                <a:solidFill>
                  <a:srgbClr val="5F6B73"/>
                </a:solidFill>
              </a:rPr>
              <a:t>Le besoin n’est pas seulement de répondre : il faut pouvoir justifier chaque recommandation.</a:t>
            </a:r>
          </a:p>
        </p:txBody>
      </p:sp>
      <p:sp>
        <p:nvSpPr>
          <p:cNvPr id="5" name="">
            <a:extLst xmlns:a="http://schemas.openxmlformats.org/drawingml/2006/main">
              <a:ext uri="{FF2B5EF4-FFF2-40B4-BE49-F238E27FC236}">
                <a16:creationId xmlns:a16="http://schemas.microsoft.com/office/drawing/2014/main" id="{FFEBEF6B-1B0D-4632-AC0B-32BB22E2522D}"/>
              </a:ext>
            </a:extLst>
          </p:cNvPr>
          <p:cNvSpPr>
            <a:spLocks xmlns:a="http://schemas.openxmlformats.org/drawingml/2006/main" noGrp="1"/>
          </p:cNvSpPr>
          <p:nvPr/>
        </p:nvSpPr>
        <p:spPr>
          <a:xfrm xmlns:a="http://schemas.openxmlformats.org/drawingml/2006/main">
            <a:off x="685800" y="2076450"/>
            <a:ext cx="3238500" cy="3429000"/>
          </a:xfrm>
          <a:prstGeom xmlns:a="http://schemas.openxmlformats.org/drawingml/2006/main" prst="roundRect">
            <a:avLst>
              <a:gd name="adj" fmla="val 4706"/>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42EA710F-63E5-4197-BC97-D261407EEFC5}"/>
              </a:ext>
            </a:extLst>
          </p:cNvPr>
          <p:cNvSpPr>
            <a:spLocks xmlns:a="http://schemas.openxmlformats.org/drawingml/2006/main" noGrp="1"/>
          </p:cNvSpPr>
          <p:nvPr/>
        </p:nvSpPr>
        <p:spPr>
          <a:xfrm xmlns:a="http://schemas.openxmlformats.org/drawingml/2006/main">
            <a:off x="914400" y="2266950"/>
            <a:ext cx="2781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Recherche seule</a:t>
            </a:r>
          </a:p>
        </p:txBody>
      </p:sp>
      <p:sp>
        <p:nvSpPr>
          <p:cNvPr id="7" name="">
            <a:extLst xmlns:a="http://schemas.openxmlformats.org/drawingml/2006/main">
              <a:ext uri="{FF2B5EF4-FFF2-40B4-BE49-F238E27FC236}">
                <a16:creationId xmlns:a16="http://schemas.microsoft.com/office/drawing/2014/main" id="{D8C809EA-4868-451D-94B2-473DD0890068}"/>
              </a:ext>
            </a:extLst>
          </p:cNvPr>
          <p:cNvSpPr>
            <a:spLocks xmlns:a="http://schemas.openxmlformats.org/drawingml/2006/main" noGrp="1"/>
          </p:cNvSpPr>
          <p:nvPr/>
        </p:nvSpPr>
        <p:spPr>
          <a:xfrm xmlns:a="http://schemas.openxmlformats.org/drawingml/2006/main">
            <a:off x="914400" y="2686050"/>
            <a:ext cx="2781300" cy="2590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132A3A"/>
                </a:solidFill>
              </a:defRPr>
            </a:pPr>
            <a:r>
              <a:rPr sz="1200" b="0">
                <a:solidFill>
                  <a:srgbClr val="132A3A"/>
                </a:solidFill>
              </a:rPr>
              <a:t>Mots-clés exacts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Rate les synonymes et les formulations naturelles</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200" b="0">
                <a:solidFill>
                  <a:srgbClr val="132A3A"/>
                </a:solidFill>
              </a:defRPr>
            </a:pPr>
            <a:r>
              <a:rPr sz="1200" b="0">
                <a:solidFill>
                  <a:srgbClr val="132A3A"/>
                </a:solidFill>
              </a:rPr>
              <a:t>Exemple : “sortie familiale”</a:t>
            </a:r>
          </a:p>
        </p:txBody>
      </p:sp>
      <p:sp>
        <p:nvSpPr>
          <p:cNvPr id="8" name="">
            <a:extLst xmlns:a="http://schemas.openxmlformats.org/drawingml/2006/main">
              <a:ext uri="{FF2B5EF4-FFF2-40B4-BE49-F238E27FC236}">
                <a16:creationId xmlns:a16="http://schemas.microsoft.com/office/drawing/2014/main" id="{0802D925-0BC5-45D2-B4A2-33A7BF367229}"/>
              </a:ext>
            </a:extLst>
          </p:cNvPr>
          <p:cNvSpPr>
            <a:spLocks xmlns:a="http://schemas.openxmlformats.org/drawingml/2006/main" noGrp="1"/>
          </p:cNvSpPr>
          <p:nvPr/>
        </p:nvSpPr>
        <p:spPr>
          <a:xfrm xmlns:a="http://schemas.openxmlformats.org/drawingml/2006/main">
            <a:off x="4152900" y="2076450"/>
            <a:ext cx="3238500" cy="3429000"/>
          </a:xfrm>
          <a:prstGeom xmlns:a="http://schemas.openxmlformats.org/drawingml/2006/main" prst="roundRect">
            <a:avLst>
              <a:gd name="adj" fmla="val 4706"/>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AEBED723-EBD9-4558-BFDC-7A0843C4F0C1}"/>
              </a:ext>
            </a:extLst>
          </p:cNvPr>
          <p:cNvSpPr>
            <a:spLocks xmlns:a="http://schemas.openxmlformats.org/drawingml/2006/main" noGrp="1"/>
          </p:cNvSpPr>
          <p:nvPr/>
        </p:nvSpPr>
        <p:spPr>
          <a:xfrm xmlns:a="http://schemas.openxmlformats.org/drawingml/2006/main">
            <a:off x="4381500" y="2266950"/>
            <a:ext cx="2781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LLM seul</a:t>
            </a:r>
          </a:p>
        </p:txBody>
      </p:sp>
      <p:sp>
        <p:nvSpPr>
          <p:cNvPr id="10" name="">
            <a:extLst xmlns:a="http://schemas.openxmlformats.org/drawingml/2006/main">
              <a:ext uri="{FF2B5EF4-FFF2-40B4-BE49-F238E27FC236}">
                <a16:creationId xmlns:a16="http://schemas.microsoft.com/office/drawing/2014/main" id="{870E56DA-44A9-49EB-B8F9-973430AFE07C}"/>
              </a:ext>
            </a:extLst>
          </p:cNvPr>
          <p:cNvSpPr>
            <a:spLocks xmlns:a="http://schemas.openxmlformats.org/drawingml/2006/main" noGrp="1"/>
          </p:cNvSpPr>
          <p:nvPr/>
        </p:nvSpPr>
        <p:spPr>
          <a:xfrm xmlns:a="http://schemas.openxmlformats.org/drawingml/2006/main">
            <a:off x="4381500" y="2686050"/>
            <a:ext cx="2781300" cy="2590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132A3A"/>
                </a:solidFill>
              </a:defRPr>
            </a:pPr>
            <a:r>
              <a:rPr sz="1200" b="0">
                <a:solidFill>
                  <a:srgbClr val="132A3A"/>
                </a:solidFill>
              </a:rPr>
              <a:t>Réponse fluide</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Mais aucune preuve qu’un événement existe</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200" b="0">
                <a:solidFill>
                  <a:srgbClr val="132A3A"/>
                </a:solidFill>
              </a:defRPr>
            </a:pPr>
            <a:r>
              <a:rPr sz="1200" b="0">
                <a:solidFill>
                  <a:srgbClr val="132A3A"/>
                </a:solidFill>
              </a:rPr>
              <a:t>Risque : date, lieu ou lien inventé</a:t>
            </a:r>
          </a:p>
        </p:txBody>
      </p:sp>
      <p:sp>
        <p:nvSpPr>
          <p:cNvPr id="11" name="">
            <a:extLst xmlns:a="http://schemas.openxmlformats.org/drawingml/2006/main">
              <a:ext uri="{FF2B5EF4-FFF2-40B4-BE49-F238E27FC236}">
                <a16:creationId xmlns:a16="http://schemas.microsoft.com/office/drawing/2014/main" id="{51671887-EEE7-4A97-8030-8CDA672F723D}"/>
              </a:ext>
            </a:extLst>
          </p:cNvPr>
          <p:cNvSpPr>
            <a:spLocks xmlns:a="http://schemas.openxmlformats.org/drawingml/2006/main" noGrp="1"/>
          </p:cNvSpPr>
          <p:nvPr/>
        </p:nvSpPr>
        <p:spPr>
          <a:xfrm xmlns:a="http://schemas.openxmlformats.org/drawingml/2006/main">
            <a:off x="7620000" y="2076450"/>
            <a:ext cx="3886200" cy="3429000"/>
          </a:xfrm>
          <a:prstGeom xmlns:a="http://schemas.openxmlformats.org/drawingml/2006/main" prst="roundRect">
            <a:avLst>
              <a:gd name="adj" fmla="val 4444"/>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1962E5A1-6B24-4DE7-A391-D69603932CC5}"/>
              </a:ext>
            </a:extLst>
          </p:cNvPr>
          <p:cNvSpPr>
            <a:spLocks xmlns:a="http://schemas.openxmlformats.org/drawingml/2006/main" noGrp="1"/>
          </p:cNvSpPr>
          <p:nvPr/>
        </p:nvSpPr>
        <p:spPr>
          <a:xfrm xmlns:a="http://schemas.openxmlformats.org/drawingml/2006/main">
            <a:off x="7848600" y="226695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RAG choisi</a:t>
            </a:r>
          </a:p>
        </p:txBody>
      </p:sp>
      <p:sp>
        <p:nvSpPr>
          <p:cNvPr id="13" name="">
            <a:extLst xmlns:a="http://schemas.openxmlformats.org/drawingml/2006/main">
              <a:ext uri="{FF2B5EF4-FFF2-40B4-BE49-F238E27FC236}">
                <a16:creationId xmlns:a16="http://schemas.microsoft.com/office/drawing/2014/main" id="{D7146E2D-7D96-4098-B67F-592D56E8FFAD}"/>
              </a:ext>
            </a:extLst>
          </p:cNvPr>
          <p:cNvSpPr>
            <a:spLocks xmlns:a="http://schemas.openxmlformats.org/drawingml/2006/main" noGrp="1"/>
          </p:cNvSpPr>
          <p:nvPr/>
        </p:nvSpPr>
        <p:spPr>
          <a:xfrm xmlns:a="http://schemas.openxmlformats.org/drawingml/2006/main">
            <a:off x="7848600" y="2686050"/>
            <a:ext cx="3429000" cy="2590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0B6B69"/>
                </a:solidFill>
              </a:defRPr>
            </a:pPr>
            <a:r>
              <a:rPr sz="1200" b="1">
                <a:solidFill>
                  <a:srgbClr val="0B6B69"/>
                </a:solidFill>
              </a:rPr>
              <a:t>Recherche sémantique</a:t>
            </a:r>
          </a:p>
          <a:p xmlns:a="http://schemas.openxmlformats.org/drawingml/2006/main">
            <a:pPr>
              <a:buNone/>
              <a:defRPr sz="1200" b="1">
                <a:solidFill>
                  <a:srgbClr val="0B6B69"/>
                </a:solidFill>
              </a:defRPr>
            </a:pPr>
            <a:r>
              <a:rPr sz="1200" b="1">
                <a:solidFill>
                  <a:srgbClr val="0B6B69"/>
                </a:solidFill>
              </a:rPr>
              <a:t>+</a:t>
            </a:r>
          </a:p>
          <a:p xmlns:a="http://schemas.openxmlformats.org/drawingml/2006/main">
            <a:pPr>
              <a:buNone/>
              <a:defRPr sz="1200" b="1">
                <a:solidFill>
                  <a:srgbClr val="0B6B69"/>
                </a:solidFill>
              </a:defRPr>
            </a:pPr>
            <a:r>
              <a:rPr sz="1200" b="1">
                <a:solidFill>
                  <a:srgbClr val="0B6B69"/>
                </a:solidFill>
              </a:rPr>
              <a:t>Prompt fondé sur les sources</a:t>
            </a:r>
          </a:p>
          <a:p xmlns:a="http://schemas.openxmlformats.org/drawingml/2006/main">
            <a:pPr>
              <a:buNone/>
              <a:defRPr sz="1200" b="1">
                <a:solidFill>
                  <a:srgbClr val="0B6B69"/>
                </a:solidFill>
              </a:defRPr>
            </a:pPr>
            <a:r>
              <a:rPr sz="1200" b="1">
                <a:solidFill>
                  <a:srgbClr val="0B6B69"/>
                </a:solidFill>
              </a:rPr>
              <a:t>+</a:t>
            </a:r>
          </a:p>
          <a:p xmlns:a="http://schemas.openxmlformats.org/drawingml/2006/main">
            <a:pPr>
              <a:buNone/>
              <a:defRPr sz="1200" b="1">
                <a:solidFill>
                  <a:srgbClr val="0B6B69"/>
                </a:solidFill>
              </a:defRPr>
            </a:pPr>
            <a:r>
              <a:rPr sz="1200" b="1">
                <a:solidFill>
                  <a:srgbClr val="0B6B69"/>
                </a:solidFill>
              </a:rPr>
              <a:t>Réponse + liens vérifiables</a:t>
            </a:r>
          </a:p>
        </p:txBody>
      </p:sp>
    </p:spTree>
    <p:extLst>
      <p:ext uri="{BB962C8B-B14F-4D97-AF65-F5344CB8AC3E}">
        <p14:creationId xmlns:p14="http://schemas.microsoft.com/office/powerpoint/2010/main" val="756663807"/>
      </p:ext>
    </p:extLst>
  </p:cSld>
</p:sld>
</file>

<file path=ppt/slides/slide3.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5599F97-9507-437F-91BB-470AE53ED080}"/>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DONNÉES</a:t>
            </a:r>
          </a:p>
        </p:txBody>
      </p:sp>
      <p:sp>
        <p:nvSpPr>
          <p:cNvPr id="2" name="">
            <a:extLst xmlns:a="http://schemas.openxmlformats.org/drawingml/2006/main">
              <a:ext uri="{FF2B5EF4-FFF2-40B4-BE49-F238E27FC236}">
                <a16:creationId xmlns:a16="http://schemas.microsoft.com/office/drawing/2014/main" id="{F076215A-0EDF-485F-9B7A-08D5CEDCE47C}"/>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03</a:t>
            </a:r>
          </a:p>
        </p:txBody>
      </p:sp>
      <p:sp>
        <p:nvSpPr>
          <p:cNvPr id="3" name="">
            <a:extLst xmlns:a="http://schemas.openxmlformats.org/drawingml/2006/main">
              <a:ext uri="{FF2B5EF4-FFF2-40B4-BE49-F238E27FC236}">
                <a16:creationId xmlns:a16="http://schemas.microsoft.com/office/drawing/2014/main" id="{54B88FD5-5C21-43DB-8820-ED415170017F}"/>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250" b="1">
                <a:solidFill>
                  <a:srgbClr val="132A3A"/>
                </a:solidFill>
              </a:defRPr>
            </a:pPr>
            <a:r>
              <a:rPr sz="2250" b="1">
                <a:solidFill>
                  <a:srgbClr val="132A3A"/>
                </a:solidFill>
              </a:rPr>
              <a:t>Le nettoyage rend les données OpenAgenda exploitables</a:t>
            </a:r>
          </a:p>
        </p:txBody>
      </p:sp>
      <p:sp>
        <p:nvSpPr>
          <p:cNvPr id="4" name="">
            <a:extLst xmlns:a="http://schemas.openxmlformats.org/drawingml/2006/main">
              <a:ext uri="{FF2B5EF4-FFF2-40B4-BE49-F238E27FC236}">
                <a16:creationId xmlns:a16="http://schemas.microsoft.com/office/drawing/2014/main" id="{77E826E4-ED2B-46F6-9F5E-6785D1C8D654}"/>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5F6B73"/>
                </a:solidFill>
              </a:defRPr>
            </a:pPr>
            <a:r>
              <a:rPr sz="1200" b="0">
                <a:solidFill>
                  <a:srgbClr val="5F6B73"/>
                </a:solidFill>
              </a:rPr>
              <a:t>Je transforme un flux public hétérogène en corpus cohérent, filtré et traçable.</a:t>
            </a:r>
          </a:p>
        </p:txBody>
      </p:sp>
      <p:sp>
        <p:nvSpPr>
          <p:cNvPr id="5" name="">
            <a:extLst xmlns:a="http://schemas.openxmlformats.org/drawingml/2006/main">
              <a:ext uri="{FF2B5EF4-FFF2-40B4-BE49-F238E27FC236}">
                <a16:creationId xmlns:a16="http://schemas.microsoft.com/office/drawing/2014/main" id="{53802C70-5168-436D-838B-A57E6D509302}"/>
              </a:ext>
            </a:extLst>
          </p:cNvPr>
          <p:cNvSpPr>
            <a:spLocks xmlns:a="http://schemas.openxmlformats.org/drawingml/2006/main" noGrp="1"/>
          </p:cNvSpPr>
          <p:nvPr/>
        </p:nvSpPr>
        <p:spPr>
          <a:xfrm xmlns:a="http://schemas.openxmlformats.org/drawingml/2006/main">
            <a:off x="685800" y="2038350"/>
            <a:ext cx="3429000" cy="3143250"/>
          </a:xfrm>
          <a:prstGeom xmlns:a="http://schemas.openxmlformats.org/drawingml/2006/main" prst="roundRect">
            <a:avLst>
              <a:gd name="adj" fmla="val 4848"/>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733BB19A-2FB2-4A4D-92DA-D73B3AAF1FAB}"/>
              </a:ext>
            </a:extLst>
          </p:cNvPr>
          <p:cNvSpPr>
            <a:spLocks xmlns:a="http://schemas.openxmlformats.org/drawingml/2006/main" noGrp="1"/>
          </p:cNvSpPr>
          <p:nvPr/>
        </p:nvSpPr>
        <p:spPr>
          <a:xfrm xmlns:a="http://schemas.openxmlformats.org/drawingml/2006/main">
            <a:off x="914400" y="222885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Données brutes</a:t>
            </a:r>
          </a:p>
        </p:txBody>
      </p:sp>
      <p:sp>
        <p:nvSpPr>
          <p:cNvPr id="7" name="">
            <a:extLst xmlns:a="http://schemas.openxmlformats.org/drawingml/2006/main">
              <a:ext uri="{FF2B5EF4-FFF2-40B4-BE49-F238E27FC236}">
                <a16:creationId xmlns:a16="http://schemas.microsoft.com/office/drawing/2014/main" id="{81C0734E-3CEB-44A2-934F-BA47934E359A}"/>
              </a:ext>
            </a:extLst>
          </p:cNvPr>
          <p:cNvSpPr>
            <a:spLocks xmlns:a="http://schemas.openxmlformats.org/drawingml/2006/main" noGrp="1"/>
          </p:cNvSpPr>
          <p:nvPr/>
        </p:nvSpPr>
        <p:spPr>
          <a:xfrm xmlns:a="http://schemas.openxmlformats.org/drawingml/2006/main">
            <a:off x="914400" y="2647950"/>
            <a:ext cx="297180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132A3A"/>
                </a:solidFill>
              </a:defRPr>
            </a:pPr>
            <a:r>
              <a:rPr sz="1200" b="0">
                <a:solidFill>
                  <a:srgbClr val="132A3A"/>
                </a:solidFill>
              </a:rPr>
              <a:t>OpenAgenda via Opendatasoft</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Champs parfois absents</a:t>
            </a:r>
          </a:p>
          <a:p xmlns:a="http://schemas.openxmlformats.org/drawingml/2006/main">
            <a:pPr>
              <a:buNone/>
              <a:defRPr sz="1200" b="0">
                <a:solidFill>
                  <a:srgbClr val="132A3A"/>
                </a:solidFill>
              </a:defRPr>
            </a:pPr>
            <a:r>
              <a:rPr sz="1200" b="0">
                <a:solidFill>
                  <a:srgbClr val="132A3A"/>
                </a:solidFill>
              </a:rPr>
              <a:t>HTML, textes longs, formats variés</a:t>
            </a:r>
          </a:p>
          <a:p xmlns:a="http://schemas.openxmlformats.org/drawingml/2006/main">
            <a:pPr>
              <a:buNone/>
              <a:defRPr sz="1200" b="0">
                <a:solidFill>
                  <a:srgbClr val="132A3A"/>
                </a:solidFill>
              </a:defRPr>
            </a:pPr>
            <a:r>
              <a:rPr sz="1200" b="0">
                <a:solidFill>
                  <a:srgbClr val="132A3A"/>
                </a:solidFill>
              </a:rPr>
              <a:t>Doublons possibles</a:t>
            </a:r>
          </a:p>
        </p:txBody>
      </p:sp>
      <p:sp>
        <p:nvSpPr>
          <p:cNvPr id="8" name="">
            <a:extLst xmlns:a="http://schemas.openxmlformats.org/drawingml/2006/main">
              <a:ext uri="{FF2B5EF4-FFF2-40B4-BE49-F238E27FC236}">
                <a16:creationId xmlns:a16="http://schemas.microsoft.com/office/drawing/2014/main" id="{9263A723-D99E-4B4F-A872-F7881E220E4D}"/>
              </a:ext>
            </a:extLst>
          </p:cNvPr>
          <p:cNvSpPr>
            <a:spLocks xmlns:a="http://schemas.openxmlformats.org/drawingml/2006/main" noGrp="1"/>
          </p:cNvSpPr>
          <p:nvPr/>
        </p:nvSpPr>
        <p:spPr>
          <a:xfrm xmlns:a="http://schemas.openxmlformats.org/drawingml/2006/main">
            <a:off x="4381500" y="2038350"/>
            <a:ext cx="3143250" cy="3143250"/>
          </a:xfrm>
          <a:prstGeom xmlns:a="http://schemas.openxmlformats.org/drawingml/2006/main" prst="roundRect">
            <a:avLst>
              <a:gd name="adj" fmla="val 4848"/>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CC952A90-E66D-42DA-9F84-3E0DE9D698EE}"/>
              </a:ext>
            </a:extLst>
          </p:cNvPr>
          <p:cNvSpPr>
            <a:spLocks xmlns:a="http://schemas.openxmlformats.org/drawingml/2006/main" noGrp="1"/>
          </p:cNvSpPr>
          <p:nvPr/>
        </p:nvSpPr>
        <p:spPr>
          <a:xfrm xmlns:a="http://schemas.openxmlformats.org/drawingml/2006/main">
            <a:off x="4610100" y="2228850"/>
            <a:ext cx="2686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Nettoyage</a:t>
            </a:r>
          </a:p>
        </p:txBody>
      </p:sp>
      <p:sp>
        <p:nvSpPr>
          <p:cNvPr id="10" name="">
            <a:extLst xmlns:a="http://schemas.openxmlformats.org/drawingml/2006/main">
              <a:ext uri="{FF2B5EF4-FFF2-40B4-BE49-F238E27FC236}">
                <a16:creationId xmlns:a16="http://schemas.microsoft.com/office/drawing/2014/main" id="{FDAE153D-6D79-4399-BECE-5D04543A69F8}"/>
              </a:ext>
            </a:extLst>
          </p:cNvPr>
          <p:cNvSpPr>
            <a:spLocks xmlns:a="http://schemas.openxmlformats.org/drawingml/2006/main" noGrp="1"/>
          </p:cNvSpPr>
          <p:nvPr/>
        </p:nvSpPr>
        <p:spPr>
          <a:xfrm xmlns:a="http://schemas.openxmlformats.org/drawingml/2006/main">
            <a:off x="4610100" y="2647950"/>
            <a:ext cx="26860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0">
                <a:solidFill>
                  <a:srgbClr val="132A3A"/>
                </a:solidFill>
              </a:defRPr>
            </a:pPr>
            <a:r>
              <a:rPr sz="1125" b="0">
                <a:solidFill>
                  <a:srgbClr val="132A3A"/>
                </a:solidFill>
              </a:rPr>
              <a:t>Filtre Paris + fenêtre d’un an</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125" b="0">
                <a:solidFill>
                  <a:srgbClr val="132A3A"/>
                </a:solidFill>
              </a:defRPr>
            </a:pPr>
            <a:r>
              <a:rPr sz="1125" b="0">
                <a:solidFill>
                  <a:srgbClr val="132A3A"/>
                </a:solidFill>
              </a:rPr>
              <a:t>Suppression HTML et espaces</a:t>
            </a:r>
          </a:p>
          <a:p xmlns:a="http://schemas.openxmlformats.org/drawingml/2006/main">
            <a:pPr>
              <a:buNone/>
              <a:defRPr sz="1125" b="0">
                <a:solidFill>
                  <a:srgbClr val="132A3A"/>
                </a:solidFill>
              </a:defRPr>
            </a:pPr>
            <a:r>
              <a:rPr sz="1125" b="0">
                <a:solidFill>
                  <a:srgbClr val="132A3A"/>
                </a:solidFill>
              </a:rPr>
              <a:t>Normalisation des dates, lieux et catégories</a:t>
            </a:r>
          </a:p>
          <a:p xmlns:a="http://schemas.openxmlformats.org/drawingml/2006/main">
            <a:pPr>
              <a:buNone/>
              <a:defRPr sz="1125" b="0">
                <a:solidFill>
                  <a:srgbClr val="132A3A"/>
                </a:solidFill>
              </a:defRPr>
            </a:pPr>
            <a:r>
              <a:rPr sz="1125" b="0">
                <a:solidFill>
                  <a:srgbClr val="132A3A"/>
                </a:solidFill>
              </a:rPr>
              <a:t>Déduplication par event_uid</a:t>
            </a:r>
          </a:p>
        </p:txBody>
      </p:sp>
      <p:sp>
        <p:nvSpPr>
          <p:cNvPr id="11" name="">
            <a:extLst xmlns:a="http://schemas.openxmlformats.org/drawingml/2006/main">
              <a:ext uri="{FF2B5EF4-FFF2-40B4-BE49-F238E27FC236}">
                <a16:creationId xmlns:a16="http://schemas.microsoft.com/office/drawing/2014/main" id="{A42A0239-E23D-4AC5-8A6C-05A5AEE02ABB}"/>
              </a:ext>
            </a:extLst>
          </p:cNvPr>
          <p:cNvSpPr>
            <a:spLocks xmlns:a="http://schemas.openxmlformats.org/drawingml/2006/main" noGrp="1"/>
          </p:cNvSpPr>
          <p:nvPr/>
        </p:nvSpPr>
        <p:spPr>
          <a:xfrm xmlns:a="http://schemas.openxmlformats.org/drawingml/2006/main">
            <a:off x="7791450" y="2038350"/>
            <a:ext cx="3714750" cy="3143250"/>
          </a:xfrm>
          <a:prstGeom xmlns:a="http://schemas.openxmlformats.org/drawingml/2006/main" prst="roundRect">
            <a:avLst>
              <a:gd name="adj" fmla="val 4848"/>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EE7EEB2A-D872-4A1A-8A08-E2041A25182B}"/>
              </a:ext>
            </a:extLst>
          </p:cNvPr>
          <p:cNvSpPr>
            <a:spLocks xmlns:a="http://schemas.openxmlformats.org/drawingml/2006/main" noGrp="1"/>
          </p:cNvSpPr>
          <p:nvPr/>
        </p:nvSpPr>
        <p:spPr>
          <a:xfrm xmlns:a="http://schemas.openxmlformats.org/drawingml/2006/main">
            <a:off x="8020050" y="2228850"/>
            <a:ext cx="3257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Corpus prêt</a:t>
            </a:r>
          </a:p>
        </p:txBody>
      </p:sp>
      <p:sp>
        <p:nvSpPr>
          <p:cNvPr id="13" name="">
            <a:extLst xmlns:a="http://schemas.openxmlformats.org/drawingml/2006/main">
              <a:ext uri="{FF2B5EF4-FFF2-40B4-BE49-F238E27FC236}">
                <a16:creationId xmlns:a16="http://schemas.microsoft.com/office/drawing/2014/main" id="{E703B98A-E948-4DC6-8B18-9D6E36F3E5C8}"/>
              </a:ext>
            </a:extLst>
          </p:cNvPr>
          <p:cNvSpPr>
            <a:spLocks xmlns:a="http://schemas.openxmlformats.org/drawingml/2006/main" noGrp="1"/>
          </p:cNvSpPr>
          <p:nvPr/>
        </p:nvSpPr>
        <p:spPr>
          <a:xfrm xmlns:a="http://schemas.openxmlformats.org/drawingml/2006/main">
            <a:off x="8020050" y="2647950"/>
            <a:ext cx="3257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0B6B69"/>
                </a:solidFill>
              </a:defRPr>
            </a:pPr>
            <a:r>
              <a:rPr sz="1200" b="1">
                <a:solidFill>
                  <a:srgbClr val="0B6B69"/>
                </a:solidFill>
              </a:rPr>
              <a:t>7 586 événements normalisés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1">
                <a:solidFill>
                  <a:srgbClr val="0B6B69"/>
                </a:solidFill>
              </a:defRPr>
            </a:pPr>
            <a:r>
              <a:rPr sz="1200" b="1">
                <a:solidFill>
                  <a:srgbClr val="0B6B69"/>
                </a:solidFill>
              </a:rPr>
              <a:t>Titre · description · lieu</a:t>
            </a:r>
          </a:p>
          <a:p xmlns:a="http://schemas.openxmlformats.org/drawingml/2006/main">
            <a:pPr>
              <a:buNone/>
              <a:defRPr sz="1200" b="1">
                <a:solidFill>
                  <a:srgbClr val="0B6B69"/>
                </a:solidFill>
              </a:defRPr>
            </a:pPr>
            <a:r>
              <a:rPr sz="1200" b="1">
                <a:solidFill>
                  <a:srgbClr val="0B6B69"/>
                </a:solidFill>
              </a:rPr>
              <a:t>Date · URL · catégories</a:t>
            </a:r>
          </a:p>
          <a:p xmlns:a="http://schemas.openxmlformats.org/drawingml/2006/main">
            <a:pPr>
              <a:buNone/>
              <a:defRPr sz="1500" b="1">
                <a:solidFill>
                  <a:srgbClr val="0B6B69"/>
                </a:solidFill>
              </a:defRPr>
            </a:pPr>
            <a:r>
              <a:rPr sz="1500" b="1">
                <a:solidFill>
                  <a:srgbClr val="0B6B69"/>
                </a:solidFill>
              </a:rPr>
              <a:t/>
            </a:r>
          </a:p>
          <a:p xmlns:a="http://schemas.openxmlformats.org/drawingml/2006/main">
            <a:pPr>
              <a:buNone/>
              <a:defRPr sz="1200" b="1">
                <a:solidFill>
                  <a:srgbClr val="0B6B69"/>
                </a:solidFill>
              </a:defRPr>
            </a:pPr>
            <a:r>
              <a:rPr sz="1200" b="1">
                <a:solidFill>
                  <a:srgbClr val="0B6B69"/>
                </a:solidFill>
              </a:rPr>
              <a:t>Snapshot reproductible</a:t>
            </a:r>
          </a:p>
        </p:txBody>
      </p:sp>
    </p:spTree>
    <p:extLst>
      <p:ext uri="{BB962C8B-B14F-4D97-AF65-F5344CB8AC3E}">
        <p14:creationId xmlns:p14="http://schemas.microsoft.com/office/powerpoint/2010/main" val="2051824030"/>
      </p:ext>
    </p:extLst>
  </p:cSld>
</p:sld>
</file>

<file path=ppt/slides/slide4.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A37F2B-8E49-4163-AC13-5D45D2AB8AAE}"/>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INDEXATION</a:t>
            </a:r>
          </a:p>
        </p:txBody>
      </p:sp>
      <p:sp>
        <p:nvSpPr>
          <p:cNvPr id="2" name="">
            <a:extLst xmlns:a="http://schemas.openxmlformats.org/drawingml/2006/main">
              <a:ext uri="{FF2B5EF4-FFF2-40B4-BE49-F238E27FC236}">
                <a16:creationId xmlns:a16="http://schemas.microsoft.com/office/drawing/2014/main" id="{CE11DAE8-8574-4FFF-843B-0957D8352717}"/>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04</a:t>
            </a:r>
          </a:p>
        </p:txBody>
      </p:sp>
      <p:sp>
        <p:nvSpPr>
          <p:cNvPr id="3" name="">
            <a:extLst xmlns:a="http://schemas.openxmlformats.org/drawingml/2006/main">
              <a:ext uri="{FF2B5EF4-FFF2-40B4-BE49-F238E27FC236}">
                <a16:creationId xmlns:a16="http://schemas.microsoft.com/office/drawing/2014/main" id="{AFD10E79-8E75-46E8-9E10-425C25C3336F}"/>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250" b="1">
                <a:solidFill>
                  <a:srgbClr val="132A3A"/>
                </a:solidFill>
              </a:defRPr>
            </a:pPr>
            <a:r>
              <a:rPr sz="2250" b="1">
                <a:solidFill>
                  <a:srgbClr val="132A3A"/>
                </a:solidFill>
              </a:rPr>
              <a:t>Un événement réel devient plusieurs passages recherchables</a:t>
            </a:r>
          </a:p>
        </p:txBody>
      </p:sp>
      <p:sp>
        <p:nvSpPr>
          <p:cNvPr id="4" name="">
            <a:extLst xmlns:a="http://schemas.openxmlformats.org/drawingml/2006/main">
              <a:ext uri="{FF2B5EF4-FFF2-40B4-BE49-F238E27FC236}">
                <a16:creationId xmlns:a16="http://schemas.microsoft.com/office/drawing/2014/main" id="{DEF3B513-9DAD-4587-AFE5-E7481CAFD473}"/>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5F6B73"/>
                </a:solidFill>
              </a:defRPr>
            </a:pPr>
            <a:r>
              <a:rPr sz="1200" b="0">
                <a:solidFill>
                  <a:srgbClr val="5F6B73"/>
                </a:solidFill>
              </a:rPr>
              <a:t>Le chunking garde du contexte sans envoyer toute une longue description au modèle.</a:t>
            </a:r>
          </a:p>
        </p:txBody>
      </p:sp>
      <p:sp>
        <p:nvSpPr>
          <p:cNvPr id="5" name="">
            <a:extLst xmlns:a="http://schemas.openxmlformats.org/drawingml/2006/main">
              <a:ext uri="{FF2B5EF4-FFF2-40B4-BE49-F238E27FC236}">
                <a16:creationId xmlns:a16="http://schemas.microsoft.com/office/drawing/2014/main" id="{C13FF72F-2FF5-403C-A428-C096AE018A9C}"/>
              </a:ext>
            </a:extLst>
          </p:cNvPr>
          <p:cNvSpPr>
            <a:spLocks xmlns:a="http://schemas.openxmlformats.org/drawingml/2006/main" noGrp="1"/>
          </p:cNvSpPr>
          <p:nvPr/>
        </p:nvSpPr>
        <p:spPr>
          <a:xfrm xmlns:a="http://schemas.openxmlformats.org/drawingml/2006/main">
            <a:off x="685800" y="2095500"/>
            <a:ext cx="3429000" cy="3048000"/>
          </a:xfrm>
          <a:prstGeom xmlns:a="http://schemas.openxmlformats.org/drawingml/2006/main" prst="roundRect">
            <a:avLst>
              <a:gd name="adj" fmla="val 5000"/>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96FC3F3B-1A17-4228-BE36-FCA52BBC9A55}"/>
              </a:ext>
            </a:extLst>
          </p:cNvPr>
          <p:cNvSpPr>
            <a:spLocks xmlns:a="http://schemas.openxmlformats.org/drawingml/2006/main" noGrp="1"/>
          </p:cNvSpPr>
          <p:nvPr/>
        </p:nvSpPr>
        <p:spPr>
          <a:xfrm xmlns:a="http://schemas.openxmlformats.org/drawingml/2006/main">
            <a:off x="914400" y="22860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Exemple réel</a:t>
            </a:r>
          </a:p>
        </p:txBody>
      </p:sp>
      <p:sp>
        <p:nvSpPr>
          <p:cNvPr id="7" name="">
            <a:extLst xmlns:a="http://schemas.openxmlformats.org/drawingml/2006/main">
              <a:ext uri="{FF2B5EF4-FFF2-40B4-BE49-F238E27FC236}">
                <a16:creationId xmlns:a16="http://schemas.microsoft.com/office/drawing/2014/main" id="{ADB915A0-C48F-4F4A-A9E2-DB2E5B66D222}"/>
              </a:ext>
            </a:extLst>
          </p:cNvPr>
          <p:cNvSpPr>
            <a:spLocks xmlns:a="http://schemas.openxmlformats.org/drawingml/2006/main" noGrp="1"/>
          </p:cNvSpPr>
          <p:nvPr/>
        </p:nvSpPr>
        <p:spPr>
          <a:xfrm xmlns:a="http://schemas.openxmlformats.org/drawingml/2006/main">
            <a:off x="914400" y="2705100"/>
            <a:ext cx="297180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132A3A"/>
                </a:solidFill>
              </a:defRPr>
            </a:pPr>
            <a:r>
              <a:rPr sz="1200" b="0">
                <a:solidFill>
                  <a:srgbClr val="132A3A"/>
                </a:solidFill>
              </a:rPr>
              <a:t>Événement : CHIMERE</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Description : 10 273 caractères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Trop long pour une recherche fine</a:t>
            </a:r>
          </a:p>
          <a:p xmlns:a="http://schemas.openxmlformats.org/drawingml/2006/main">
            <a:pPr>
              <a:buNone/>
              <a:defRPr sz="1200" b="0">
                <a:solidFill>
                  <a:srgbClr val="132A3A"/>
                </a:solidFill>
              </a:defRPr>
            </a:pPr>
            <a:r>
              <a:rPr sz="1200" b="0">
                <a:solidFill>
                  <a:srgbClr val="132A3A"/>
                </a:solidFill>
              </a:rPr>
              <a:t>et pour un prompt compact</a:t>
            </a:r>
          </a:p>
        </p:txBody>
      </p:sp>
      <p:sp>
        <p:nvSpPr>
          <p:cNvPr id="8" name="">
            <a:extLst xmlns:a="http://schemas.openxmlformats.org/drawingml/2006/main">
              <a:ext uri="{FF2B5EF4-FFF2-40B4-BE49-F238E27FC236}">
                <a16:creationId xmlns:a16="http://schemas.microsoft.com/office/drawing/2014/main" id="{427835A3-F454-464C-A6A4-341C353F65F6}"/>
              </a:ext>
            </a:extLst>
          </p:cNvPr>
          <p:cNvSpPr>
            <a:spLocks xmlns:a="http://schemas.openxmlformats.org/drawingml/2006/main" noGrp="1"/>
          </p:cNvSpPr>
          <p:nvPr/>
        </p:nvSpPr>
        <p:spPr>
          <a:xfrm xmlns:a="http://schemas.openxmlformats.org/drawingml/2006/main">
            <a:off x="4381500" y="2095500"/>
            <a:ext cx="3333750" cy="3048000"/>
          </a:xfrm>
          <a:prstGeom xmlns:a="http://schemas.openxmlformats.org/drawingml/2006/main" prst="roundRect">
            <a:avLst>
              <a:gd name="adj" fmla="val 5000"/>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56E59469-D0FB-4EB1-8546-7EAFD995F158}"/>
              </a:ext>
            </a:extLst>
          </p:cNvPr>
          <p:cNvSpPr>
            <a:spLocks xmlns:a="http://schemas.openxmlformats.org/drawingml/2006/main" noGrp="1"/>
          </p:cNvSpPr>
          <p:nvPr/>
        </p:nvSpPr>
        <p:spPr>
          <a:xfrm xmlns:a="http://schemas.openxmlformats.org/drawingml/2006/main">
            <a:off x="4610100" y="228600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Découpage</a:t>
            </a:r>
          </a:p>
        </p:txBody>
      </p:sp>
      <p:sp>
        <p:nvSpPr>
          <p:cNvPr id="10" name="">
            <a:extLst xmlns:a="http://schemas.openxmlformats.org/drawingml/2006/main">
              <a:ext uri="{FF2B5EF4-FFF2-40B4-BE49-F238E27FC236}">
                <a16:creationId xmlns:a16="http://schemas.microsoft.com/office/drawing/2014/main" id="{AB1CFB30-18D7-444D-8650-008DEA0AC20E}"/>
              </a:ext>
            </a:extLst>
          </p:cNvPr>
          <p:cNvSpPr>
            <a:spLocks xmlns:a="http://schemas.openxmlformats.org/drawingml/2006/main" noGrp="1"/>
          </p:cNvSpPr>
          <p:nvPr/>
        </p:nvSpPr>
        <p:spPr>
          <a:xfrm xmlns:a="http://schemas.openxmlformats.org/drawingml/2006/main">
            <a:off x="4610100" y="2705100"/>
            <a:ext cx="287655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0">
                <a:solidFill>
                  <a:srgbClr val="132A3A"/>
                </a:solidFill>
              </a:defRPr>
            </a:pPr>
            <a:r>
              <a:rPr sz="1125" b="0">
                <a:solidFill>
                  <a:srgbClr val="132A3A"/>
                </a:solidFill>
              </a:rPr>
              <a:t>Chunk 0 : titre</a:t>
            </a:r>
          </a:p>
          <a:p xmlns:a="http://schemas.openxmlformats.org/drawingml/2006/main">
            <a:pPr>
              <a:buNone/>
              <a:defRPr sz="1125" b="0">
                <a:solidFill>
                  <a:srgbClr val="132A3A"/>
                </a:solidFill>
              </a:defRPr>
            </a:pPr>
            <a:r>
              <a:rPr sz="1125" b="0">
                <a:solidFill>
                  <a:srgbClr val="132A3A"/>
                </a:solidFill>
              </a:rPr>
              <a:t>Chunk 1 : 997 caractères</a:t>
            </a:r>
          </a:p>
          <a:p xmlns:a="http://schemas.openxmlformats.org/drawingml/2006/main">
            <a:pPr>
              <a:buNone/>
              <a:defRPr sz="1425" b="0">
                <a:solidFill>
                  <a:srgbClr val="132A3A"/>
                </a:solidFill>
              </a:defRPr>
            </a:pPr>
            <a:r>
              <a:rPr sz="1425" b="0">
                <a:solidFill>
                  <a:srgbClr val="132A3A"/>
                </a:solidFill>
              </a:rPr>
              <a:t/>
            </a:r>
          </a:p>
          <a:p xmlns:a="http://schemas.openxmlformats.org/drawingml/2006/main">
            <a:pPr>
              <a:buNone/>
              <a:defRPr sz="1125" b="0">
                <a:solidFill>
                  <a:srgbClr val="132A3A"/>
                </a:solidFill>
              </a:defRPr>
            </a:pPr>
            <a:r>
              <a:rPr sz="1125" b="0">
                <a:solidFill>
                  <a:srgbClr val="132A3A"/>
                </a:solidFill>
              </a:rPr>
              <a:t>Taille cible : 1 000 caractères</a:t>
            </a:r>
          </a:p>
          <a:p xmlns:a="http://schemas.openxmlformats.org/drawingml/2006/main">
            <a:pPr>
              <a:buNone/>
              <a:defRPr sz="1125" b="0">
                <a:solidFill>
                  <a:srgbClr val="132A3A"/>
                </a:solidFill>
              </a:defRPr>
            </a:pPr>
            <a:r>
              <a:rPr sz="1125" b="0">
                <a:solidFill>
                  <a:srgbClr val="132A3A"/>
                </a:solidFill>
              </a:rPr>
              <a:t>Chevauchement : 200 caractères</a:t>
            </a:r>
          </a:p>
          <a:p xmlns:a="http://schemas.openxmlformats.org/drawingml/2006/main">
            <a:pPr>
              <a:buNone/>
              <a:defRPr sz="1425" b="0">
                <a:solidFill>
                  <a:srgbClr val="132A3A"/>
                </a:solidFill>
              </a:defRPr>
            </a:pPr>
            <a:r>
              <a:rPr sz="1425" b="0">
                <a:solidFill>
                  <a:srgbClr val="132A3A"/>
                </a:solidFill>
              </a:rPr>
              <a:t/>
            </a:r>
          </a:p>
          <a:p xmlns:a="http://schemas.openxmlformats.org/drawingml/2006/main">
            <a:pPr>
              <a:buNone/>
              <a:defRPr sz="1125" b="0">
                <a:solidFill>
                  <a:srgbClr val="132A3A"/>
                </a:solidFill>
              </a:defRPr>
            </a:pPr>
            <a:r>
              <a:rPr sz="1125" b="0">
                <a:solidFill>
                  <a:srgbClr val="132A3A"/>
                </a:solidFill>
              </a:rPr>
              <a:t>La frontière est conservée</a:t>
            </a:r>
          </a:p>
        </p:txBody>
      </p:sp>
      <p:sp>
        <p:nvSpPr>
          <p:cNvPr id="11" name="">
            <a:extLst xmlns:a="http://schemas.openxmlformats.org/drawingml/2006/main">
              <a:ext uri="{FF2B5EF4-FFF2-40B4-BE49-F238E27FC236}">
                <a16:creationId xmlns:a16="http://schemas.microsoft.com/office/drawing/2014/main" id="{BEC3A71D-563D-4BE4-97DE-CD35C2B39ADD}"/>
              </a:ext>
            </a:extLst>
          </p:cNvPr>
          <p:cNvSpPr>
            <a:spLocks xmlns:a="http://schemas.openxmlformats.org/drawingml/2006/main" noGrp="1"/>
          </p:cNvSpPr>
          <p:nvPr/>
        </p:nvSpPr>
        <p:spPr>
          <a:xfrm xmlns:a="http://schemas.openxmlformats.org/drawingml/2006/main">
            <a:off x="7981950" y="2095500"/>
            <a:ext cx="3524250" cy="3048000"/>
          </a:xfrm>
          <a:prstGeom xmlns:a="http://schemas.openxmlformats.org/drawingml/2006/main" prst="roundRect">
            <a:avLst>
              <a:gd name="adj" fmla="val 5000"/>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0295D68E-FA85-44E3-83E9-713266BD210C}"/>
              </a:ext>
            </a:extLst>
          </p:cNvPr>
          <p:cNvSpPr>
            <a:spLocks xmlns:a="http://schemas.openxmlformats.org/drawingml/2006/main" noGrp="1"/>
          </p:cNvSpPr>
          <p:nvPr/>
        </p:nvSpPr>
        <p:spPr>
          <a:xfrm xmlns:a="http://schemas.openxmlformats.org/drawingml/2006/main">
            <a:off x="8210550" y="2286000"/>
            <a:ext cx="3067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Embedding + FAISS</a:t>
            </a:r>
          </a:p>
        </p:txBody>
      </p:sp>
      <p:sp>
        <p:nvSpPr>
          <p:cNvPr id="13" name="">
            <a:extLst xmlns:a="http://schemas.openxmlformats.org/drawingml/2006/main">
              <a:ext uri="{FF2B5EF4-FFF2-40B4-BE49-F238E27FC236}">
                <a16:creationId xmlns:a16="http://schemas.microsoft.com/office/drawing/2014/main" id="{74B2E583-FD9E-456B-A8C4-3BA732A56578}"/>
              </a:ext>
            </a:extLst>
          </p:cNvPr>
          <p:cNvSpPr>
            <a:spLocks xmlns:a="http://schemas.openxmlformats.org/drawingml/2006/main" noGrp="1"/>
          </p:cNvSpPr>
          <p:nvPr/>
        </p:nvSpPr>
        <p:spPr>
          <a:xfrm xmlns:a="http://schemas.openxmlformats.org/drawingml/2006/main">
            <a:off x="8210550" y="2705100"/>
            <a:ext cx="306705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0B6B69"/>
                </a:solidFill>
              </a:defRPr>
            </a:pPr>
            <a:r>
              <a:rPr sz="1200" b="1">
                <a:solidFill>
                  <a:srgbClr val="0B6B69"/>
                </a:solidFill>
              </a:rPr>
              <a:t>mistral-embed</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1">
                <a:solidFill>
                  <a:srgbClr val="0B6B69"/>
                </a:solidFill>
              </a:defRPr>
            </a:pPr>
            <a:r>
              <a:rPr sz="1200" b="1">
                <a:solidFill>
                  <a:srgbClr val="0B6B69"/>
                </a:solidFill>
              </a:rPr>
              <a:t>Vecteur de 1 024 dimensions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1">
                <a:solidFill>
                  <a:srgbClr val="0B6B69"/>
                </a:solidFill>
              </a:defRPr>
            </a:pPr>
            <a:r>
              <a:rPr sz="1200" b="1">
                <a:solidFill>
                  <a:srgbClr val="0B6B69"/>
                </a:solidFill>
              </a:rPr>
              <a:t>14 903 passages indexés</a:t>
            </a:r>
          </a:p>
          <a:p xmlns:a="http://schemas.openxmlformats.org/drawingml/2006/main">
            <a:pPr>
              <a:buNone/>
              <a:defRPr sz="1200" b="1">
                <a:solidFill>
                  <a:srgbClr val="0B6B69"/>
                </a:solidFill>
              </a:defRPr>
            </a:pPr>
            <a:r>
              <a:rPr sz="1200" b="1">
                <a:solidFill>
                  <a:srgbClr val="0B6B69"/>
                </a:solidFill>
              </a:rPr>
              <a:t>avec titre · date · lieu · URL</a:t>
            </a:r>
          </a:p>
        </p:txBody>
      </p:sp>
    </p:spTree>
    <p:extLst>
      <p:ext uri="{BB962C8B-B14F-4D97-AF65-F5344CB8AC3E}">
        <p14:creationId xmlns:p14="http://schemas.microsoft.com/office/powerpoint/2010/main" val="1651666983"/>
      </p:ext>
    </p:extLst>
  </p:cSld>
</p:sld>
</file>

<file path=ppt/slides/slide5.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B7AEF8A-6E27-4DE0-8681-D50D5D0CFACE}"/>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FONCTIONNEMENT</a:t>
            </a:r>
          </a:p>
        </p:txBody>
      </p:sp>
      <p:sp>
        <p:nvSpPr>
          <p:cNvPr id="2" name="">
            <a:extLst xmlns:a="http://schemas.openxmlformats.org/drawingml/2006/main">
              <a:ext uri="{FF2B5EF4-FFF2-40B4-BE49-F238E27FC236}">
                <a16:creationId xmlns:a16="http://schemas.microsoft.com/office/drawing/2014/main" id="{960EA67C-39F9-42C4-974F-D78284DAB04D}"/>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05</a:t>
            </a:r>
          </a:p>
        </p:txBody>
      </p:sp>
      <p:sp>
        <p:nvSpPr>
          <p:cNvPr id="3" name="">
            <a:extLst xmlns:a="http://schemas.openxmlformats.org/drawingml/2006/main">
              <a:ext uri="{FF2B5EF4-FFF2-40B4-BE49-F238E27FC236}">
                <a16:creationId xmlns:a16="http://schemas.microsoft.com/office/drawing/2014/main" id="{E5DB1D8A-D6F2-43F0-B33F-ACC17747F4CB}"/>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250" b="1">
                <a:solidFill>
                  <a:srgbClr val="132A3A"/>
                </a:solidFill>
              </a:defRPr>
            </a:pPr>
            <a:r>
              <a:rPr sz="2250" b="1">
                <a:solidFill>
                  <a:srgbClr val="132A3A"/>
                </a:solidFill>
              </a:rPr>
              <a:t>La réponse est contrainte par le prompt et les sources</a:t>
            </a:r>
          </a:p>
        </p:txBody>
      </p:sp>
      <p:sp>
        <p:nvSpPr>
          <p:cNvPr id="4" name="">
            <a:extLst xmlns:a="http://schemas.openxmlformats.org/drawingml/2006/main">
              <a:ext uri="{FF2B5EF4-FFF2-40B4-BE49-F238E27FC236}">
                <a16:creationId xmlns:a16="http://schemas.microsoft.com/office/drawing/2014/main" id="{9B76D11D-8949-4E5C-9C60-A1C877C94372}"/>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5F6B73"/>
                </a:solidFill>
              </a:defRPr>
            </a:pPr>
            <a:r>
              <a:rPr sz="1200" b="0">
                <a:solidFill>
                  <a:srgbClr val="5F6B73"/>
                </a:solidFill>
              </a:rPr>
              <a:t>L’embedding retrouve ; le modèle de chat formule la réponse à partir du contexte seulement.</a:t>
            </a:r>
          </a:p>
        </p:txBody>
      </p:sp>
      <p:sp>
        <p:nvSpPr>
          <p:cNvPr id="5" name="">
            <a:extLst xmlns:a="http://schemas.openxmlformats.org/drawingml/2006/main">
              <a:ext uri="{FF2B5EF4-FFF2-40B4-BE49-F238E27FC236}">
                <a16:creationId xmlns:a16="http://schemas.microsoft.com/office/drawing/2014/main" id="{944F9B7D-1FBC-4FD5-89D9-633E6EB12090}"/>
              </a:ext>
            </a:extLst>
          </p:cNvPr>
          <p:cNvSpPr>
            <a:spLocks xmlns:a="http://schemas.openxmlformats.org/drawingml/2006/main" noGrp="1"/>
          </p:cNvSpPr>
          <p:nvPr/>
        </p:nvSpPr>
        <p:spPr>
          <a:xfrm xmlns:a="http://schemas.openxmlformats.org/drawingml/2006/main">
            <a:off x="685800" y="2190750"/>
            <a:ext cx="3048000" cy="2476500"/>
          </a:xfrm>
          <a:prstGeom xmlns:a="http://schemas.openxmlformats.org/drawingml/2006/main" prst="roundRect">
            <a:avLst>
              <a:gd name="adj" fmla="val 6154"/>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6489F420-FA07-4C2B-887F-B5D0AB413B14}"/>
              </a:ext>
            </a:extLst>
          </p:cNvPr>
          <p:cNvSpPr>
            <a:spLocks xmlns:a="http://schemas.openxmlformats.org/drawingml/2006/main" noGrp="1"/>
          </p:cNvSpPr>
          <p:nvPr/>
        </p:nvSpPr>
        <p:spPr>
          <a:xfrm xmlns:a="http://schemas.openxmlformats.org/drawingml/2006/main">
            <a:off x="914400" y="2381250"/>
            <a:ext cx="2590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1. Rechercher</a:t>
            </a:r>
          </a:p>
        </p:txBody>
      </p:sp>
      <p:sp>
        <p:nvSpPr>
          <p:cNvPr id="7" name="">
            <a:extLst xmlns:a="http://schemas.openxmlformats.org/drawingml/2006/main">
              <a:ext uri="{FF2B5EF4-FFF2-40B4-BE49-F238E27FC236}">
                <a16:creationId xmlns:a16="http://schemas.microsoft.com/office/drawing/2014/main" id="{AFBCEAFD-3689-4A9E-A94C-61186B959F3D}"/>
              </a:ext>
            </a:extLst>
          </p:cNvPr>
          <p:cNvSpPr>
            <a:spLocks xmlns:a="http://schemas.openxmlformats.org/drawingml/2006/main" noGrp="1"/>
          </p:cNvSpPr>
          <p:nvPr/>
        </p:nvSpPr>
        <p:spPr>
          <a:xfrm xmlns:a="http://schemas.openxmlformats.org/drawingml/2006/main">
            <a:off x="914400" y="2800350"/>
            <a:ext cx="259080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132A3A"/>
                </a:solidFill>
              </a:defRPr>
            </a:pPr>
            <a:r>
              <a:rPr sz="1200" b="0">
                <a:solidFill>
                  <a:srgbClr val="132A3A"/>
                </a:solidFill>
              </a:rPr>
              <a:t>Question utilisateur</a:t>
            </a:r>
          </a:p>
          <a:p xmlns:a="http://schemas.openxmlformats.org/drawingml/2006/main">
            <a:pPr>
              <a:buNone/>
              <a:defRPr sz="1200" b="0">
                <a:solidFill>
                  <a:srgbClr val="132A3A"/>
                </a:solidFill>
              </a:defRPr>
            </a:pPr>
            <a:r>
              <a:rPr sz="1200" b="0">
                <a:solidFill>
                  <a:srgbClr val="132A3A"/>
                </a:solidFill>
              </a:rPr>
              <a:t>→ embedding de la question</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200" b="0">
                <a:solidFill>
                  <a:srgbClr val="132A3A"/>
                </a:solidFill>
              </a:defRPr>
            </a:pPr>
            <a:r>
              <a:rPr sz="1200" b="0">
                <a:solidFill>
                  <a:srgbClr val="132A3A"/>
                </a:solidFill>
              </a:rPr>
              <a:t>FAISS récupère top_k=4</a:t>
            </a:r>
          </a:p>
          <a:p xmlns:a="http://schemas.openxmlformats.org/drawingml/2006/main">
            <a:pPr>
              <a:buNone/>
              <a:defRPr sz="1200" b="0">
                <a:solidFill>
                  <a:srgbClr val="132A3A"/>
                </a:solidFill>
              </a:defRPr>
            </a:pPr>
            <a:r>
              <a:rPr sz="1200" b="0">
                <a:solidFill>
                  <a:srgbClr val="132A3A"/>
                </a:solidFill>
              </a:rPr>
              <a:t>passages les plus proches</a:t>
            </a:r>
          </a:p>
        </p:txBody>
      </p:sp>
      <p:sp>
        <p:nvSpPr>
          <p:cNvPr id="8" name="">
            <a:extLst xmlns:a="http://schemas.openxmlformats.org/drawingml/2006/main">
              <a:ext uri="{FF2B5EF4-FFF2-40B4-BE49-F238E27FC236}">
                <a16:creationId xmlns:a16="http://schemas.microsoft.com/office/drawing/2014/main" id="{A87E524E-9CFF-4304-A351-0A76032BC766}"/>
              </a:ext>
            </a:extLst>
          </p:cNvPr>
          <p:cNvSpPr>
            <a:spLocks xmlns:a="http://schemas.openxmlformats.org/drawingml/2006/main" noGrp="1"/>
          </p:cNvSpPr>
          <p:nvPr/>
        </p:nvSpPr>
        <p:spPr>
          <a:xfrm xmlns:a="http://schemas.openxmlformats.org/drawingml/2006/main">
            <a:off x="4572000" y="2190750"/>
            <a:ext cx="3048000" cy="2476500"/>
          </a:xfrm>
          <a:prstGeom xmlns:a="http://schemas.openxmlformats.org/drawingml/2006/main" prst="roundRect">
            <a:avLst>
              <a:gd name="adj" fmla="val 6154"/>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A5DAE871-75B4-4308-BEBF-6A3BD6EE1041}"/>
              </a:ext>
            </a:extLst>
          </p:cNvPr>
          <p:cNvSpPr>
            <a:spLocks xmlns:a="http://schemas.openxmlformats.org/drawingml/2006/main" noGrp="1"/>
          </p:cNvSpPr>
          <p:nvPr/>
        </p:nvSpPr>
        <p:spPr>
          <a:xfrm xmlns:a="http://schemas.openxmlformats.org/drawingml/2006/main">
            <a:off x="4800600" y="2381250"/>
            <a:ext cx="2590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2. Construire le prompt</a:t>
            </a:r>
          </a:p>
        </p:txBody>
      </p:sp>
      <p:sp>
        <p:nvSpPr>
          <p:cNvPr id="10" name="">
            <a:extLst xmlns:a="http://schemas.openxmlformats.org/drawingml/2006/main">
              <a:ext uri="{FF2B5EF4-FFF2-40B4-BE49-F238E27FC236}">
                <a16:creationId xmlns:a16="http://schemas.microsoft.com/office/drawing/2014/main" id="{F2A21354-25A0-4B03-AF00-8D999066CBD5}"/>
              </a:ext>
            </a:extLst>
          </p:cNvPr>
          <p:cNvSpPr>
            <a:spLocks xmlns:a="http://schemas.openxmlformats.org/drawingml/2006/main" noGrp="1"/>
          </p:cNvSpPr>
          <p:nvPr/>
        </p:nvSpPr>
        <p:spPr>
          <a:xfrm xmlns:a="http://schemas.openxmlformats.org/drawingml/2006/main">
            <a:off x="4800600" y="2800350"/>
            <a:ext cx="259080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0">
                <a:solidFill>
                  <a:srgbClr val="132A3A"/>
                </a:solidFill>
              </a:defRPr>
            </a:pPr>
            <a:r>
              <a:rPr sz="1125" b="0">
                <a:solidFill>
                  <a:srgbClr val="132A3A"/>
                </a:solidFill>
              </a:rPr>
              <a:t>Règles : uniquement le contexte</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125" b="0">
                <a:solidFill>
                  <a:srgbClr val="132A3A"/>
                </a:solidFill>
              </a:defRPr>
            </a:pPr>
            <a:r>
              <a:rPr sz="1125" b="0">
                <a:solidFill>
                  <a:srgbClr val="132A3A"/>
                </a:solidFill>
              </a:rPr>
              <a:t>Inclut : titre, lieu, date, URL</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125" b="0">
                <a:solidFill>
                  <a:srgbClr val="132A3A"/>
                </a:solidFill>
              </a:defRPr>
            </a:pPr>
            <a:r>
              <a:rPr sz="1125" b="0">
                <a:solidFill>
                  <a:srgbClr val="132A3A"/>
                </a:solidFill>
              </a:rPr>
              <a:t>Si le contexte manque :</a:t>
            </a:r>
          </a:p>
          <a:p xmlns:a="http://schemas.openxmlformats.org/drawingml/2006/main">
            <a:pPr>
              <a:buNone/>
              <a:defRPr sz="1125" b="0">
                <a:solidFill>
                  <a:srgbClr val="132A3A"/>
                </a:solidFill>
              </a:defRPr>
            </a:pPr>
            <a:r>
              <a:rPr sz="1125" b="0">
                <a:solidFill>
                  <a:srgbClr val="132A3A"/>
                </a:solidFill>
              </a:rPr>
              <a:t>“Je ne sais pas”</a:t>
            </a:r>
          </a:p>
        </p:txBody>
      </p:sp>
      <p:sp>
        <p:nvSpPr>
          <p:cNvPr id="11" name="">
            <a:extLst xmlns:a="http://schemas.openxmlformats.org/drawingml/2006/main">
              <a:ext uri="{FF2B5EF4-FFF2-40B4-BE49-F238E27FC236}">
                <a16:creationId xmlns:a16="http://schemas.microsoft.com/office/drawing/2014/main" id="{26720DFA-F5DC-4B98-952B-8FB6D3255323}"/>
              </a:ext>
            </a:extLst>
          </p:cNvPr>
          <p:cNvSpPr>
            <a:spLocks xmlns:a="http://schemas.openxmlformats.org/drawingml/2006/main" noGrp="1"/>
          </p:cNvSpPr>
          <p:nvPr/>
        </p:nvSpPr>
        <p:spPr>
          <a:xfrm xmlns:a="http://schemas.openxmlformats.org/drawingml/2006/main">
            <a:off x="8458200" y="2190750"/>
            <a:ext cx="3048000" cy="2476500"/>
          </a:xfrm>
          <a:prstGeom xmlns:a="http://schemas.openxmlformats.org/drawingml/2006/main" prst="roundRect">
            <a:avLst>
              <a:gd name="adj" fmla="val 6154"/>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BBC1187B-8855-480F-9176-CE868C0C4602}"/>
              </a:ext>
            </a:extLst>
          </p:cNvPr>
          <p:cNvSpPr>
            <a:spLocks xmlns:a="http://schemas.openxmlformats.org/drawingml/2006/main" noGrp="1"/>
          </p:cNvSpPr>
          <p:nvPr/>
        </p:nvSpPr>
        <p:spPr>
          <a:xfrm xmlns:a="http://schemas.openxmlformats.org/drawingml/2006/main">
            <a:off x="8686800" y="2381250"/>
            <a:ext cx="2590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3. Générer</a:t>
            </a:r>
          </a:p>
        </p:txBody>
      </p:sp>
      <p:sp>
        <p:nvSpPr>
          <p:cNvPr id="13" name="">
            <a:extLst xmlns:a="http://schemas.openxmlformats.org/drawingml/2006/main">
              <a:ext uri="{FF2B5EF4-FFF2-40B4-BE49-F238E27FC236}">
                <a16:creationId xmlns:a16="http://schemas.microsoft.com/office/drawing/2014/main" id="{AAEC097F-153F-4BDE-AD52-EB87BF783F10}"/>
              </a:ext>
            </a:extLst>
          </p:cNvPr>
          <p:cNvSpPr>
            <a:spLocks xmlns:a="http://schemas.openxmlformats.org/drawingml/2006/main" noGrp="1"/>
          </p:cNvSpPr>
          <p:nvPr/>
        </p:nvSpPr>
        <p:spPr>
          <a:xfrm xmlns:a="http://schemas.openxmlformats.org/drawingml/2006/main">
            <a:off x="8686800" y="2800350"/>
            <a:ext cx="259080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0B6B69"/>
                </a:solidFill>
              </a:defRPr>
            </a:pPr>
            <a:r>
              <a:rPr sz="1200" b="0">
                <a:solidFill>
                  <a:srgbClr val="0B6B69"/>
                </a:solidFill>
              </a:rPr>
              <a:t>mistral-small-latest</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200" b="0">
                <a:solidFill>
                  <a:srgbClr val="0B6B69"/>
                </a:solidFill>
              </a:defRPr>
            </a:pPr>
            <a:r>
              <a:rPr sz="1200" b="0">
                <a:solidFill>
                  <a:srgbClr val="0B6B69"/>
                </a:solidFill>
              </a:rPr>
              <a:t>Température 0,1</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200" b="0">
                <a:solidFill>
                  <a:srgbClr val="0B6B69"/>
                </a:solidFill>
              </a:defRPr>
            </a:pPr>
            <a:r>
              <a:rPr sz="1200" b="0">
                <a:solidFill>
                  <a:srgbClr val="0B6B69"/>
                </a:solidFill>
              </a:rPr>
              <a:t>Réponse concise en français</a:t>
            </a:r>
          </a:p>
          <a:p xmlns:a="http://schemas.openxmlformats.org/drawingml/2006/main">
            <a:pPr>
              <a:buNone/>
              <a:defRPr sz="1200" b="0">
                <a:solidFill>
                  <a:srgbClr val="0B6B69"/>
                </a:solidFill>
              </a:defRPr>
            </a:pPr>
            <a:r>
              <a:rPr sz="1200" b="0">
                <a:solidFill>
                  <a:srgbClr val="0B6B69"/>
                </a:solidFill>
              </a:rPr>
              <a:t>+ sources distinctes</a:t>
            </a:r>
          </a:p>
        </p:txBody>
      </p:sp>
      <p:sp>
        <p:nvSpPr>
          <p:cNvPr id="14" name="">
            <a:extLst xmlns:a="http://schemas.openxmlformats.org/drawingml/2006/main">
              <a:ext uri="{FF2B5EF4-FFF2-40B4-BE49-F238E27FC236}">
                <a16:creationId xmlns:a16="http://schemas.microsoft.com/office/drawing/2014/main" id="{7904E6B7-37EC-4FC4-A421-DC70B12C4790}"/>
              </a:ext>
            </a:extLst>
          </p:cNvPr>
          <p:cNvSpPr>
            <a:spLocks xmlns:a="http://schemas.openxmlformats.org/drawingml/2006/main" noGrp="1"/>
          </p:cNvSpPr>
          <p:nvPr/>
        </p:nvSpPr>
        <p:spPr>
          <a:xfrm xmlns:a="http://schemas.openxmlformats.org/drawingml/2006/main">
            <a:off x="685800" y="514350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B6B69"/>
                </a:solidFill>
              </a:defRPr>
            </a:pPr>
            <a:r>
              <a:rPr sz="1125" b="1">
                <a:solidFill>
                  <a:srgbClr val="0B6B69"/>
                </a:solidFill>
              </a:rPr>
              <a:t>Un modèle ne mémorise pas le catalogue : il consulte les passages retrouvés avant de répondre.</a:t>
            </a:r>
          </a:p>
        </p:txBody>
      </p:sp>
    </p:spTree>
    <p:extLst>
      <p:ext uri="{BB962C8B-B14F-4D97-AF65-F5344CB8AC3E}">
        <p14:creationId xmlns:p14="http://schemas.microsoft.com/office/powerpoint/2010/main" val="416675745"/>
      </p:ext>
    </p:extLst>
  </p:cSld>
</p:sld>
</file>

<file path=ppt/slides/slide6.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8A755B4-20A8-47AA-9A29-2EED01EBF3FE}"/>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ARCHITECTURE</a:t>
            </a:r>
          </a:p>
        </p:txBody>
      </p:sp>
      <p:sp>
        <p:nvSpPr>
          <p:cNvPr id="2" name="">
            <a:extLst xmlns:a="http://schemas.openxmlformats.org/drawingml/2006/main">
              <a:ext uri="{FF2B5EF4-FFF2-40B4-BE49-F238E27FC236}">
                <a16:creationId xmlns:a16="http://schemas.microsoft.com/office/drawing/2014/main" id="{FDD557EC-0B81-45FF-82DC-AFE38FB25AF2}"/>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06</a:t>
            </a:r>
          </a:p>
        </p:txBody>
      </p:sp>
      <p:sp>
        <p:nvSpPr>
          <p:cNvPr id="3" name="">
            <a:extLst xmlns:a="http://schemas.openxmlformats.org/drawingml/2006/main">
              <a:ext uri="{FF2B5EF4-FFF2-40B4-BE49-F238E27FC236}">
                <a16:creationId xmlns:a16="http://schemas.microsoft.com/office/drawing/2014/main" id="{984CA0BF-B043-491D-9FC3-81F40D4A1665}"/>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250" b="1">
                <a:solidFill>
                  <a:srgbClr val="132A3A"/>
                </a:solidFill>
              </a:defRPr>
            </a:pPr>
            <a:r>
              <a:rPr sz="2250" b="1">
                <a:solidFill>
                  <a:srgbClr val="132A3A"/>
                </a:solidFill>
              </a:rPr>
              <a:t>La chaîne isole chaque responsabilité</a:t>
            </a:r>
          </a:p>
        </p:txBody>
      </p:sp>
      <p:sp>
        <p:nvSpPr>
          <p:cNvPr id="4" name="">
            <a:extLst xmlns:a="http://schemas.openxmlformats.org/drawingml/2006/main">
              <a:ext uri="{FF2B5EF4-FFF2-40B4-BE49-F238E27FC236}">
                <a16:creationId xmlns:a16="http://schemas.microsoft.com/office/drawing/2014/main" id="{2EDEC4CE-7C3D-495B-BB44-73852D343D75}"/>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5F6B73"/>
                </a:solidFill>
              </a:defRPr>
            </a:pPr>
            <a:r>
              <a:rPr sz="1200" b="0">
                <a:solidFill>
                  <a:srgbClr val="5F6B73"/>
                </a:solidFill>
              </a:rPr>
              <a:t>Préparer l’index hors ligne permet de répondre vite et de tester chaque brique séparément.</a:t>
            </a:r>
          </a:p>
        </p:txBody>
      </p:sp>
      <p:sp>
        <p:nvSpPr>
          <p:cNvPr id="5" name="">
            <a:extLst xmlns:a="http://schemas.openxmlformats.org/drawingml/2006/main">
              <a:ext uri="{FF2B5EF4-FFF2-40B4-BE49-F238E27FC236}">
                <a16:creationId xmlns:a16="http://schemas.microsoft.com/office/drawing/2014/main" id="{52A07032-CBF6-40E5-A18B-0526FF1970D7}"/>
              </a:ext>
            </a:extLst>
          </p:cNvPr>
          <p:cNvSpPr>
            <a:spLocks xmlns:a="http://schemas.openxmlformats.org/drawingml/2006/main" noGrp="1"/>
          </p:cNvSpPr>
          <p:nvPr/>
        </p:nvSpPr>
        <p:spPr>
          <a:xfrm xmlns:a="http://schemas.openxmlformats.org/drawingml/2006/main">
            <a:off x="685800" y="2381250"/>
            <a:ext cx="1562100" cy="2000250"/>
          </a:xfrm>
          <a:prstGeom xmlns:a="http://schemas.openxmlformats.org/drawingml/2006/main" prst="roundRect">
            <a:avLst>
              <a:gd name="adj" fmla="val 9756"/>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11B43258-F0FA-4D7B-B9FD-968A178DF586}"/>
              </a:ext>
            </a:extLst>
          </p:cNvPr>
          <p:cNvSpPr>
            <a:spLocks xmlns:a="http://schemas.openxmlformats.org/drawingml/2006/main" noGrp="1"/>
          </p:cNvSpPr>
          <p:nvPr/>
        </p:nvSpPr>
        <p:spPr>
          <a:xfrm xmlns:a="http://schemas.openxmlformats.org/drawingml/2006/main">
            <a:off x="914400" y="2571750"/>
            <a:ext cx="1104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Collecter</a:t>
            </a:r>
          </a:p>
        </p:txBody>
      </p:sp>
      <p:sp>
        <p:nvSpPr>
          <p:cNvPr id="7" name="">
            <a:extLst xmlns:a="http://schemas.openxmlformats.org/drawingml/2006/main">
              <a:ext uri="{FF2B5EF4-FFF2-40B4-BE49-F238E27FC236}">
                <a16:creationId xmlns:a16="http://schemas.microsoft.com/office/drawing/2014/main" id="{85636DEB-28A8-43F3-B1E3-A9B60B95D280}"/>
              </a:ext>
            </a:extLst>
          </p:cNvPr>
          <p:cNvSpPr>
            <a:spLocks xmlns:a="http://schemas.openxmlformats.org/drawingml/2006/main" noGrp="1"/>
          </p:cNvSpPr>
          <p:nvPr/>
        </p:nvSpPr>
        <p:spPr>
          <a:xfrm xmlns:a="http://schemas.openxmlformats.org/drawingml/2006/main">
            <a:off x="914400" y="2990850"/>
            <a:ext cx="11049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0">
                <a:solidFill>
                  <a:srgbClr val="132A3A"/>
                </a:solidFill>
              </a:defRPr>
            </a:pPr>
            <a:r>
              <a:rPr sz="1125" b="0">
                <a:solidFill>
                  <a:srgbClr val="132A3A"/>
                </a:solidFill>
              </a:rPr>
              <a:t>OpenAgenda</a:t>
            </a:r>
          </a:p>
          <a:p xmlns:a="http://schemas.openxmlformats.org/drawingml/2006/main">
            <a:pPr>
              <a:buNone/>
              <a:defRPr sz="1125" b="0">
                <a:solidFill>
                  <a:srgbClr val="132A3A"/>
                </a:solidFill>
              </a:defRPr>
            </a:pPr>
            <a:r>
              <a:rPr sz="1125" b="0">
                <a:solidFill>
                  <a:srgbClr val="132A3A"/>
                </a:solidFill>
              </a:rPr>
              <a:t>→ JSON</a:t>
            </a:r>
          </a:p>
        </p:txBody>
      </p:sp>
      <p:sp>
        <p:nvSpPr>
          <p:cNvPr id="8" name="">
            <a:extLst xmlns:a="http://schemas.openxmlformats.org/drawingml/2006/main">
              <a:ext uri="{FF2B5EF4-FFF2-40B4-BE49-F238E27FC236}">
                <a16:creationId xmlns:a16="http://schemas.microsoft.com/office/drawing/2014/main" id="{141FA870-063E-4FD7-A2CF-89B043251ADB}"/>
              </a:ext>
            </a:extLst>
          </p:cNvPr>
          <p:cNvSpPr>
            <a:spLocks xmlns:a="http://schemas.openxmlformats.org/drawingml/2006/main" noGrp="1"/>
          </p:cNvSpPr>
          <p:nvPr/>
        </p:nvSpPr>
        <p:spPr>
          <a:xfrm xmlns:a="http://schemas.openxmlformats.org/drawingml/2006/main">
            <a:off x="2305050" y="316230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0B6B69"/>
                </a:solidFill>
              </a:defRPr>
            </a:pPr>
            <a:r>
              <a:rPr sz="1650" b="1">
                <a:solidFill>
                  <a:srgbClr val="0B6B69"/>
                </a:solidFill>
              </a:rPr>
              <a:t>→</a:t>
            </a:r>
          </a:p>
        </p:txBody>
      </p:sp>
      <p:sp>
        <p:nvSpPr>
          <p:cNvPr id="9" name="">
            <a:extLst xmlns:a="http://schemas.openxmlformats.org/drawingml/2006/main">
              <a:ext uri="{FF2B5EF4-FFF2-40B4-BE49-F238E27FC236}">
                <a16:creationId xmlns:a16="http://schemas.microsoft.com/office/drawing/2014/main" id="{CE5A3424-2AD9-438A-9B30-09A60DA0B5E5}"/>
              </a:ext>
            </a:extLst>
          </p:cNvPr>
          <p:cNvSpPr>
            <a:spLocks xmlns:a="http://schemas.openxmlformats.org/drawingml/2006/main" noGrp="1"/>
          </p:cNvSpPr>
          <p:nvPr/>
        </p:nvSpPr>
        <p:spPr>
          <a:xfrm xmlns:a="http://schemas.openxmlformats.org/drawingml/2006/main">
            <a:off x="2419350" y="2381250"/>
            <a:ext cx="1562100" cy="2000250"/>
          </a:xfrm>
          <a:prstGeom xmlns:a="http://schemas.openxmlformats.org/drawingml/2006/main" prst="roundRect">
            <a:avLst>
              <a:gd name="adj" fmla="val 9756"/>
            </a:avLst>
          </a:prstGeom>
          <a:solidFill xmlns:a="http://schemas.openxmlformats.org/drawingml/2006/main">
            <a:srgbClr val="FFF7F3"/>
          </a:solidFill>
          <a:ln xmlns:a="http://schemas.openxmlformats.org/drawingml/2006/main" w="9525">
            <a:solidFill>
              <a:srgbClr val="D9D2C7"/>
            </a:solidFill>
            <a:prstDash val="solid"/>
          </a:ln>
        </p:spPr>
      </p:sp>
      <p:sp>
        <p:nvSpPr>
          <p:cNvPr id="10" name="">
            <a:extLst xmlns:a="http://schemas.openxmlformats.org/drawingml/2006/main">
              <a:ext uri="{FF2B5EF4-FFF2-40B4-BE49-F238E27FC236}">
                <a16:creationId xmlns:a16="http://schemas.microsoft.com/office/drawing/2014/main" id="{ED81376B-70EB-4C33-9D51-CCD9EFB41D72}"/>
              </a:ext>
            </a:extLst>
          </p:cNvPr>
          <p:cNvSpPr>
            <a:spLocks xmlns:a="http://schemas.openxmlformats.org/drawingml/2006/main" noGrp="1"/>
          </p:cNvSpPr>
          <p:nvPr/>
        </p:nvSpPr>
        <p:spPr>
          <a:xfrm xmlns:a="http://schemas.openxmlformats.org/drawingml/2006/main">
            <a:off x="2647950" y="2571750"/>
            <a:ext cx="1104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Nettoyer</a:t>
            </a:r>
          </a:p>
        </p:txBody>
      </p:sp>
      <p:sp>
        <p:nvSpPr>
          <p:cNvPr id="11" name="">
            <a:extLst xmlns:a="http://schemas.openxmlformats.org/drawingml/2006/main">
              <a:ext uri="{FF2B5EF4-FFF2-40B4-BE49-F238E27FC236}">
                <a16:creationId xmlns:a16="http://schemas.microsoft.com/office/drawing/2014/main" id="{2D37988A-79CB-4623-8FF7-F0A7D66A9CE7}"/>
              </a:ext>
            </a:extLst>
          </p:cNvPr>
          <p:cNvSpPr>
            <a:spLocks xmlns:a="http://schemas.openxmlformats.org/drawingml/2006/main" noGrp="1"/>
          </p:cNvSpPr>
          <p:nvPr/>
        </p:nvSpPr>
        <p:spPr>
          <a:xfrm xmlns:a="http://schemas.openxmlformats.org/drawingml/2006/main">
            <a:off x="2647950" y="2990850"/>
            <a:ext cx="11049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0">
                <a:solidFill>
                  <a:srgbClr val="132A3A"/>
                </a:solidFill>
              </a:defRPr>
            </a:pPr>
            <a:r>
              <a:rPr sz="1125" b="0">
                <a:solidFill>
                  <a:srgbClr val="132A3A"/>
                </a:solidFill>
              </a:rPr>
              <a:t>filtrer</a:t>
            </a:r>
          </a:p>
          <a:p xmlns:a="http://schemas.openxmlformats.org/drawingml/2006/main">
            <a:pPr>
              <a:buNone/>
              <a:defRPr sz="1125" b="0">
                <a:solidFill>
                  <a:srgbClr val="132A3A"/>
                </a:solidFill>
              </a:defRPr>
            </a:pPr>
            <a:r>
              <a:rPr sz="1125" b="0">
                <a:solidFill>
                  <a:srgbClr val="132A3A"/>
                </a:solidFill>
              </a:rPr>
              <a:t>→ normaliser</a:t>
            </a:r>
          </a:p>
        </p:txBody>
      </p:sp>
      <p:sp>
        <p:nvSpPr>
          <p:cNvPr id="12" name="">
            <a:extLst xmlns:a="http://schemas.openxmlformats.org/drawingml/2006/main">
              <a:ext uri="{FF2B5EF4-FFF2-40B4-BE49-F238E27FC236}">
                <a16:creationId xmlns:a16="http://schemas.microsoft.com/office/drawing/2014/main" id="{971CA74E-27AC-45F0-9865-FF495207CBB1}"/>
              </a:ext>
            </a:extLst>
          </p:cNvPr>
          <p:cNvSpPr>
            <a:spLocks xmlns:a="http://schemas.openxmlformats.org/drawingml/2006/main" noGrp="1"/>
          </p:cNvSpPr>
          <p:nvPr/>
        </p:nvSpPr>
        <p:spPr>
          <a:xfrm xmlns:a="http://schemas.openxmlformats.org/drawingml/2006/main">
            <a:off x="4038600" y="316230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0B6B69"/>
                </a:solidFill>
              </a:defRPr>
            </a:pPr>
            <a:r>
              <a:rPr sz="1650" b="1">
                <a:solidFill>
                  <a:srgbClr val="0B6B69"/>
                </a:solidFill>
              </a:rPr>
              <a:t>→</a:t>
            </a:r>
          </a:p>
        </p:txBody>
      </p:sp>
      <p:sp>
        <p:nvSpPr>
          <p:cNvPr id="13" name="">
            <a:extLst xmlns:a="http://schemas.openxmlformats.org/drawingml/2006/main">
              <a:ext uri="{FF2B5EF4-FFF2-40B4-BE49-F238E27FC236}">
                <a16:creationId xmlns:a16="http://schemas.microsoft.com/office/drawing/2014/main" id="{FC860746-92BB-4DDB-94A7-CF64BA5F1161}"/>
              </a:ext>
            </a:extLst>
          </p:cNvPr>
          <p:cNvSpPr>
            <a:spLocks xmlns:a="http://schemas.openxmlformats.org/drawingml/2006/main" noGrp="1"/>
          </p:cNvSpPr>
          <p:nvPr/>
        </p:nvSpPr>
        <p:spPr>
          <a:xfrm xmlns:a="http://schemas.openxmlformats.org/drawingml/2006/main">
            <a:off x="4152900" y="2381250"/>
            <a:ext cx="1562100" cy="2000250"/>
          </a:xfrm>
          <a:prstGeom xmlns:a="http://schemas.openxmlformats.org/drawingml/2006/main" prst="roundRect">
            <a:avLst>
              <a:gd name="adj" fmla="val 9756"/>
            </a:avLst>
          </a:prstGeom>
          <a:solidFill xmlns:a="http://schemas.openxmlformats.org/drawingml/2006/main">
            <a:srgbClr val="FFF7F3"/>
          </a:solidFill>
          <a:ln xmlns:a="http://schemas.openxmlformats.org/drawingml/2006/main" w="9525">
            <a:solidFill>
              <a:srgbClr val="D9D2C7"/>
            </a:solidFill>
            <a:prstDash val="solid"/>
          </a:ln>
        </p:spPr>
      </p:sp>
      <p:sp>
        <p:nvSpPr>
          <p:cNvPr id="14" name="">
            <a:extLst xmlns:a="http://schemas.openxmlformats.org/drawingml/2006/main">
              <a:ext uri="{FF2B5EF4-FFF2-40B4-BE49-F238E27FC236}">
                <a16:creationId xmlns:a16="http://schemas.microsoft.com/office/drawing/2014/main" id="{463B9436-8D10-47E3-A888-DE73F51F6A24}"/>
              </a:ext>
            </a:extLst>
          </p:cNvPr>
          <p:cNvSpPr>
            <a:spLocks xmlns:a="http://schemas.openxmlformats.org/drawingml/2006/main" noGrp="1"/>
          </p:cNvSpPr>
          <p:nvPr/>
        </p:nvSpPr>
        <p:spPr>
          <a:xfrm xmlns:a="http://schemas.openxmlformats.org/drawingml/2006/main">
            <a:off x="4381500" y="2571750"/>
            <a:ext cx="1104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Indexer</a:t>
            </a:r>
          </a:p>
        </p:txBody>
      </p:sp>
      <p:sp>
        <p:nvSpPr>
          <p:cNvPr id="15" name="">
            <a:extLst xmlns:a="http://schemas.openxmlformats.org/drawingml/2006/main">
              <a:ext uri="{FF2B5EF4-FFF2-40B4-BE49-F238E27FC236}">
                <a16:creationId xmlns:a16="http://schemas.microsoft.com/office/drawing/2014/main" id="{2C92C46C-9681-465F-BFE6-DD0D96F429ED}"/>
              </a:ext>
            </a:extLst>
          </p:cNvPr>
          <p:cNvSpPr>
            <a:spLocks xmlns:a="http://schemas.openxmlformats.org/drawingml/2006/main" noGrp="1"/>
          </p:cNvSpPr>
          <p:nvPr/>
        </p:nvSpPr>
        <p:spPr>
          <a:xfrm xmlns:a="http://schemas.openxmlformats.org/drawingml/2006/main">
            <a:off x="4381500" y="2990850"/>
            <a:ext cx="11049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0">
                <a:solidFill>
                  <a:srgbClr val="132A3A"/>
                </a:solidFill>
              </a:defRPr>
            </a:pPr>
            <a:r>
              <a:rPr sz="1125" b="0">
                <a:solidFill>
                  <a:srgbClr val="132A3A"/>
                </a:solidFill>
              </a:rPr>
              <a:t>chunks</a:t>
            </a:r>
          </a:p>
          <a:p xmlns:a="http://schemas.openxmlformats.org/drawingml/2006/main">
            <a:pPr>
              <a:buNone/>
              <a:defRPr sz="1125" b="0">
                <a:solidFill>
                  <a:srgbClr val="132A3A"/>
                </a:solidFill>
              </a:defRPr>
            </a:pPr>
            <a:r>
              <a:rPr sz="1125" b="0">
                <a:solidFill>
                  <a:srgbClr val="132A3A"/>
                </a:solidFill>
              </a:rPr>
              <a:t>→ FAISS</a:t>
            </a:r>
          </a:p>
        </p:txBody>
      </p:sp>
      <p:sp>
        <p:nvSpPr>
          <p:cNvPr id="16" name="">
            <a:extLst xmlns:a="http://schemas.openxmlformats.org/drawingml/2006/main">
              <a:ext uri="{FF2B5EF4-FFF2-40B4-BE49-F238E27FC236}">
                <a16:creationId xmlns:a16="http://schemas.microsoft.com/office/drawing/2014/main" id="{D4905D06-F127-4E6A-B931-FAE58F517034}"/>
              </a:ext>
            </a:extLst>
          </p:cNvPr>
          <p:cNvSpPr>
            <a:spLocks xmlns:a="http://schemas.openxmlformats.org/drawingml/2006/main" noGrp="1"/>
          </p:cNvSpPr>
          <p:nvPr/>
        </p:nvSpPr>
        <p:spPr>
          <a:xfrm xmlns:a="http://schemas.openxmlformats.org/drawingml/2006/main">
            <a:off x="5772150" y="316230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0B6B69"/>
                </a:solidFill>
              </a:defRPr>
            </a:pPr>
            <a:r>
              <a:rPr sz="1650" b="1">
                <a:solidFill>
                  <a:srgbClr val="0B6B69"/>
                </a:solidFill>
              </a:rPr>
              <a:t>→</a:t>
            </a:r>
          </a:p>
        </p:txBody>
      </p:sp>
      <p:sp>
        <p:nvSpPr>
          <p:cNvPr id="17" name="">
            <a:extLst xmlns:a="http://schemas.openxmlformats.org/drawingml/2006/main">
              <a:ext uri="{FF2B5EF4-FFF2-40B4-BE49-F238E27FC236}">
                <a16:creationId xmlns:a16="http://schemas.microsoft.com/office/drawing/2014/main" id="{A073F971-3F43-425A-BB4E-B799A4CCE31C}"/>
              </a:ext>
            </a:extLst>
          </p:cNvPr>
          <p:cNvSpPr>
            <a:spLocks xmlns:a="http://schemas.openxmlformats.org/drawingml/2006/main" noGrp="1"/>
          </p:cNvSpPr>
          <p:nvPr/>
        </p:nvSpPr>
        <p:spPr>
          <a:xfrm xmlns:a="http://schemas.openxmlformats.org/drawingml/2006/main">
            <a:off x="5886450" y="2381250"/>
            <a:ext cx="1562100" cy="2000250"/>
          </a:xfrm>
          <a:prstGeom xmlns:a="http://schemas.openxmlformats.org/drawingml/2006/main" prst="roundRect">
            <a:avLst>
              <a:gd name="adj" fmla="val 9756"/>
            </a:avLst>
          </a:prstGeom>
          <a:solidFill xmlns:a="http://schemas.openxmlformats.org/drawingml/2006/main">
            <a:srgbClr val="FFF7F3"/>
          </a:solidFill>
          <a:ln xmlns:a="http://schemas.openxmlformats.org/drawingml/2006/main" w="9525">
            <a:solidFill>
              <a:srgbClr val="D9D2C7"/>
            </a:solidFill>
            <a:prstDash val="solid"/>
          </a:ln>
        </p:spPr>
      </p:sp>
      <p:sp>
        <p:nvSpPr>
          <p:cNvPr id="18" name="">
            <a:extLst xmlns:a="http://schemas.openxmlformats.org/drawingml/2006/main">
              <a:ext uri="{FF2B5EF4-FFF2-40B4-BE49-F238E27FC236}">
                <a16:creationId xmlns:a16="http://schemas.microsoft.com/office/drawing/2014/main" id="{CEDA8B0A-F681-4B0A-A0A1-1ACE427B744D}"/>
              </a:ext>
            </a:extLst>
          </p:cNvPr>
          <p:cNvSpPr>
            <a:spLocks xmlns:a="http://schemas.openxmlformats.org/drawingml/2006/main" noGrp="1"/>
          </p:cNvSpPr>
          <p:nvPr/>
        </p:nvSpPr>
        <p:spPr>
          <a:xfrm xmlns:a="http://schemas.openxmlformats.org/drawingml/2006/main">
            <a:off x="6115050" y="2571750"/>
            <a:ext cx="1104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Répondre</a:t>
            </a:r>
          </a:p>
        </p:txBody>
      </p:sp>
      <p:sp>
        <p:nvSpPr>
          <p:cNvPr id="19" name="">
            <a:extLst xmlns:a="http://schemas.openxmlformats.org/drawingml/2006/main">
              <a:ext uri="{FF2B5EF4-FFF2-40B4-BE49-F238E27FC236}">
                <a16:creationId xmlns:a16="http://schemas.microsoft.com/office/drawing/2014/main" id="{BB779674-096E-4462-B02F-75366A21D4A4}"/>
              </a:ext>
            </a:extLst>
          </p:cNvPr>
          <p:cNvSpPr>
            <a:spLocks xmlns:a="http://schemas.openxmlformats.org/drawingml/2006/main" noGrp="1"/>
          </p:cNvSpPr>
          <p:nvPr/>
        </p:nvSpPr>
        <p:spPr>
          <a:xfrm xmlns:a="http://schemas.openxmlformats.org/drawingml/2006/main">
            <a:off x="6115050" y="2990850"/>
            <a:ext cx="11049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0">
                <a:solidFill>
                  <a:srgbClr val="132A3A"/>
                </a:solidFill>
              </a:defRPr>
            </a:pPr>
            <a:r>
              <a:rPr sz="1125" b="0">
                <a:solidFill>
                  <a:srgbClr val="132A3A"/>
                </a:solidFill>
              </a:rPr>
              <a:t>retrieval</a:t>
            </a:r>
          </a:p>
          <a:p xmlns:a="http://schemas.openxmlformats.org/drawingml/2006/main">
            <a:pPr>
              <a:buNone/>
              <a:defRPr sz="1125" b="0">
                <a:solidFill>
                  <a:srgbClr val="132A3A"/>
                </a:solidFill>
              </a:defRPr>
            </a:pPr>
            <a:r>
              <a:rPr sz="1125" b="0">
                <a:solidFill>
                  <a:srgbClr val="132A3A"/>
                </a:solidFill>
              </a:rPr>
              <a:t>→ Mistral</a:t>
            </a:r>
          </a:p>
        </p:txBody>
      </p:sp>
      <p:sp>
        <p:nvSpPr>
          <p:cNvPr id="20" name="">
            <a:extLst xmlns:a="http://schemas.openxmlformats.org/drawingml/2006/main">
              <a:ext uri="{FF2B5EF4-FFF2-40B4-BE49-F238E27FC236}">
                <a16:creationId xmlns:a16="http://schemas.microsoft.com/office/drawing/2014/main" id="{2A305647-2D2A-4B43-9269-F09C484E6A82}"/>
              </a:ext>
            </a:extLst>
          </p:cNvPr>
          <p:cNvSpPr>
            <a:spLocks xmlns:a="http://schemas.openxmlformats.org/drawingml/2006/main" noGrp="1"/>
          </p:cNvSpPr>
          <p:nvPr/>
        </p:nvSpPr>
        <p:spPr>
          <a:xfrm xmlns:a="http://schemas.openxmlformats.org/drawingml/2006/main">
            <a:off x="7505700" y="316230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0B6B69"/>
                </a:solidFill>
              </a:defRPr>
            </a:pPr>
            <a:r>
              <a:rPr sz="1650" b="1">
                <a:solidFill>
                  <a:srgbClr val="0B6B69"/>
                </a:solidFill>
              </a:rPr>
              <a:t>→</a:t>
            </a:r>
          </a:p>
        </p:txBody>
      </p:sp>
      <p:sp>
        <p:nvSpPr>
          <p:cNvPr id="21" name="">
            <a:extLst xmlns:a="http://schemas.openxmlformats.org/drawingml/2006/main">
              <a:ext uri="{FF2B5EF4-FFF2-40B4-BE49-F238E27FC236}">
                <a16:creationId xmlns:a16="http://schemas.microsoft.com/office/drawing/2014/main" id="{9D3697A3-AFB2-497D-8AE7-A89E4232ED61}"/>
              </a:ext>
            </a:extLst>
          </p:cNvPr>
          <p:cNvSpPr>
            <a:spLocks xmlns:a="http://schemas.openxmlformats.org/drawingml/2006/main" noGrp="1"/>
          </p:cNvSpPr>
          <p:nvPr/>
        </p:nvSpPr>
        <p:spPr>
          <a:xfrm xmlns:a="http://schemas.openxmlformats.org/drawingml/2006/main">
            <a:off x="7620000" y="2381250"/>
            <a:ext cx="1562100" cy="2000250"/>
          </a:xfrm>
          <a:prstGeom xmlns:a="http://schemas.openxmlformats.org/drawingml/2006/main" prst="roundRect">
            <a:avLst>
              <a:gd name="adj" fmla="val 9756"/>
            </a:avLst>
          </a:prstGeom>
          <a:solidFill xmlns:a="http://schemas.openxmlformats.org/drawingml/2006/main">
            <a:srgbClr val="FFF7F3"/>
          </a:solidFill>
          <a:ln xmlns:a="http://schemas.openxmlformats.org/drawingml/2006/main" w="9525">
            <a:solidFill>
              <a:srgbClr val="D9D2C7"/>
            </a:solidFill>
            <a:prstDash val="solid"/>
          </a:ln>
        </p:spPr>
      </p:sp>
      <p:sp>
        <p:nvSpPr>
          <p:cNvPr id="22" name="">
            <a:extLst xmlns:a="http://schemas.openxmlformats.org/drawingml/2006/main">
              <a:ext uri="{FF2B5EF4-FFF2-40B4-BE49-F238E27FC236}">
                <a16:creationId xmlns:a16="http://schemas.microsoft.com/office/drawing/2014/main" id="{A01F2443-CBD1-4EB6-B907-67FBC27CF317}"/>
              </a:ext>
            </a:extLst>
          </p:cNvPr>
          <p:cNvSpPr>
            <a:spLocks xmlns:a="http://schemas.openxmlformats.org/drawingml/2006/main" noGrp="1"/>
          </p:cNvSpPr>
          <p:nvPr/>
        </p:nvSpPr>
        <p:spPr>
          <a:xfrm xmlns:a="http://schemas.openxmlformats.org/drawingml/2006/main">
            <a:off x="7848600" y="2571750"/>
            <a:ext cx="1104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Exposer</a:t>
            </a:r>
          </a:p>
        </p:txBody>
      </p:sp>
      <p:sp>
        <p:nvSpPr>
          <p:cNvPr id="23" name="">
            <a:extLst xmlns:a="http://schemas.openxmlformats.org/drawingml/2006/main">
              <a:ext uri="{FF2B5EF4-FFF2-40B4-BE49-F238E27FC236}">
                <a16:creationId xmlns:a16="http://schemas.microsoft.com/office/drawing/2014/main" id="{9D933D90-0737-444F-A418-B887E9561B20}"/>
              </a:ext>
            </a:extLst>
          </p:cNvPr>
          <p:cNvSpPr>
            <a:spLocks xmlns:a="http://schemas.openxmlformats.org/drawingml/2006/main" noGrp="1"/>
          </p:cNvSpPr>
          <p:nvPr/>
        </p:nvSpPr>
        <p:spPr>
          <a:xfrm xmlns:a="http://schemas.openxmlformats.org/drawingml/2006/main">
            <a:off x="7848600" y="2990850"/>
            <a:ext cx="11049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0">
                <a:solidFill>
                  <a:srgbClr val="132A3A"/>
                </a:solidFill>
              </a:defRPr>
            </a:pPr>
            <a:r>
              <a:rPr sz="1125" b="0">
                <a:solidFill>
                  <a:srgbClr val="132A3A"/>
                </a:solidFill>
              </a:rPr>
              <a:t>FastAPI</a:t>
            </a:r>
          </a:p>
          <a:p xmlns:a="http://schemas.openxmlformats.org/drawingml/2006/main">
            <a:pPr>
              <a:buNone/>
              <a:defRPr sz="1125" b="0">
                <a:solidFill>
                  <a:srgbClr val="132A3A"/>
                </a:solidFill>
              </a:defRPr>
            </a:pPr>
            <a:r>
              <a:rPr sz="1125" b="0">
                <a:solidFill>
                  <a:srgbClr val="132A3A"/>
                </a:solidFill>
              </a:rPr>
              <a:t>→ JSON</a:t>
            </a:r>
          </a:p>
        </p:txBody>
      </p:sp>
      <p:sp>
        <p:nvSpPr>
          <p:cNvPr id="24" name="">
            <a:extLst xmlns:a="http://schemas.openxmlformats.org/drawingml/2006/main">
              <a:ext uri="{FF2B5EF4-FFF2-40B4-BE49-F238E27FC236}">
                <a16:creationId xmlns:a16="http://schemas.microsoft.com/office/drawing/2014/main" id="{643F5472-555A-47F2-B9DB-14FBE8EF14FD}"/>
              </a:ext>
            </a:extLst>
          </p:cNvPr>
          <p:cNvSpPr>
            <a:spLocks xmlns:a="http://schemas.openxmlformats.org/drawingml/2006/main" noGrp="1"/>
          </p:cNvSpPr>
          <p:nvPr/>
        </p:nvSpPr>
        <p:spPr>
          <a:xfrm xmlns:a="http://schemas.openxmlformats.org/drawingml/2006/main">
            <a:off x="9239250" y="316230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0B6B69"/>
                </a:solidFill>
              </a:defRPr>
            </a:pPr>
            <a:r>
              <a:rPr sz="1650" b="1">
                <a:solidFill>
                  <a:srgbClr val="0B6B69"/>
                </a:solidFill>
              </a:rPr>
              <a:t>→</a:t>
            </a:r>
          </a:p>
        </p:txBody>
      </p:sp>
      <p:sp>
        <p:nvSpPr>
          <p:cNvPr id="25" name="">
            <a:extLst xmlns:a="http://schemas.openxmlformats.org/drawingml/2006/main">
              <a:ext uri="{FF2B5EF4-FFF2-40B4-BE49-F238E27FC236}">
                <a16:creationId xmlns:a16="http://schemas.microsoft.com/office/drawing/2014/main" id="{244DD266-A077-4512-8854-530E58EBA6D2}"/>
              </a:ext>
            </a:extLst>
          </p:cNvPr>
          <p:cNvSpPr>
            <a:spLocks xmlns:a="http://schemas.openxmlformats.org/drawingml/2006/main" noGrp="1"/>
          </p:cNvSpPr>
          <p:nvPr/>
        </p:nvSpPr>
        <p:spPr>
          <a:xfrm xmlns:a="http://schemas.openxmlformats.org/drawingml/2006/main">
            <a:off x="9353550" y="2381250"/>
            <a:ext cx="1562100" cy="2000250"/>
          </a:xfrm>
          <a:prstGeom xmlns:a="http://schemas.openxmlformats.org/drawingml/2006/main" prst="roundRect">
            <a:avLst>
              <a:gd name="adj" fmla="val 9756"/>
            </a:avLst>
          </a:prstGeom>
          <a:solidFill xmlns:a="http://schemas.openxmlformats.org/drawingml/2006/main">
            <a:srgbClr val="FFF7F3"/>
          </a:solidFill>
          <a:ln xmlns:a="http://schemas.openxmlformats.org/drawingml/2006/main" w="9525">
            <a:solidFill>
              <a:srgbClr val="D9D2C7"/>
            </a:solidFill>
            <a:prstDash val="solid"/>
          </a:ln>
        </p:spPr>
      </p:sp>
      <p:sp>
        <p:nvSpPr>
          <p:cNvPr id="26" name="">
            <a:extLst xmlns:a="http://schemas.openxmlformats.org/drawingml/2006/main">
              <a:ext uri="{FF2B5EF4-FFF2-40B4-BE49-F238E27FC236}">
                <a16:creationId xmlns:a16="http://schemas.microsoft.com/office/drawing/2014/main" id="{68C82329-2E7D-47B0-BDF0-2B44A827F3C2}"/>
              </a:ext>
            </a:extLst>
          </p:cNvPr>
          <p:cNvSpPr>
            <a:spLocks xmlns:a="http://schemas.openxmlformats.org/drawingml/2006/main" noGrp="1"/>
          </p:cNvSpPr>
          <p:nvPr/>
        </p:nvSpPr>
        <p:spPr>
          <a:xfrm xmlns:a="http://schemas.openxmlformats.org/drawingml/2006/main">
            <a:off x="9582150" y="2571750"/>
            <a:ext cx="1104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Déployer</a:t>
            </a:r>
          </a:p>
        </p:txBody>
      </p:sp>
      <p:sp>
        <p:nvSpPr>
          <p:cNvPr id="27" name="">
            <a:extLst xmlns:a="http://schemas.openxmlformats.org/drawingml/2006/main">
              <a:ext uri="{FF2B5EF4-FFF2-40B4-BE49-F238E27FC236}">
                <a16:creationId xmlns:a16="http://schemas.microsoft.com/office/drawing/2014/main" id="{8027CC64-972B-460C-B4EB-1A952FFFCA15}"/>
              </a:ext>
            </a:extLst>
          </p:cNvPr>
          <p:cNvSpPr>
            <a:spLocks xmlns:a="http://schemas.openxmlformats.org/drawingml/2006/main" noGrp="1"/>
          </p:cNvSpPr>
          <p:nvPr/>
        </p:nvSpPr>
        <p:spPr>
          <a:xfrm xmlns:a="http://schemas.openxmlformats.org/drawingml/2006/main">
            <a:off x="9582150" y="2990850"/>
            <a:ext cx="11049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0">
                <a:solidFill>
                  <a:srgbClr val="132A3A"/>
                </a:solidFill>
              </a:defRPr>
            </a:pPr>
            <a:r>
              <a:rPr sz="1125" b="0">
                <a:solidFill>
                  <a:srgbClr val="132A3A"/>
                </a:solidFill>
              </a:rPr>
              <a:t>Docker</a:t>
            </a:r>
          </a:p>
          <a:p xmlns:a="http://schemas.openxmlformats.org/drawingml/2006/main">
            <a:pPr>
              <a:buNone/>
              <a:defRPr sz="1125" b="0">
                <a:solidFill>
                  <a:srgbClr val="132A3A"/>
                </a:solidFill>
              </a:defRPr>
            </a:pPr>
            <a:r>
              <a:rPr sz="1125" b="0">
                <a:solidFill>
                  <a:srgbClr val="132A3A"/>
                </a:solidFill>
              </a:rPr>
              <a:t>→ port 8000</a:t>
            </a:r>
          </a:p>
        </p:txBody>
      </p:sp>
      <p:sp>
        <p:nvSpPr>
          <p:cNvPr id="28" name="">
            <a:extLst xmlns:a="http://schemas.openxmlformats.org/drawingml/2006/main">
              <a:ext uri="{FF2B5EF4-FFF2-40B4-BE49-F238E27FC236}">
                <a16:creationId xmlns:a16="http://schemas.microsoft.com/office/drawing/2014/main" id="{9F204C27-A95D-4BE0-B73D-0CB7E9C76DD3}"/>
              </a:ext>
            </a:extLst>
          </p:cNvPr>
          <p:cNvSpPr>
            <a:spLocks xmlns:a="http://schemas.openxmlformats.org/drawingml/2006/main" noGrp="1"/>
          </p:cNvSpPr>
          <p:nvPr/>
        </p:nvSpPr>
        <p:spPr>
          <a:xfrm xmlns:a="http://schemas.openxmlformats.org/drawingml/2006/main">
            <a:off x="685800" y="4953000"/>
            <a:ext cx="10820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B6B69"/>
                </a:solidFill>
              </a:defRPr>
            </a:pPr>
            <a:r>
              <a:rPr sz="1125" b="1">
                <a:solidFill>
                  <a:srgbClr val="0B6B69"/>
                </a:solidFill>
              </a:rPr>
              <a:t>La collecte et l’indexation sont hors ligne ; l’API charge ensuite l’index persistant et répond.</a:t>
            </a:r>
          </a:p>
        </p:txBody>
      </p:sp>
    </p:spTree>
    <p:extLst>
      <p:ext uri="{BB962C8B-B14F-4D97-AF65-F5344CB8AC3E}">
        <p14:creationId xmlns:p14="http://schemas.microsoft.com/office/powerpoint/2010/main" val="202122461"/>
      </p:ext>
    </p:extLst>
  </p:cSld>
</p:sld>
</file>

<file path=ppt/slides/slide7.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B8C8249-90EB-4866-8DEC-4876E230289E}"/>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APPLICATION</a:t>
            </a:r>
          </a:p>
        </p:txBody>
      </p:sp>
      <p:sp>
        <p:nvSpPr>
          <p:cNvPr id="2" name="">
            <a:extLst xmlns:a="http://schemas.openxmlformats.org/drawingml/2006/main">
              <a:ext uri="{FF2B5EF4-FFF2-40B4-BE49-F238E27FC236}">
                <a16:creationId xmlns:a16="http://schemas.microsoft.com/office/drawing/2014/main" id="{7A686CC0-F2C0-47EA-9964-66DABDD62B65}"/>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07</a:t>
            </a:r>
          </a:p>
        </p:txBody>
      </p:sp>
      <p:sp>
        <p:nvSpPr>
          <p:cNvPr id="3" name="">
            <a:extLst xmlns:a="http://schemas.openxmlformats.org/drawingml/2006/main">
              <a:ext uri="{FF2B5EF4-FFF2-40B4-BE49-F238E27FC236}">
                <a16:creationId xmlns:a16="http://schemas.microsoft.com/office/drawing/2014/main" id="{1D2AFF95-BF31-43EA-AEC8-B71F5AAD39BC}"/>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250" b="1">
                <a:solidFill>
                  <a:srgbClr val="132A3A"/>
                </a:solidFill>
              </a:defRPr>
            </a:pPr>
            <a:r>
              <a:rPr sz="2250" b="1">
                <a:solidFill>
                  <a:srgbClr val="132A3A"/>
                </a:solidFill>
              </a:rPr>
              <a:t>L’API rend le POC testable et démontrable</a:t>
            </a:r>
          </a:p>
        </p:txBody>
      </p:sp>
      <p:sp>
        <p:nvSpPr>
          <p:cNvPr id="4" name="">
            <a:extLst xmlns:a="http://schemas.openxmlformats.org/drawingml/2006/main">
              <a:ext uri="{FF2B5EF4-FFF2-40B4-BE49-F238E27FC236}">
                <a16:creationId xmlns:a16="http://schemas.microsoft.com/office/drawing/2014/main" id="{C1D7DCD9-CB86-4AA5-B3C5-A4D3E3D17F0F}"/>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5F6B73"/>
                </a:solidFill>
              </a:defRPr>
            </a:pPr>
            <a:r>
              <a:rPr sz="1200" b="0">
                <a:solidFill>
                  <a:srgbClr val="5F6B73"/>
                </a:solidFill>
              </a:rPr>
              <a:t>Elle sépare l’usage courant de l’administration et charge l’index une seule fois.</a:t>
            </a:r>
          </a:p>
        </p:txBody>
      </p:sp>
      <p:sp>
        <p:nvSpPr>
          <p:cNvPr id="5" name="">
            <a:extLst xmlns:a="http://schemas.openxmlformats.org/drawingml/2006/main">
              <a:ext uri="{FF2B5EF4-FFF2-40B4-BE49-F238E27FC236}">
                <a16:creationId xmlns:a16="http://schemas.microsoft.com/office/drawing/2014/main" id="{D2D42736-FDAC-464F-835E-B1612F69AD66}"/>
              </a:ext>
            </a:extLst>
          </p:cNvPr>
          <p:cNvSpPr>
            <a:spLocks xmlns:a="http://schemas.openxmlformats.org/drawingml/2006/main" noGrp="1"/>
          </p:cNvSpPr>
          <p:nvPr/>
        </p:nvSpPr>
        <p:spPr>
          <a:xfrm xmlns:a="http://schemas.openxmlformats.org/drawingml/2006/main">
            <a:off x="685800" y="2095500"/>
            <a:ext cx="3143250" cy="3048000"/>
          </a:xfrm>
          <a:prstGeom xmlns:a="http://schemas.openxmlformats.org/drawingml/2006/main" prst="roundRect">
            <a:avLst>
              <a:gd name="adj" fmla="val 5000"/>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0D4C0BA7-51A3-47D2-BF79-18BB63E17CBE}"/>
              </a:ext>
            </a:extLst>
          </p:cNvPr>
          <p:cNvSpPr>
            <a:spLocks xmlns:a="http://schemas.openxmlformats.org/drawingml/2006/main" noGrp="1"/>
          </p:cNvSpPr>
          <p:nvPr/>
        </p:nvSpPr>
        <p:spPr>
          <a:xfrm xmlns:a="http://schemas.openxmlformats.org/drawingml/2006/main">
            <a:off x="914400" y="2286000"/>
            <a:ext cx="2686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Répondre</a:t>
            </a:r>
          </a:p>
        </p:txBody>
      </p:sp>
      <p:sp>
        <p:nvSpPr>
          <p:cNvPr id="7" name="">
            <a:extLst xmlns:a="http://schemas.openxmlformats.org/drawingml/2006/main">
              <a:ext uri="{FF2B5EF4-FFF2-40B4-BE49-F238E27FC236}">
                <a16:creationId xmlns:a16="http://schemas.microsoft.com/office/drawing/2014/main" id="{61AB641E-5DC2-46CC-9431-D0692EC1C21A}"/>
              </a:ext>
            </a:extLst>
          </p:cNvPr>
          <p:cNvSpPr>
            <a:spLocks xmlns:a="http://schemas.openxmlformats.org/drawingml/2006/main" noGrp="1"/>
          </p:cNvSpPr>
          <p:nvPr/>
        </p:nvSpPr>
        <p:spPr>
          <a:xfrm xmlns:a="http://schemas.openxmlformats.org/drawingml/2006/main">
            <a:off x="914400" y="2705100"/>
            <a:ext cx="268605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132A3A"/>
                </a:solidFill>
              </a:defRPr>
            </a:pPr>
            <a:r>
              <a:rPr sz="1200" b="0">
                <a:solidFill>
                  <a:srgbClr val="132A3A"/>
                </a:solidFill>
              </a:rPr>
              <a:t>POST /ask</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question → top_k=4</a:t>
            </a:r>
          </a:p>
          <a:p xmlns:a="http://schemas.openxmlformats.org/drawingml/2006/main">
            <a:pPr>
              <a:buNone/>
              <a:defRPr sz="1200" b="0">
                <a:solidFill>
                  <a:srgbClr val="132A3A"/>
                </a:solidFill>
              </a:defRPr>
            </a:pPr>
            <a:r>
              <a:rPr sz="1200" b="0">
                <a:solidFill>
                  <a:srgbClr val="132A3A"/>
                </a:solidFill>
              </a:rPr>
              <a:t>→ réponse + sources</a:t>
            </a:r>
          </a:p>
          <a:p xmlns:a="http://schemas.openxmlformats.org/drawingml/2006/main">
            <a:pPr>
              <a:buNone/>
              <a:defRPr sz="1425" b="0">
                <a:solidFill>
                  <a:srgbClr val="132A3A"/>
                </a:solidFill>
              </a:defRPr>
            </a:pPr>
            <a:r>
              <a:rPr sz="1425" b="0">
                <a:solidFill>
                  <a:srgbClr val="132A3A"/>
                </a:solidFill>
              </a:rPr>
              <a:t/>
            </a:r>
          </a:p>
          <a:p xmlns:a="http://schemas.openxmlformats.org/drawingml/2006/main">
            <a:pPr>
              <a:buNone/>
              <a:defRPr sz="1200" b="0">
                <a:solidFill>
                  <a:srgbClr val="132A3A"/>
                </a:solidFill>
              </a:defRPr>
            </a:pPr>
            <a:r>
              <a:rPr sz="1200" b="0">
                <a:solidFill>
                  <a:srgbClr val="132A3A"/>
                </a:solidFill>
              </a:rPr>
              <a:t>Mistral Small</a:t>
            </a:r>
          </a:p>
        </p:txBody>
      </p:sp>
      <p:sp>
        <p:nvSpPr>
          <p:cNvPr id="8" name="">
            <a:extLst xmlns:a="http://schemas.openxmlformats.org/drawingml/2006/main">
              <a:ext uri="{FF2B5EF4-FFF2-40B4-BE49-F238E27FC236}">
                <a16:creationId xmlns:a16="http://schemas.microsoft.com/office/drawing/2014/main" id="{0AF3C094-7DA2-40A5-8743-9376F8845F46}"/>
              </a:ext>
            </a:extLst>
          </p:cNvPr>
          <p:cNvSpPr>
            <a:spLocks xmlns:a="http://schemas.openxmlformats.org/drawingml/2006/main" noGrp="1"/>
          </p:cNvSpPr>
          <p:nvPr/>
        </p:nvSpPr>
        <p:spPr>
          <a:xfrm xmlns:a="http://schemas.openxmlformats.org/drawingml/2006/main">
            <a:off x="4095750" y="2095500"/>
            <a:ext cx="3143250" cy="3048000"/>
          </a:xfrm>
          <a:prstGeom xmlns:a="http://schemas.openxmlformats.org/drawingml/2006/main" prst="roundRect">
            <a:avLst>
              <a:gd name="adj" fmla="val 5000"/>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DADD5871-EE06-4D86-ADD2-9DE0BFDEEE38}"/>
              </a:ext>
            </a:extLst>
          </p:cNvPr>
          <p:cNvSpPr>
            <a:spLocks xmlns:a="http://schemas.openxmlformats.org/drawingml/2006/main" noGrp="1"/>
          </p:cNvSpPr>
          <p:nvPr/>
        </p:nvSpPr>
        <p:spPr>
          <a:xfrm xmlns:a="http://schemas.openxmlformats.org/drawingml/2006/main">
            <a:off x="4324350" y="2286000"/>
            <a:ext cx="2686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Contrôler</a:t>
            </a:r>
          </a:p>
        </p:txBody>
      </p:sp>
      <p:sp>
        <p:nvSpPr>
          <p:cNvPr id="10" name="">
            <a:extLst xmlns:a="http://schemas.openxmlformats.org/drawingml/2006/main">
              <a:ext uri="{FF2B5EF4-FFF2-40B4-BE49-F238E27FC236}">
                <a16:creationId xmlns:a16="http://schemas.microsoft.com/office/drawing/2014/main" id="{E27AB555-D018-4307-A638-7557081DFF29}"/>
              </a:ext>
            </a:extLst>
          </p:cNvPr>
          <p:cNvSpPr>
            <a:spLocks xmlns:a="http://schemas.openxmlformats.org/drawingml/2006/main" noGrp="1"/>
          </p:cNvSpPr>
          <p:nvPr/>
        </p:nvSpPr>
        <p:spPr>
          <a:xfrm xmlns:a="http://schemas.openxmlformats.org/drawingml/2006/main">
            <a:off x="4324350" y="2705100"/>
            <a:ext cx="268605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132A3A"/>
                </a:solidFill>
              </a:defRPr>
            </a:pPr>
            <a:r>
              <a:rPr sz="1200" b="0">
                <a:solidFill>
                  <a:srgbClr val="132A3A"/>
                </a:solidFill>
              </a:rPr>
              <a:t>GET /health</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index chargé</a:t>
            </a:r>
          </a:p>
          <a:p xmlns:a="http://schemas.openxmlformats.org/drawingml/2006/main">
            <a:pPr>
              <a:buNone/>
              <a:defRPr sz="1200" b="0">
                <a:solidFill>
                  <a:srgbClr val="132A3A"/>
                </a:solidFill>
              </a:defRPr>
            </a:pPr>
            <a:r>
              <a:rPr sz="1200" b="0">
                <a:solidFill>
                  <a:srgbClr val="132A3A"/>
                </a:solidFill>
              </a:rPr>
              <a:t>modèles actifs</a:t>
            </a:r>
          </a:p>
          <a:p xmlns:a="http://schemas.openxmlformats.org/drawingml/2006/main">
            <a:pPr>
              <a:buNone/>
              <a:defRPr sz="1200" b="0">
                <a:solidFill>
                  <a:srgbClr val="132A3A"/>
                </a:solidFill>
              </a:defRPr>
            </a:pPr>
            <a:r>
              <a:rPr sz="1200" b="0">
                <a:solidFill>
                  <a:srgbClr val="132A3A"/>
                </a:solidFill>
              </a:rPr>
              <a:t>configuration visible</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Swagger : /docs</a:t>
            </a:r>
          </a:p>
        </p:txBody>
      </p:sp>
      <p:sp>
        <p:nvSpPr>
          <p:cNvPr id="11" name="">
            <a:extLst xmlns:a="http://schemas.openxmlformats.org/drawingml/2006/main">
              <a:ext uri="{FF2B5EF4-FFF2-40B4-BE49-F238E27FC236}">
                <a16:creationId xmlns:a16="http://schemas.microsoft.com/office/drawing/2014/main" id="{E3CE0D93-B5BA-4B5F-837F-62BBC4D9E429}"/>
              </a:ext>
            </a:extLst>
          </p:cNvPr>
          <p:cNvSpPr>
            <a:spLocks xmlns:a="http://schemas.openxmlformats.org/drawingml/2006/main" noGrp="1"/>
          </p:cNvSpPr>
          <p:nvPr/>
        </p:nvSpPr>
        <p:spPr>
          <a:xfrm xmlns:a="http://schemas.openxmlformats.org/drawingml/2006/main">
            <a:off x="7505700" y="2095500"/>
            <a:ext cx="4000500" cy="3048000"/>
          </a:xfrm>
          <a:prstGeom xmlns:a="http://schemas.openxmlformats.org/drawingml/2006/main" prst="roundRect">
            <a:avLst>
              <a:gd name="adj" fmla="val 5000"/>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BFB39676-BFCD-4080-9244-92F2DE1F1E8C}"/>
              </a:ext>
            </a:extLst>
          </p:cNvPr>
          <p:cNvSpPr>
            <a:spLocks xmlns:a="http://schemas.openxmlformats.org/drawingml/2006/main" noGrp="1"/>
          </p:cNvSpPr>
          <p:nvPr/>
        </p:nvSpPr>
        <p:spPr>
          <a:xfrm xmlns:a="http://schemas.openxmlformats.org/drawingml/2006/main">
            <a:off x="7734300" y="2286000"/>
            <a:ext cx="3543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Déployer</a:t>
            </a:r>
          </a:p>
        </p:txBody>
      </p:sp>
      <p:sp>
        <p:nvSpPr>
          <p:cNvPr id="13" name="">
            <a:extLst xmlns:a="http://schemas.openxmlformats.org/drawingml/2006/main">
              <a:ext uri="{FF2B5EF4-FFF2-40B4-BE49-F238E27FC236}">
                <a16:creationId xmlns:a16="http://schemas.microsoft.com/office/drawing/2014/main" id="{74ED3681-BDB8-474F-A33B-4F72161180E8}"/>
              </a:ext>
            </a:extLst>
          </p:cNvPr>
          <p:cNvSpPr>
            <a:spLocks xmlns:a="http://schemas.openxmlformats.org/drawingml/2006/main" noGrp="1"/>
          </p:cNvSpPr>
          <p:nvPr/>
        </p:nvSpPr>
        <p:spPr>
          <a:xfrm xmlns:a="http://schemas.openxmlformats.org/drawingml/2006/main">
            <a:off x="7734300" y="2705100"/>
            <a:ext cx="354330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0B6B69"/>
                </a:solidFill>
              </a:defRPr>
            </a:pPr>
            <a:r>
              <a:rPr sz="1200" b="1">
                <a:solidFill>
                  <a:srgbClr val="0B6B69"/>
                </a:solidFill>
              </a:rPr>
              <a:t>Docker Compose</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1">
                <a:solidFill>
                  <a:srgbClr val="0B6B69"/>
                </a:solidFill>
              </a:defRPr>
            </a:pPr>
            <a:r>
              <a:rPr sz="1200" b="1">
                <a:solidFill>
                  <a:srgbClr val="0B6B69"/>
                </a:solidFill>
              </a:rPr>
              <a:t>index et modèle en mémoire</a:t>
            </a:r>
          </a:p>
          <a:p xmlns:a="http://schemas.openxmlformats.org/drawingml/2006/main">
            <a:pPr>
              <a:buNone/>
              <a:defRPr sz="1200" b="0">
                <a:solidFill>
                  <a:srgbClr val="0B6B69"/>
                </a:solidFill>
              </a:defRPr>
            </a:pPr>
            <a:r>
              <a:rPr sz="1200" b="0">
                <a:solidFill>
                  <a:srgbClr val="0B6B69"/>
                </a:solidFill>
              </a:rPr>
              <a:t>secrets hors image</a:t>
            </a:r>
          </a:p>
          <a:p xmlns:a="http://schemas.openxmlformats.org/drawingml/2006/main">
            <a:pPr>
              <a:buNone/>
              <a:defRPr sz="1425" b="1">
                <a:solidFill>
                  <a:srgbClr val="0B6B69"/>
                </a:solidFill>
              </a:defRPr>
            </a:pPr>
            <a:r>
              <a:rPr sz="1425" b="1">
                <a:solidFill>
                  <a:srgbClr val="0B6B69"/>
                </a:solidFill>
              </a:rPr>
              <a:t/>
            </a:r>
          </a:p>
          <a:p xmlns:a="http://schemas.openxmlformats.org/drawingml/2006/main">
            <a:pPr>
              <a:buNone/>
              <a:defRPr sz="1200" b="0">
                <a:solidFill>
                  <a:srgbClr val="0B6B69"/>
                </a:solidFill>
              </a:defRPr>
            </a:pPr>
            <a:r>
              <a:rPr sz="1200" b="0">
                <a:solidFill>
                  <a:srgbClr val="0B6B69"/>
                </a:solidFill>
              </a:rPr>
              <a:t>POST /rebuild protégé</a:t>
            </a:r>
          </a:p>
        </p:txBody>
      </p:sp>
    </p:spTree>
    <p:extLst>
      <p:ext uri="{BB962C8B-B14F-4D97-AF65-F5344CB8AC3E}">
        <p14:creationId xmlns:p14="http://schemas.microsoft.com/office/powerpoint/2010/main" val="634827927"/>
      </p:ext>
    </p:extLst>
  </p:cSld>
</p:sld>
</file>

<file path=ppt/slides/slide8.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9FAF232-9D63-41E2-927A-7520EFA1D6BC}"/>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DÉMONSTRATION</a:t>
            </a:r>
          </a:p>
        </p:txBody>
      </p:sp>
      <p:sp>
        <p:nvSpPr>
          <p:cNvPr id="2" name="">
            <a:extLst xmlns:a="http://schemas.openxmlformats.org/drawingml/2006/main">
              <a:ext uri="{FF2B5EF4-FFF2-40B4-BE49-F238E27FC236}">
                <a16:creationId xmlns:a16="http://schemas.microsoft.com/office/drawing/2014/main" id="{F54306D4-1395-4376-805F-ABC51B730A4C}"/>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08</a:t>
            </a:r>
          </a:p>
        </p:txBody>
      </p:sp>
      <p:sp>
        <p:nvSpPr>
          <p:cNvPr id="3" name="">
            <a:extLst xmlns:a="http://schemas.openxmlformats.org/drawingml/2006/main">
              <a:ext uri="{FF2B5EF4-FFF2-40B4-BE49-F238E27FC236}">
                <a16:creationId xmlns:a16="http://schemas.microsoft.com/office/drawing/2014/main" id="{0B3E242B-6466-45C2-8241-547930CA7B6B}"/>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250" b="1">
                <a:solidFill>
                  <a:srgbClr val="132A3A"/>
                </a:solidFill>
              </a:defRPr>
            </a:pPr>
            <a:r>
              <a:rPr sz="2250" b="1">
                <a:solidFill>
                  <a:srgbClr val="132A3A"/>
                </a:solidFill>
              </a:rPr>
              <a:t>La démo vérifie la valeur et la limite métier</a:t>
            </a:r>
          </a:p>
        </p:txBody>
      </p:sp>
      <p:sp>
        <p:nvSpPr>
          <p:cNvPr id="4" name="">
            <a:extLst xmlns:a="http://schemas.openxmlformats.org/drawingml/2006/main">
              <a:ext uri="{FF2B5EF4-FFF2-40B4-BE49-F238E27FC236}">
                <a16:creationId xmlns:a16="http://schemas.microsoft.com/office/drawing/2014/main" id="{6ACB361E-FB15-4009-A833-4475E30ECDBA}"/>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5F6B73"/>
                </a:solidFill>
              </a:defRPr>
            </a:pPr>
            <a:r>
              <a:rPr sz="1200" b="0">
                <a:solidFill>
                  <a:srgbClr val="5F6B73"/>
                </a:solidFill>
              </a:rPr>
              <a:t>Je montre une recommandation sourcée, puis une demande hors périmètre sans invention.</a:t>
            </a:r>
          </a:p>
        </p:txBody>
      </p:sp>
      <p:sp>
        <p:nvSpPr>
          <p:cNvPr id="5" name="">
            <a:extLst xmlns:a="http://schemas.openxmlformats.org/drawingml/2006/main">
              <a:ext uri="{FF2B5EF4-FFF2-40B4-BE49-F238E27FC236}">
                <a16:creationId xmlns:a16="http://schemas.microsoft.com/office/drawing/2014/main" id="{0C29A7FC-57DF-49A7-83BD-1938FD5572C6}"/>
              </a:ext>
            </a:extLst>
          </p:cNvPr>
          <p:cNvSpPr>
            <a:spLocks xmlns:a="http://schemas.openxmlformats.org/drawingml/2006/main" noGrp="1"/>
          </p:cNvSpPr>
          <p:nvPr/>
        </p:nvSpPr>
        <p:spPr>
          <a:xfrm xmlns:a="http://schemas.openxmlformats.org/drawingml/2006/main">
            <a:off x="685800" y="2095500"/>
            <a:ext cx="5143500" cy="3429000"/>
          </a:xfrm>
          <a:prstGeom xmlns:a="http://schemas.openxmlformats.org/drawingml/2006/main" prst="roundRect">
            <a:avLst>
              <a:gd name="adj" fmla="val 4444"/>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2CEC0BD5-2093-4409-88D5-821E6A4892B1}"/>
              </a:ext>
            </a:extLst>
          </p:cNvPr>
          <p:cNvSpPr>
            <a:spLocks xmlns:a="http://schemas.openxmlformats.org/drawingml/2006/main" noGrp="1"/>
          </p:cNvSpPr>
          <p:nvPr/>
        </p:nvSpPr>
        <p:spPr>
          <a:xfrm xmlns:a="http://schemas.openxmlformats.org/drawingml/2006/main">
            <a:off x="914400" y="2286000"/>
            <a:ext cx="4686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Cas nominal · Paris</a:t>
            </a:r>
          </a:p>
        </p:txBody>
      </p:sp>
      <p:sp>
        <p:nvSpPr>
          <p:cNvPr id="7" name="">
            <a:extLst xmlns:a="http://schemas.openxmlformats.org/drawingml/2006/main">
              <a:ext uri="{FF2B5EF4-FFF2-40B4-BE49-F238E27FC236}">
                <a16:creationId xmlns:a16="http://schemas.microsoft.com/office/drawing/2014/main" id="{81A52124-14E9-4B67-BC6C-21E1E5DBD379}"/>
              </a:ext>
            </a:extLst>
          </p:cNvPr>
          <p:cNvSpPr>
            <a:spLocks xmlns:a="http://schemas.openxmlformats.org/drawingml/2006/main" noGrp="1"/>
          </p:cNvSpPr>
          <p:nvPr/>
        </p:nvSpPr>
        <p:spPr>
          <a:xfrm xmlns:a="http://schemas.openxmlformats.org/drawingml/2006/main">
            <a:off x="914400" y="2705100"/>
            <a:ext cx="4686300" cy="2590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132A3A"/>
                </a:solidFill>
              </a:defRPr>
            </a:pPr>
            <a:r>
              <a:rPr sz="1200" b="1">
                <a:solidFill>
                  <a:srgbClr val="132A3A"/>
                </a:solidFill>
              </a:rPr>
              <a:t>Question : Concert Fishers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1">
                <a:solidFill>
                  <a:srgbClr val="132A3A"/>
                </a:solidFill>
              </a:defRPr>
            </a:pPr>
            <a:r>
              <a:rPr sz="1200" b="1">
                <a:solidFill>
                  <a:srgbClr val="132A3A"/>
                </a:solidFill>
              </a:rPr>
              <a:t>Je vérifie : titre, date, lieu, URL</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1">
                <a:solidFill>
                  <a:srgbClr val="132A3A"/>
                </a:solidFill>
              </a:defRPr>
            </a:pPr>
            <a:r>
              <a:rPr sz="1200" b="1">
                <a:solidFill>
                  <a:srgbClr val="132A3A"/>
                </a:solidFill>
              </a:rPr>
              <a:t>4 sources retournées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1">
                <a:solidFill>
                  <a:srgbClr val="132A3A"/>
                </a:solidFill>
              </a:defRPr>
            </a:pPr>
            <a:r>
              <a:rPr sz="1200" b="1">
                <a:solidFill>
                  <a:srgbClr val="132A3A"/>
                </a:solidFill>
              </a:rPr>
              <a:t>→ recommandation vérifiable</a:t>
            </a:r>
          </a:p>
        </p:txBody>
      </p:sp>
      <p:sp>
        <p:nvSpPr>
          <p:cNvPr id="8" name="">
            <a:extLst xmlns:a="http://schemas.openxmlformats.org/drawingml/2006/main">
              <a:ext uri="{FF2B5EF4-FFF2-40B4-BE49-F238E27FC236}">
                <a16:creationId xmlns:a16="http://schemas.microsoft.com/office/drawing/2014/main" id="{160A5488-A6D8-4F31-95F8-E658BE248848}"/>
              </a:ext>
            </a:extLst>
          </p:cNvPr>
          <p:cNvSpPr>
            <a:spLocks xmlns:a="http://schemas.openxmlformats.org/drawingml/2006/main" noGrp="1"/>
          </p:cNvSpPr>
          <p:nvPr/>
        </p:nvSpPr>
        <p:spPr>
          <a:xfrm xmlns:a="http://schemas.openxmlformats.org/drawingml/2006/main">
            <a:off x="6096000" y="2095500"/>
            <a:ext cx="5410200" cy="3429000"/>
          </a:xfrm>
          <a:prstGeom xmlns:a="http://schemas.openxmlformats.org/drawingml/2006/main" prst="roundRect">
            <a:avLst>
              <a:gd name="adj" fmla="val 4444"/>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68058558-A52C-402B-9983-D09B8F99FE8A}"/>
              </a:ext>
            </a:extLst>
          </p:cNvPr>
          <p:cNvSpPr>
            <a:spLocks xmlns:a="http://schemas.openxmlformats.org/drawingml/2006/main" noGrp="1"/>
          </p:cNvSpPr>
          <p:nvPr/>
        </p:nvSpPr>
        <p:spPr>
          <a:xfrm xmlns:a="http://schemas.openxmlformats.org/drawingml/2006/main">
            <a:off x="6324600" y="22860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Cas limite · Lyon</a:t>
            </a:r>
          </a:p>
        </p:txBody>
      </p:sp>
      <p:sp>
        <p:nvSpPr>
          <p:cNvPr id="10" name="">
            <a:extLst xmlns:a="http://schemas.openxmlformats.org/drawingml/2006/main">
              <a:ext uri="{FF2B5EF4-FFF2-40B4-BE49-F238E27FC236}">
                <a16:creationId xmlns:a16="http://schemas.microsoft.com/office/drawing/2014/main" id="{E4A383DC-1632-45EB-AD50-4075A5062364}"/>
              </a:ext>
            </a:extLst>
          </p:cNvPr>
          <p:cNvSpPr>
            <a:spLocks xmlns:a="http://schemas.openxmlformats.org/drawingml/2006/main" noGrp="1"/>
          </p:cNvSpPr>
          <p:nvPr/>
        </p:nvSpPr>
        <p:spPr>
          <a:xfrm xmlns:a="http://schemas.openxmlformats.org/drawingml/2006/main">
            <a:off x="6324600" y="2705100"/>
            <a:ext cx="4953000" cy="2590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132A3A"/>
                </a:solidFill>
              </a:defRPr>
            </a:pPr>
            <a:r>
              <a:rPr sz="1200" b="0">
                <a:solidFill>
                  <a:srgbClr val="132A3A"/>
                </a:solidFill>
              </a:rPr>
              <a:t>Question : expositions photo à Lyon</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Corpus : Paris uniquement</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Réponse attendue : prudence</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 pas d’événement lyonnais inventé</a:t>
            </a:r>
          </a:p>
        </p:txBody>
      </p:sp>
    </p:spTree>
    <p:extLst>
      <p:ext uri="{BB962C8B-B14F-4D97-AF65-F5344CB8AC3E}">
        <p14:creationId xmlns:p14="http://schemas.microsoft.com/office/powerpoint/2010/main" val="2076616644"/>
      </p:ext>
    </p:extLst>
  </p:cSld>
</p:sld>
</file>

<file path=ppt/slides/slide9.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6C1637D-BD7B-4ADE-B37D-424E6EFFA363}"/>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QUALITÉ</a:t>
            </a:r>
          </a:p>
        </p:txBody>
      </p:sp>
      <p:sp>
        <p:nvSpPr>
          <p:cNvPr id="2" name="">
            <a:extLst xmlns:a="http://schemas.openxmlformats.org/drawingml/2006/main">
              <a:ext uri="{FF2B5EF4-FFF2-40B4-BE49-F238E27FC236}">
                <a16:creationId xmlns:a16="http://schemas.microsoft.com/office/drawing/2014/main" id="{C1F319EA-F3E5-420B-ABE9-0EE0AC8FBF13}"/>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09</a:t>
            </a:r>
          </a:p>
        </p:txBody>
      </p:sp>
      <p:sp>
        <p:nvSpPr>
          <p:cNvPr id="3" name="">
            <a:extLst xmlns:a="http://schemas.openxmlformats.org/drawingml/2006/main">
              <a:ext uri="{FF2B5EF4-FFF2-40B4-BE49-F238E27FC236}">
                <a16:creationId xmlns:a16="http://schemas.microsoft.com/office/drawing/2014/main" id="{8300ADE1-E433-4A2C-ACFE-E616B6FF1FD3}"/>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250" b="1">
                <a:solidFill>
                  <a:srgbClr val="132A3A"/>
                </a:solidFill>
              </a:defRPr>
            </a:pPr>
            <a:r>
              <a:rPr sz="2250" b="1">
                <a:solidFill>
                  <a:srgbClr val="132A3A"/>
                </a:solidFill>
              </a:rPr>
              <a:t>Les tests protègent le code ; la CI/CD est la suite</a:t>
            </a:r>
          </a:p>
        </p:txBody>
      </p:sp>
      <p:sp>
        <p:nvSpPr>
          <p:cNvPr id="4" name="">
            <a:extLst xmlns:a="http://schemas.openxmlformats.org/drawingml/2006/main">
              <a:ext uri="{FF2B5EF4-FFF2-40B4-BE49-F238E27FC236}">
                <a16:creationId xmlns:a16="http://schemas.microsoft.com/office/drawing/2014/main" id="{CCE9254D-4C88-4A75-BBA2-05E6A4CBA88C}"/>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5F6B73"/>
                </a:solidFill>
              </a:defRPr>
            </a:pPr>
            <a:r>
              <a:rPr sz="1200" b="0">
                <a:solidFill>
                  <a:srgbClr val="5F6B73"/>
                </a:solidFill>
              </a:rPr>
              <a:t>Je distingue les contrôles livrés du mécanisme d’industrialisation proposé.</a:t>
            </a:r>
          </a:p>
        </p:txBody>
      </p:sp>
      <p:sp>
        <p:nvSpPr>
          <p:cNvPr id="5" name="">
            <a:extLst xmlns:a="http://schemas.openxmlformats.org/drawingml/2006/main">
              <a:ext uri="{FF2B5EF4-FFF2-40B4-BE49-F238E27FC236}">
                <a16:creationId xmlns:a16="http://schemas.microsoft.com/office/drawing/2014/main" id="{511C3D5F-DFD5-4B73-9401-63D44AEAABC2}"/>
              </a:ext>
            </a:extLst>
          </p:cNvPr>
          <p:cNvSpPr>
            <a:spLocks xmlns:a="http://schemas.openxmlformats.org/drawingml/2006/main" noGrp="1"/>
          </p:cNvSpPr>
          <p:nvPr/>
        </p:nvSpPr>
        <p:spPr>
          <a:xfrm xmlns:a="http://schemas.openxmlformats.org/drawingml/2006/main">
            <a:off x="685800" y="2095500"/>
            <a:ext cx="4095750" cy="3143250"/>
          </a:xfrm>
          <a:prstGeom xmlns:a="http://schemas.openxmlformats.org/drawingml/2006/main" prst="roundRect">
            <a:avLst>
              <a:gd name="adj" fmla="val 4848"/>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D3607F0A-F577-465C-ABD7-A60AE8215B89}"/>
              </a:ext>
            </a:extLst>
          </p:cNvPr>
          <p:cNvSpPr>
            <a:spLocks xmlns:a="http://schemas.openxmlformats.org/drawingml/2006/main" noGrp="1"/>
          </p:cNvSpPr>
          <p:nvPr/>
        </p:nvSpPr>
        <p:spPr>
          <a:xfrm xmlns:a="http://schemas.openxmlformats.org/drawingml/2006/main">
            <a:off x="914400" y="2286000"/>
            <a:ext cx="3638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Contrôles livrés</a:t>
            </a:r>
          </a:p>
        </p:txBody>
      </p:sp>
      <p:sp>
        <p:nvSpPr>
          <p:cNvPr id="7" name="">
            <a:extLst xmlns:a="http://schemas.openxmlformats.org/drawingml/2006/main">
              <a:ext uri="{FF2B5EF4-FFF2-40B4-BE49-F238E27FC236}">
                <a16:creationId xmlns:a16="http://schemas.microsoft.com/office/drawing/2014/main" id="{4BCC3E8E-1BA2-402B-A4F1-FAC61BD5D4A5}"/>
              </a:ext>
            </a:extLst>
          </p:cNvPr>
          <p:cNvSpPr>
            <a:spLocks xmlns:a="http://schemas.openxmlformats.org/drawingml/2006/main" noGrp="1"/>
          </p:cNvSpPr>
          <p:nvPr/>
        </p:nvSpPr>
        <p:spPr>
          <a:xfrm xmlns:a="http://schemas.openxmlformats.org/drawingml/2006/main">
            <a:off x="914400" y="2705100"/>
            <a:ext cx="3638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132A3A"/>
                </a:solidFill>
              </a:defRPr>
            </a:pPr>
            <a:r>
              <a:rPr sz="1200" b="1">
                <a:solidFill>
                  <a:srgbClr val="132A3A"/>
                </a:solidFill>
              </a:rPr>
              <a:t>59 tests automatisés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1">
                <a:solidFill>
                  <a:srgbClr val="132A3A"/>
                </a:solidFill>
              </a:defRPr>
            </a:pPr>
            <a:r>
              <a:rPr sz="1200" b="1">
                <a:solidFill>
                  <a:srgbClr val="132A3A"/>
                </a:solidFill>
              </a:rPr>
              <a:t>Ingestion et nettoyage</a:t>
            </a:r>
          </a:p>
          <a:p xmlns:a="http://schemas.openxmlformats.org/drawingml/2006/main">
            <a:pPr>
              <a:buNone/>
              <a:defRPr sz="1200" b="1">
                <a:solidFill>
                  <a:srgbClr val="132A3A"/>
                </a:solidFill>
              </a:defRPr>
            </a:pPr>
            <a:r>
              <a:rPr sz="1200" b="1">
                <a:solidFill>
                  <a:srgbClr val="132A3A"/>
                </a:solidFill>
              </a:rPr>
              <a:t>Index FAISS et métadonnées</a:t>
            </a:r>
          </a:p>
          <a:p xmlns:a="http://schemas.openxmlformats.org/drawingml/2006/main">
            <a:pPr>
              <a:buNone/>
              <a:defRPr sz="1200" b="0">
                <a:solidFill>
                  <a:srgbClr val="132A3A"/>
                </a:solidFill>
              </a:defRPr>
            </a:pPr>
            <a:r>
              <a:rPr sz="1200" b="0">
                <a:solidFill>
                  <a:srgbClr val="132A3A"/>
                </a:solidFill>
              </a:rPr>
              <a:t>RAG, API et erreurs</a:t>
            </a:r>
          </a:p>
          <a:p xmlns:a="http://schemas.openxmlformats.org/drawingml/2006/main">
            <a:pPr>
              <a:buNone/>
              <a:defRPr sz="1200" b="1">
                <a:solidFill>
                  <a:srgbClr val="132A3A"/>
                </a:solidFill>
              </a:defRPr>
            </a:pPr>
            <a:r>
              <a:rPr sz="1200" b="1">
                <a:solidFill>
                  <a:srgbClr val="132A3A"/>
                </a:solidFill>
              </a:rPr>
              <a:t>Jeu annoté et RAGAS</a:t>
            </a:r>
          </a:p>
        </p:txBody>
      </p:sp>
      <p:sp>
        <p:nvSpPr>
          <p:cNvPr id="8" name="">
            <a:extLst xmlns:a="http://schemas.openxmlformats.org/drawingml/2006/main">
              <a:ext uri="{FF2B5EF4-FFF2-40B4-BE49-F238E27FC236}">
                <a16:creationId xmlns:a16="http://schemas.microsoft.com/office/drawing/2014/main" id="{A33DA960-95D9-49AD-84EB-082449150848}"/>
              </a:ext>
            </a:extLst>
          </p:cNvPr>
          <p:cNvSpPr>
            <a:spLocks xmlns:a="http://schemas.openxmlformats.org/drawingml/2006/main" noGrp="1"/>
          </p:cNvSpPr>
          <p:nvPr/>
        </p:nvSpPr>
        <p:spPr>
          <a:xfrm xmlns:a="http://schemas.openxmlformats.org/drawingml/2006/main">
            <a:off x="5048250" y="2095500"/>
            <a:ext cx="6457950" cy="3143250"/>
          </a:xfrm>
          <a:prstGeom xmlns:a="http://schemas.openxmlformats.org/drawingml/2006/main" prst="roundRect">
            <a:avLst>
              <a:gd name="adj" fmla="val 4848"/>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3E097A68-6655-43AA-95A1-5F351E7F4B59}"/>
              </a:ext>
            </a:extLst>
          </p:cNvPr>
          <p:cNvSpPr>
            <a:spLocks xmlns:a="http://schemas.openxmlformats.org/drawingml/2006/main" noGrp="1"/>
          </p:cNvSpPr>
          <p:nvPr/>
        </p:nvSpPr>
        <p:spPr>
          <a:xfrm xmlns:a="http://schemas.openxmlformats.org/drawingml/2006/main">
            <a:off x="5276850" y="2286000"/>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CI/CD proposée</a:t>
            </a:r>
          </a:p>
        </p:txBody>
      </p:sp>
      <p:sp>
        <p:nvSpPr>
          <p:cNvPr id="10" name="">
            <a:extLst xmlns:a="http://schemas.openxmlformats.org/drawingml/2006/main">
              <a:ext uri="{FF2B5EF4-FFF2-40B4-BE49-F238E27FC236}">
                <a16:creationId xmlns:a16="http://schemas.microsoft.com/office/drawing/2014/main" id="{DAC74F9C-BEFD-4568-871F-5D711CE18F49}"/>
              </a:ext>
            </a:extLst>
          </p:cNvPr>
          <p:cNvSpPr>
            <a:spLocks xmlns:a="http://schemas.openxmlformats.org/drawingml/2006/main" noGrp="1"/>
          </p:cNvSpPr>
          <p:nvPr/>
        </p:nvSpPr>
        <p:spPr>
          <a:xfrm xmlns:a="http://schemas.openxmlformats.org/drawingml/2006/main">
            <a:off x="5276850" y="2705100"/>
            <a:ext cx="60007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0B6B69"/>
                </a:solidFill>
              </a:defRPr>
            </a:pPr>
            <a:r>
              <a:rPr sz="1200" b="0">
                <a:solidFill>
                  <a:srgbClr val="0B6B69"/>
                </a:solidFill>
              </a:rPr>
              <a:t>À chaque push :</a:t>
            </a:r>
          </a:p>
          <a:p xmlns:a="http://schemas.openxmlformats.org/drawingml/2006/main">
            <a:pPr>
              <a:buNone/>
              <a:defRPr sz="1200" b="0">
                <a:solidFill>
                  <a:srgbClr val="0B6B69"/>
                </a:solidFill>
              </a:defRPr>
            </a:pPr>
            <a:r>
              <a:rPr sz="1200" b="0">
                <a:solidFill>
                  <a:srgbClr val="0B6B69"/>
                </a:solidFill>
              </a:rPr>
              <a:t>pytest → image Docker</a:t>
            </a:r>
          </a:p>
          <a:p xmlns:a="http://schemas.openxmlformats.org/drawingml/2006/main">
            <a:pPr>
              <a:buNone/>
              <a:defRPr sz="1200" b="0">
                <a:solidFill>
                  <a:srgbClr val="0B6B69"/>
                </a:solidFill>
              </a:defRPr>
            </a:pPr>
            <a:r>
              <a:rPr sz="1200" b="0">
                <a:solidFill>
                  <a:srgbClr val="0B6B69"/>
                </a:solidFill>
              </a:rPr>
              <a:t>→ healthcheck → rapport</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0B6B69"/>
                </a:solidFill>
              </a:defRPr>
            </a:pPr>
            <a:r>
              <a:rPr sz="1200" b="0">
                <a:solidFill>
                  <a:srgbClr val="0B6B69"/>
                </a:solidFill>
              </a:rPr>
              <a:t>Déploiement bloqué si un contrôle échoue</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0B6B69"/>
                </a:solidFill>
              </a:defRPr>
            </a:pPr>
            <a:r>
              <a:rPr sz="1200" b="0">
                <a:solidFill>
                  <a:srgbClr val="0B6B69"/>
                </a:solidFill>
              </a:rPr>
              <a:t>Non implémentée dans le POC</a:t>
            </a:r>
          </a:p>
        </p:txBody>
      </p:sp>
    </p:spTree>
    <p:extLst>
      <p:ext uri="{BB962C8B-B14F-4D97-AF65-F5344CB8AC3E}">
        <p14:creationId xmlns:p14="http://schemas.microsoft.com/office/powerpoint/2010/main" val="1127788312"/>
      </p:ext>
    </p:extLst>
  </p:cSld>
</p:sld>
</file>

<file path=ppt/slides/slide10.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CDF0AE1-053A-4116-84F6-4CA094D00F5A}"/>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ÉVALUATION</a:t>
            </a:r>
          </a:p>
        </p:txBody>
      </p:sp>
      <p:sp>
        <p:nvSpPr>
          <p:cNvPr id="2" name="">
            <a:extLst xmlns:a="http://schemas.openxmlformats.org/drawingml/2006/main">
              <a:ext uri="{FF2B5EF4-FFF2-40B4-BE49-F238E27FC236}">
                <a16:creationId xmlns:a16="http://schemas.microsoft.com/office/drawing/2014/main" id="{FD9E1DDB-9548-454C-8187-428960BB833B}"/>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10</a:t>
            </a:r>
          </a:p>
        </p:txBody>
      </p:sp>
      <p:sp>
        <p:nvSpPr>
          <p:cNvPr id="3" name="">
            <a:extLst xmlns:a="http://schemas.openxmlformats.org/drawingml/2006/main">
              <a:ext uri="{FF2B5EF4-FFF2-40B4-BE49-F238E27FC236}">
                <a16:creationId xmlns:a16="http://schemas.microsoft.com/office/drawing/2014/main" id="{2AB6A4C9-CE93-4D87-A076-26415FA47374}"/>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250" b="1">
                <a:solidFill>
                  <a:srgbClr val="132A3A"/>
                </a:solidFill>
              </a:defRPr>
            </a:pPr>
            <a:r>
              <a:rPr sz="2250" b="1">
                <a:solidFill>
                  <a:srgbClr val="132A3A"/>
                </a:solidFill>
              </a:rPr>
              <a:t>RAGAS explique où améliorer la réponse</a:t>
            </a:r>
          </a:p>
        </p:txBody>
      </p:sp>
      <p:sp>
        <p:nvSpPr>
          <p:cNvPr id="4" name="">
            <a:extLst xmlns:a="http://schemas.openxmlformats.org/drawingml/2006/main">
              <a:ext uri="{FF2B5EF4-FFF2-40B4-BE49-F238E27FC236}">
                <a16:creationId xmlns:a16="http://schemas.microsoft.com/office/drawing/2014/main" id="{D90791EA-FF47-4DCB-9A92-8224040EF172}"/>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5F6B73"/>
                </a:solidFill>
              </a:defRPr>
            </a:pPr>
            <a:r>
              <a:rPr sz="1200" b="0">
                <a:solidFill>
                  <a:srgbClr val="5F6B73"/>
                </a:solidFill>
              </a:rPr>
              <a:t>La méthode compare question, contexte, réponse générée et référence humaine.</a:t>
            </a:r>
          </a:p>
        </p:txBody>
      </p:sp>
      <p:sp>
        <p:nvSpPr>
          <p:cNvPr id="5" name="">
            <a:extLst xmlns:a="http://schemas.openxmlformats.org/drawingml/2006/main">
              <a:ext uri="{FF2B5EF4-FFF2-40B4-BE49-F238E27FC236}">
                <a16:creationId xmlns:a16="http://schemas.microsoft.com/office/drawing/2014/main" id="{5CB49460-A316-4CA2-9767-C9F7F8835A8A}"/>
              </a:ext>
            </a:extLst>
          </p:cNvPr>
          <p:cNvSpPr>
            <a:spLocks xmlns:a="http://schemas.openxmlformats.org/drawingml/2006/main" noGrp="1"/>
          </p:cNvSpPr>
          <p:nvPr/>
        </p:nvSpPr>
        <p:spPr>
          <a:xfrm xmlns:a="http://schemas.openxmlformats.org/drawingml/2006/main">
            <a:off x="685800" y="2095500"/>
            <a:ext cx="3429000" cy="3143250"/>
          </a:xfrm>
          <a:prstGeom xmlns:a="http://schemas.openxmlformats.org/drawingml/2006/main" prst="roundRect">
            <a:avLst>
              <a:gd name="adj" fmla="val 4848"/>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6E0BB9F4-2DEB-4BFC-821C-68BC4B6F1EEE}"/>
              </a:ext>
            </a:extLst>
          </p:cNvPr>
          <p:cNvSpPr>
            <a:spLocks xmlns:a="http://schemas.openxmlformats.org/drawingml/2006/main" noGrp="1"/>
          </p:cNvSpPr>
          <p:nvPr/>
        </p:nvSpPr>
        <p:spPr>
          <a:xfrm xmlns:a="http://schemas.openxmlformats.org/drawingml/2006/main">
            <a:off x="914400" y="22860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Entrées RAGAS</a:t>
            </a:r>
          </a:p>
        </p:txBody>
      </p:sp>
      <p:sp>
        <p:nvSpPr>
          <p:cNvPr id="7" name="">
            <a:extLst xmlns:a="http://schemas.openxmlformats.org/drawingml/2006/main">
              <a:ext uri="{FF2B5EF4-FFF2-40B4-BE49-F238E27FC236}">
                <a16:creationId xmlns:a16="http://schemas.microsoft.com/office/drawing/2014/main" id="{2A3063B9-3944-4888-BC7A-4EBEBC807DE1}"/>
              </a:ext>
            </a:extLst>
          </p:cNvPr>
          <p:cNvSpPr>
            <a:spLocks xmlns:a="http://schemas.openxmlformats.org/drawingml/2006/main" noGrp="1"/>
          </p:cNvSpPr>
          <p:nvPr/>
        </p:nvSpPr>
        <p:spPr>
          <a:xfrm xmlns:a="http://schemas.openxmlformats.org/drawingml/2006/main">
            <a:off x="914400" y="2705100"/>
            <a:ext cx="297180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132A3A"/>
                </a:solidFill>
              </a:defRPr>
            </a:pPr>
            <a:r>
              <a:rPr sz="1200" b="1">
                <a:solidFill>
                  <a:srgbClr val="132A3A"/>
                </a:solidFill>
              </a:rPr>
              <a:t>3 cas factuels</a:t>
            </a:r>
          </a:p>
          <a:p xmlns:a="http://schemas.openxmlformats.org/drawingml/2006/main">
            <a:pPr>
              <a:buNone/>
              <a:defRPr sz="2100" b="1">
                <a:solidFill>
                  <a:srgbClr val="0B6B69"/>
                </a:solidFill>
              </a:defRPr>
            </a:pPr>
            <a:r>
              <a:rPr sz="2100" b="1">
                <a:solidFill>
                  <a:srgbClr val="0B6B69"/>
                </a:solidFill>
              </a:rPr>
              <a:t/>
            </a:r>
          </a:p>
          <a:p xmlns:a="http://schemas.openxmlformats.org/drawingml/2006/main">
            <a:pPr>
              <a:buNone/>
              <a:defRPr sz="1200" b="0">
                <a:solidFill>
                  <a:srgbClr val="132A3A"/>
                </a:solidFill>
              </a:defRPr>
            </a:pPr>
            <a:r>
              <a:rPr sz="1200" b="0">
                <a:solidFill>
                  <a:srgbClr val="132A3A"/>
                </a:solidFill>
              </a:rPr>
              <a:t>Question</a:t>
            </a:r>
          </a:p>
          <a:p xmlns:a="http://schemas.openxmlformats.org/drawingml/2006/main">
            <a:pPr>
              <a:buNone/>
              <a:defRPr sz="1200" b="1">
                <a:solidFill>
                  <a:srgbClr val="132A3A"/>
                </a:solidFill>
              </a:defRPr>
            </a:pPr>
            <a:r>
              <a:rPr sz="1200" b="1">
                <a:solidFill>
                  <a:srgbClr val="132A3A"/>
                </a:solidFill>
              </a:rPr>
              <a:t>+ contextes récupérés</a:t>
            </a:r>
          </a:p>
          <a:p xmlns:a="http://schemas.openxmlformats.org/drawingml/2006/main">
            <a:pPr>
              <a:buNone/>
              <a:defRPr sz="1200" b="1">
                <a:solidFill>
                  <a:srgbClr val="132A3A"/>
                </a:solidFill>
              </a:defRPr>
            </a:pPr>
            <a:r>
              <a:rPr sz="1200" b="1">
                <a:solidFill>
                  <a:srgbClr val="132A3A"/>
                </a:solidFill>
              </a:rPr>
              <a:t>+ réponse générée</a:t>
            </a:r>
          </a:p>
          <a:p xmlns:a="http://schemas.openxmlformats.org/drawingml/2006/main">
            <a:pPr>
              <a:buNone/>
              <a:defRPr sz="1200" b="1">
                <a:solidFill>
                  <a:srgbClr val="132A3A"/>
                </a:solidFill>
              </a:defRPr>
            </a:pPr>
            <a:r>
              <a:rPr sz="1200" b="1">
                <a:solidFill>
                  <a:srgbClr val="132A3A"/>
                </a:solidFill>
              </a:rPr>
              <a:t>+ référence humaine</a:t>
            </a:r>
          </a:p>
        </p:txBody>
      </p:sp>
      <p:sp>
        <p:nvSpPr>
          <p:cNvPr id="8" name="">
            <a:extLst xmlns:a="http://schemas.openxmlformats.org/drawingml/2006/main">
              <a:ext uri="{FF2B5EF4-FFF2-40B4-BE49-F238E27FC236}">
                <a16:creationId xmlns:a16="http://schemas.microsoft.com/office/drawing/2014/main" id="{5CF277DC-1590-43C7-ADCC-A296B2493326}"/>
              </a:ext>
            </a:extLst>
          </p:cNvPr>
          <p:cNvSpPr>
            <a:spLocks xmlns:a="http://schemas.openxmlformats.org/drawingml/2006/main" noGrp="1"/>
          </p:cNvSpPr>
          <p:nvPr/>
        </p:nvSpPr>
        <p:spPr>
          <a:xfrm xmlns:a="http://schemas.openxmlformats.org/drawingml/2006/main">
            <a:off x="4381500" y="2095500"/>
            <a:ext cx="3333750" cy="3143250"/>
          </a:xfrm>
          <a:prstGeom xmlns:a="http://schemas.openxmlformats.org/drawingml/2006/main" prst="roundRect">
            <a:avLst>
              <a:gd name="adj" fmla="val 4848"/>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EBBB712E-2A81-4C64-8B71-4C1FD7F3237F}"/>
              </a:ext>
            </a:extLst>
          </p:cNvPr>
          <p:cNvSpPr>
            <a:spLocks xmlns:a="http://schemas.openxmlformats.org/drawingml/2006/main" noGrp="1"/>
          </p:cNvSpPr>
          <p:nvPr/>
        </p:nvSpPr>
        <p:spPr>
          <a:xfrm xmlns:a="http://schemas.openxmlformats.org/drawingml/2006/main">
            <a:off x="4610100" y="228600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Ce que RAGAS mesure</a:t>
            </a:r>
          </a:p>
        </p:txBody>
      </p:sp>
      <p:sp>
        <p:nvSpPr>
          <p:cNvPr id="10" name="">
            <a:extLst xmlns:a="http://schemas.openxmlformats.org/drawingml/2006/main">
              <a:ext uri="{FF2B5EF4-FFF2-40B4-BE49-F238E27FC236}">
                <a16:creationId xmlns:a16="http://schemas.microsoft.com/office/drawing/2014/main" id="{6B0911B0-01B1-439C-9B2E-1159F4772297}"/>
              </a:ext>
            </a:extLst>
          </p:cNvPr>
          <p:cNvSpPr>
            <a:spLocks xmlns:a="http://schemas.openxmlformats.org/drawingml/2006/main" noGrp="1"/>
          </p:cNvSpPr>
          <p:nvPr/>
        </p:nvSpPr>
        <p:spPr>
          <a:xfrm xmlns:a="http://schemas.openxmlformats.org/drawingml/2006/main">
            <a:off x="4610100" y="2705100"/>
            <a:ext cx="2876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0B6B69"/>
                </a:solidFill>
              </a:defRPr>
            </a:pPr>
            <a:r>
              <a:rPr sz="1200" b="1">
                <a:solidFill>
                  <a:srgbClr val="0B6B69"/>
                </a:solidFill>
              </a:rPr>
              <a:t>0,900 fidélité</a:t>
            </a:r>
          </a:p>
          <a:p xmlns:a="http://schemas.openxmlformats.org/drawingml/2006/main">
            <a:pPr>
              <a:buNone/>
              <a:defRPr sz="1200" b="1">
                <a:solidFill>
                  <a:srgbClr val="0B6B69"/>
                </a:solidFill>
              </a:defRPr>
            </a:pPr>
            <a:r>
              <a:rPr sz="1200" b="1">
                <a:solidFill>
                  <a:srgbClr val="0B6B69"/>
                </a:solidFill>
              </a:rPr>
              <a:t>0,846 pertinence</a:t>
            </a:r>
          </a:p>
          <a:p xmlns:a="http://schemas.openxmlformats.org/drawingml/2006/main">
            <a:pPr>
              <a:buNone/>
              <a:defRPr sz="1200" b="1">
                <a:solidFill>
                  <a:srgbClr val="0B6B69"/>
                </a:solidFill>
              </a:defRPr>
            </a:pPr>
            <a:r>
              <a:rPr sz="1200" b="1">
                <a:solidFill>
                  <a:srgbClr val="0B6B69"/>
                </a:solidFill>
              </a:rPr>
              <a:t>1,000 précision du contexte</a:t>
            </a:r>
          </a:p>
          <a:p xmlns:a="http://schemas.openxmlformats.org/drawingml/2006/main">
            <a:pPr>
              <a:buNone/>
              <a:defRPr sz="2250" b="1">
                <a:solidFill>
                  <a:srgbClr val="0B6B69"/>
                </a:solidFill>
              </a:defRPr>
            </a:pPr>
            <a:r>
              <a:rPr sz="2250" b="1">
                <a:solidFill>
                  <a:srgbClr val="0B6B69"/>
                </a:solidFill>
              </a:rPr>
              <a:t/>
            </a:r>
          </a:p>
          <a:p xmlns:a="http://schemas.openxmlformats.org/drawingml/2006/main">
            <a:pPr>
              <a:buNone/>
              <a:defRPr sz="1200" b="1">
                <a:solidFill>
                  <a:srgbClr val="0B6B69"/>
                </a:solidFill>
              </a:defRPr>
            </a:pPr>
            <a:r>
              <a:rPr sz="1200" b="1">
                <a:solidFill>
                  <a:srgbClr val="0B6B69"/>
                </a:solidFill>
              </a:rPr>
              <a:t>Le contexte est utile</a:t>
            </a:r>
          </a:p>
          <a:p xmlns:a="http://schemas.openxmlformats.org/drawingml/2006/main">
            <a:pPr>
              <a:buNone/>
              <a:defRPr sz="1200" b="1">
                <a:solidFill>
                  <a:srgbClr val="0B6B69"/>
                </a:solidFill>
              </a:defRPr>
            </a:pPr>
            <a:r>
              <a:rPr sz="1200" b="1">
                <a:solidFill>
                  <a:srgbClr val="0B6B69"/>
                </a:solidFill>
              </a:rPr>
              <a:t>et correctement exploité</a:t>
            </a:r>
          </a:p>
        </p:txBody>
      </p:sp>
      <p:sp>
        <p:nvSpPr>
          <p:cNvPr id="11" name="">
            <a:extLst xmlns:a="http://schemas.openxmlformats.org/drawingml/2006/main">
              <a:ext uri="{FF2B5EF4-FFF2-40B4-BE49-F238E27FC236}">
                <a16:creationId xmlns:a16="http://schemas.microsoft.com/office/drawing/2014/main" id="{54BB0A53-FB12-4137-AAB6-1924F27A204A}"/>
              </a:ext>
            </a:extLst>
          </p:cNvPr>
          <p:cNvSpPr>
            <a:spLocks xmlns:a="http://schemas.openxmlformats.org/drawingml/2006/main" noGrp="1"/>
          </p:cNvSpPr>
          <p:nvPr/>
        </p:nvSpPr>
        <p:spPr>
          <a:xfrm xmlns:a="http://schemas.openxmlformats.org/drawingml/2006/main">
            <a:off x="7981950" y="2095500"/>
            <a:ext cx="3524250" cy="3143250"/>
          </a:xfrm>
          <a:prstGeom xmlns:a="http://schemas.openxmlformats.org/drawingml/2006/main" prst="roundRect">
            <a:avLst>
              <a:gd name="adj" fmla="val 4848"/>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607B21BB-47C7-4F02-8CA2-36C7CD0A9013}"/>
              </a:ext>
            </a:extLst>
          </p:cNvPr>
          <p:cNvSpPr>
            <a:spLocks xmlns:a="http://schemas.openxmlformats.org/drawingml/2006/main" noGrp="1"/>
          </p:cNvSpPr>
          <p:nvPr/>
        </p:nvSpPr>
        <p:spPr>
          <a:xfrm xmlns:a="http://schemas.openxmlformats.org/drawingml/2006/main">
            <a:off x="8210550" y="2286000"/>
            <a:ext cx="3067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Décision d’amélioration</a:t>
            </a:r>
          </a:p>
        </p:txBody>
      </p:sp>
      <p:sp>
        <p:nvSpPr>
          <p:cNvPr id="13" name="">
            <a:extLst xmlns:a="http://schemas.openxmlformats.org/drawingml/2006/main">
              <a:ext uri="{FF2B5EF4-FFF2-40B4-BE49-F238E27FC236}">
                <a16:creationId xmlns:a16="http://schemas.microsoft.com/office/drawing/2014/main" id="{508CE779-4690-49B4-B065-40CCAA553C4D}"/>
              </a:ext>
            </a:extLst>
          </p:cNvPr>
          <p:cNvSpPr>
            <a:spLocks xmlns:a="http://schemas.openxmlformats.org/drawingml/2006/main" noGrp="1"/>
          </p:cNvSpPr>
          <p:nvPr/>
        </p:nvSpPr>
        <p:spPr>
          <a:xfrm xmlns:a="http://schemas.openxmlformats.org/drawingml/2006/main">
            <a:off x="8210550" y="2705100"/>
            <a:ext cx="30670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B83A27"/>
                </a:solidFill>
              </a:defRPr>
            </a:pPr>
            <a:r>
              <a:rPr sz="1200" b="1">
                <a:solidFill>
                  <a:srgbClr val="B83A27"/>
                </a:solidFill>
              </a:rPr>
              <a:t>0,683 correction</a:t>
            </a:r>
          </a:p>
          <a:p xmlns:a="http://schemas.openxmlformats.org/drawingml/2006/main">
            <a:pPr>
              <a:buNone/>
              <a:defRPr sz="1800" b="1">
                <a:solidFill>
                  <a:srgbClr val="B83A27"/>
                </a:solidFill>
              </a:defRPr>
            </a:pPr>
            <a:r>
              <a:rPr sz="1800" b="1">
                <a:solidFill>
                  <a:srgbClr val="B83A27"/>
                </a:solidFill>
              </a:rPr>
              <a:t/>
            </a:r>
          </a:p>
          <a:p xmlns:a="http://schemas.openxmlformats.org/drawingml/2006/main">
            <a:pPr>
              <a:buNone/>
              <a:defRPr sz="1200" b="0">
                <a:solidFill>
                  <a:srgbClr val="B83A27"/>
                </a:solidFill>
              </a:defRPr>
            </a:pPr>
            <a:r>
              <a:rPr sz="1200" b="0">
                <a:solidFill>
                  <a:srgbClr val="B83A27"/>
                </a:solidFill>
              </a:rPr>
              <a:t>Les détails attendus manquent parfois</a:t>
            </a:r>
          </a:p>
          <a:p xmlns:a="http://schemas.openxmlformats.org/drawingml/2006/main">
            <a:pPr>
              <a:buNone/>
              <a:defRPr sz="1800" b="1">
                <a:solidFill>
                  <a:srgbClr val="B83A27"/>
                </a:solidFill>
              </a:defRPr>
            </a:pPr>
            <a:r>
              <a:rPr sz="1800" b="1">
                <a:solidFill>
                  <a:srgbClr val="B83A27"/>
                </a:solidFill>
              </a:rPr>
              <a:t/>
            </a:r>
          </a:p>
          <a:p xmlns:a="http://schemas.openxmlformats.org/drawingml/2006/main">
            <a:pPr>
              <a:buNone/>
              <a:defRPr sz="1200" b="1">
                <a:solidFill>
                  <a:srgbClr val="B83A27"/>
                </a:solidFill>
              </a:defRPr>
            </a:pPr>
            <a:r>
              <a:rPr sz="1200" b="1">
                <a:solidFill>
                  <a:srgbClr val="B83A27"/>
                </a:solidFill>
              </a:rPr>
              <a:t>→ structurer la réponse</a:t>
            </a:r>
          </a:p>
          <a:p xmlns:a="http://schemas.openxmlformats.org/drawingml/2006/main">
            <a:pPr>
              <a:buNone/>
              <a:defRPr sz="1200" b="1">
                <a:solidFill>
                  <a:srgbClr val="B83A27"/>
                </a:solidFill>
              </a:defRPr>
            </a:pPr>
            <a:r>
              <a:rPr sz="1200" b="1">
                <a:solidFill>
                  <a:srgbClr val="B83A27"/>
                </a:solidFill>
              </a:rPr>
              <a:t>→ élargir le benchmark</a:t>
            </a:r>
          </a:p>
        </p:txBody>
      </p:sp>
    </p:spTree>
    <p:extLst>
      <p:ext uri="{BB962C8B-B14F-4D97-AF65-F5344CB8AC3E}">
        <p14:creationId xmlns:p14="http://schemas.microsoft.com/office/powerpoint/2010/main" val="1161108930"/>
      </p:ext>
    </p:extLst>
  </p:cSld>
</p:sld>
</file>

<file path=ppt/slides/slide11.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03452DD-D5D0-467E-BC3B-9EBC224D18FF}"/>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LIMITES</a:t>
            </a:r>
          </a:p>
        </p:txBody>
      </p:sp>
      <p:sp>
        <p:nvSpPr>
          <p:cNvPr id="2" name="">
            <a:extLst xmlns:a="http://schemas.openxmlformats.org/drawingml/2006/main">
              <a:ext uri="{FF2B5EF4-FFF2-40B4-BE49-F238E27FC236}">
                <a16:creationId xmlns:a16="http://schemas.microsoft.com/office/drawing/2014/main" id="{19193F0F-8078-4AEB-BD8D-B36E46226071}"/>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11</a:t>
            </a:r>
          </a:p>
        </p:txBody>
      </p:sp>
      <p:sp>
        <p:nvSpPr>
          <p:cNvPr id="3" name="">
            <a:extLst xmlns:a="http://schemas.openxmlformats.org/drawingml/2006/main">
              <a:ext uri="{FF2B5EF4-FFF2-40B4-BE49-F238E27FC236}">
                <a16:creationId xmlns:a16="http://schemas.microsoft.com/office/drawing/2014/main" id="{C37AF4D7-66D0-43EF-B35A-093CDC9FCA39}"/>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250" b="1">
                <a:solidFill>
                  <a:srgbClr val="132A3A"/>
                </a:solidFill>
              </a:defRPr>
            </a:pPr>
            <a:r>
              <a:rPr sz="2250" b="1">
                <a:solidFill>
                  <a:srgbClr val="132A3A"/>
                </a:solidFill>
              </a:rPr>
              <a:t>Les limites sont connues et actionnables</a:t>
            </a:r>
          </a:p>
        </p:txBody>
      </p:sp>
      <p:sp>
        <p:nvSpPr>
          <p:cNvPr id="4" name="">
            <a:extLst xmlns:a="http://schemas.openxmlformats.org/drawingml/2006/main">
              <a:ext uri="{FF2B5EF4-FFF2-40B4-BE49-F238E27FC236}">
                <a16:creationId xmlns:a16="http://schemas.microsoft.com/office/drawing/2014/main" id="{A0F540C0-61C7-4B9C-8992-521C9C0C7EF8}"/>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5F6B73"/>
                </a:solidFill>
              </a:defRPr>
            </a:pPr>
            <a:r>
              <a:rPr sz="1200" b="0">
                <a:solidFill>
                  <a:srgbClr val="5F6B73"/>
                </a:solidFill>
              </a:rPr>
              <a:t>Je distingue ce que le POC a démontré de ce qui doit être sécurisé avant un déploiement élargi.</a:t>
            </a:r>
          </a:p>
        </p:txBody>
      </p:sp>
      <p:sp>
        <p:nvSpPr>
          <p:cNvPr id="5" name="">
            <a:extLst xmlns:a="http://schemas.openxmlformats.org/drawingml/2006/main">
              <a:ext uri="{FF2B5EF4-FFF2-40B4-BE49-F238E27FC236}">
                <a16:creationId xmlns:a16="http://schemas.microsoft.com/office/drawing/2014/main" id="{D434E5AE-E389-44DE-908E-52911A121769}"/>
              </a:ext>
            </a:extLst>
          </p:cNvPr>
          <p:cNvSpPr>
            <a:spLocks xmlns:a="http://schemas.openxmlformats.org/drawingml/2006/main" noGrp="1"/>
          </p:cNvSpPr>
          <p:nvPr/>
        </p:nvSpPr>
        <p:spPr>
          <a:xfrm xmlns:a="http://schemas.openxmlformats.org/drawingml/2006/main">
            <a:off x="685800" y="2095500"/>
            <a:ext cx="3429000" cy="3143250"/>
          </a:xfrm>
          <a:prstGeom xmlns:a="http://schemas.openxmlformats.org/drawingml/2006/main" prst="roundRect">
            <a:avLst>
              <a:gd name="adj" fmla="val 4848"/>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B00CBCAA-BA6A-4A80-9DB3-04976DDAF5F0}"/>
              </a:ext>
            </a:extLst>
          </p:cNvPr>
          <p:cNvSpPr>
            <a:spLocks xmlns:a="http://schemas.openxmlformats.org/drawingml/2006/main" noGrp="1"/>
          </p:cNvSpPr>
          <p:nvPr/>
        </p:nvSpPr>
        <p:spPr>
          <a:xfrm xmlns:a="http://schemas.openxmlformats.org/drawingml/2006/main">
            <a:off x="914400" y="22860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Données</a:t>
            </a:r>
          </a:p>
        </p:txBody>
      </p:sp>
      <p:sp>
        <p:nvSpPr>
          <p:cNvPr id="7" name="">
            <a:extLst xmlns:a="http://schemas.openxmlformats.org/drawingml/2006/main">
              <a:ext uri="{FF2B5EF4-FFF2-40B4-BE49-F238E27FC236}">
                <a16:creationId xmlns:a16="http://schemas.microsoft.com/office/drawing/2014/main" id="{71DCD871-0563-4DA8-BE8D-3A9EE7004384}"/>
              </a:ext>
            </a:extLst>
          </p:cNvPr>
          <p:cNvSpPr>
            <a:spLocks xmlns:a="http://schemas.openxmlformats.org/drawingml/2006/main" noGrp="1"/>
          </p:cNvSpPr>
          <p:nvPr/>
        </p:nvSpPr>
        <p:spPr>
          <a:xfrm xmlns:a="http://schemas.openxmlformats.org/drawingml/2006/main">
            <a:off x="914400" y="2705100"/>
            <a:ext cx="297180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132A3A"/>
                </a:solidFill>
              </a:defRPr>
            </a:pPr>
            <a:r>
              <a:rPr sz="1200" b="0">
                <a:solidFill>
                  <a:srgbClr val="132A3A"/>
                </a:solidFill>
              </a:rPr>
              <a:t>Paris uniquement</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Snapshot non actualisé</a:t>
            </a:r>
          </a:p>
          <a:p xmlns:a="http://schemas.openxmlformats.org/drawingml/2006/main">
            <a:pPr>
              <a:buNone/>
              <a:defRPr sz="1200" b="0">
                <a:solidFill>
                  <a:srgbClr val="132A3A"/>
                </a:solidFill>
              </a:defRPr>
            </a:pPr>
            <a:r>
              <a:rPr sz="1200" b="0">
                <a:solidFill>
                  <a:srgbClr val="132A3A"/>
                </a:solidFill>
              </a:rPr>
              <a:t>Descriptions parfois incomplètes</a:t>
            </a:r>
          </a:p>
          <a:p xmlns:a="http://schemas.openxmlformats.org/drawingml/2006/main">
            <a:pPr>
              <a:buNone/>
              <a:defRPr sz="1500" b="0">
                <a:solidFill>
                  <a:srgbClr val="132A3A"/>
                </a:solidFill>
              </a:defRPr>
            </a:pPr>
            <a:r>
              <a:rPr sz="1500" b="0">
                <a:solidFill>
                  <a:srgbClr val="132A3A"/>
                </a:solidFill>
              </a:rPr>
              <a:t/>
            </a:r>
          </a:p>
          <a:p xmlns:a="http://schemas.openxmlformats.org/drawingml/2006/main">
            <a:pPr>
              <a:buNone/>
              <a:defRPr sz="1200" b="0">
                <a:solidFill>
                  <a:srgbClr val="132A3A"/>
                </a:solidFill>
              </a:defRPr>
            </a:pPr>
            <a:r>
              <a:rPr sz="1200" b="0">
                <a:solidFill>
                  <a:srgbClr val="132A3A"/>
                </a:solidFill>
              </a:rPr>
              <a:t>→ collecte planifiée + contrôles</a:t>
            </a:r>
          </a:p>
        </p:txBody>
      </p:sp>
      <p:sp>
        <p:nvSpPr>
          <p:cNvPr id="8" name="">
            <a:extLst xmlns:a="http://schemas.openxmlformats.org/drawingml/2006/main">
              <a:ext uri="{FF2B5EF4-FFF2-40B4-BE49-F238E27FC236}">
                <a16:creationId xmlns:a16="http://schemas.microsoft.com/office/drawing/2014/main" id="{66EC818C-424F-4C06-A7DF-85E04754C401}"/>
              </a:ext>
            </a:extLst>
          </p:cNvPr>
          <p:cNvSpPr>
            <a:spLocks xmlns:a="http://schemas.openxmlformats.org/drawingml/2006/main" noGrp="1"/>
          </p:cNvSpPr>
          <p:nvPr/>
        </p:nvSpPr>
        <p:spPr>
          <a:xfrm xmlns:a="http://schemas.openxmlformats.org/drawingml/2006/main">
            <a:off x="4381500" y="2095500"/>
            <a:ext cx="3333750" cy="3143250"/>
          </a:xfrm>
          <a:prstGeom xmlns:a="http://schemas.openxmlformats.org/drawingml/2006/main" prst="roundRect">
            <a:avLst>
              <a:gd name="adj" fmla="val 4848"/>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320E2F6C-8C2C-4B63-B535-CD19E0B375FD}"/>
              </a:ext>
            </a:extLst>
          </p:cNvPr>
          <p:cNvSpPr>
            <a:spLocks xmlns:a="http://schemas.openxmlformats.org/drawingml/2006/main" noGrp="1"/>
          </p:cNvSpPr>
          <p:nvPr/>
        </p:nvSpPr>
        <p:spPr>
          <a:xfrm xmlns:a="http://schemas.openxmlformats.org/drawingml/2006/main">
            <a:off x="4610100" y="228600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Recherche et modèle</a:t>
            </a:r>
          </a:p>
        </p:txBody>
      </p:sp>
      <p:sp>
        <p:nvSpPr>
          <p:cNvPr id="10" name="">
            <a:extLst xmlns:a="http://schemas.openxmlformats.org/drawingml/2006/main">
              <a:ext uri="{FF2B5EF4-FFF2-40B4-BE49-F238E27FC236}">
                <a16:creationId xmlns:a16="http://schemas.microsoft.com/office/drawing/2014/main" id="{834CAC00-8C55-4626-9D3F-9A7D69EE1772}"/>
              </a:ext>
            </a:extLst>
          </p:cNvPr>
          <p:cNvSpPr>
            <a:spLocks xmlns:a="http://schemas.openxmlformats.org/drawingml/2006/main" noGrp="1"/>
          </p:cNvSpPr>
          <p:nvPr/>
        </p:nvSpPr>
        <p:spPr>
          <a:xfrm xmlns:a="http://schemas.openxmlformats.org/drawingml/2006/main">
            <a:off x="4610100" y="2705100"/>
            <a:ext cx="2876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132A3A"/>
                </a:solidFill>
              </a:defRPr>
            </a:pPr>
            <a:r>
              <a:rPr sz="1200" b="0">
                <a:solidFill>
                  <a:srgbClr val="132A3A"/>
                </a:solidFill>
              </a:rPr>
              <a:t>Pas de seuil de similarité</a:t>
            </a:r>
          </a:p>
          <a:p xmlns:a="http://schemas.openxmlformats.org/drawingml/2006/main">
            <a:pPr>
              <a:buNone/>
              <a:defRPr sz="1200" b="0">
                <a:solidFill>
                  <a:srgbClr val="132A3A"/>
                </a:solidFill>
              </a:defRPr>
            </a:pPr>
            <a:r>
              <a:rPr sz="1200" b="0">
                <a:solidFill>
                  <a:srgbClr val="132A3A"/>
                </a:solidFill>
              </a:rPr>
              <a:t>Mistral dépend d’Internet</a:t>
            </a:r>
          </a:p>
          <a:p xmlns:a="http://schemas.openxmlformats.org/drawingml/2006/main">
            <a:pPr>
              <a:buNone/>
              <a:defRPr sz="1200" b="0">
                <a:solidFill>
                  <a:srgbClr val="132A3A"/>
                </a:solidFill>
              </a:defRPr>
            </a:pPr>
            <a:r>
              <a:rPr sz="1200" b="0">
                <a:solidFill>
                  <a:srgbClr val="132A3A"/>
                </a:solidFill>
              </a:rPr>
              <a:t>Chunking et top_k à calibrer</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 filtres + refus robuste</a:t>
            </a:r>
          </a:p>
        </p:txBody>
      </p:sp>
      <p:sp>
        <p:nvSpPr>
          <p:cNvPr id="11" name="">
            <a:extLst xmlns:a="http://schemas.openxmlformats.org/drawingml/2006/main">
              <a:ext uri="{FF2B5EF4-FFF2-40B4-BE49-F238E27FC236}">
                <a16:creationId xmlns:a16="http://schemas.microsoft.com/office/drawing/2014/main" id="{457BCEF5-328B-4864-B519-C647617D7FB2}"/>
              </a:ext>
            </a:extLst>
          </p:cNvPr>
          <p:cNvSpPr>
            <a:spLocks xmlns:a="http://schemas.openxmlformats.org/drawingml/2006/main" noGrp="1"/>
          </p:cNvSpPr>
          <p:nvPr/>
        </p:nvSpPr>
        <p:spPr>
          <a:xfrm xmlns:a="http://schemas.openxmlformats.org/drawingml/2006/main">
            <a:off x="7981950" y="2095500"/>
            <a:ext cx="3524250" cy="3143250"/>
          </a:xfrm>
          <a:prstGeom xmlns:a="http://schemas.openxmlformats.org/drawingml/2006/main" prst="roundRect">
            <a:avLst>
              <a:gd name="adj" fmla="val 4848"/>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3D33714F-59C2-499F-A6A5-BD075ED432F2}"/>
              </a:ext>
            </a:extLst>
          </p:cNvPr>
          <p:cNvSpPr>
            <a:spLocks xmlns:a="http://schemas.openxmlformats.org/drawingml/2006/main" noGrp="1"/>
          </p:cNvSpPr>
          <p:nvPr/>
        </p:nvSpPr>
        <p:spPr>
          <a:xfrm xmlns:a="http://schemas.openxmlformats.org/drawingml/2006/main">
            <a:off x="8210550" y="2286000"/>
            <a:ext cx="3067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Évaluation et exploitation</a:t>
            </a:r>
          </a:p>
        </p:txBody>
      </p:sp>
      <p:sp>
        <p:nvSpPr>
          <p:cNvPr id="13" name="">
            <a:extLst xmlns:a="http://schemas.openxmlformats.org/drawingml/2006/main">
              <a:ext uri="{FF2B5EF4-FFF2-40B4-BE49-F238E27FC236}">
                <a16:creationId xmlns:a16="http://schemas.microsoft.com/office/drawing/2014/main" id="{68110F61-A49B-4BCE-8C50-2C5E6E583B2C}"/>
              </a:ext>
            </a:extLst>
          </p:cNvPr>
          <p:cNvSpPr>
            <a:spLocks xmlns:a="http://schemas.openxmlformats.org/drawingml/2006/main" noGrp="1"/>
          </p:cNvSpPr>
          <p:nvPr/>
        </p:nvSpPr>
        <p:spPr>
          <a:xfrm xmlns:a="http://schemas.openxmlformats.org/drawingml/2006/main">
            <a:off x="8210550" y="2705100"/>
            <a:ext cx="30670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B83A27"/>
                </a:solidFill>
              </a:defRPr>
            </a:pPr>
            <a:r>
              <a:rPr sz="1200" b="0">
                <a:solidFill>
                  <a:srgbClr val="B83A27"/>
                </a:solidFill>
              </a:rPr>
              <a:t>3 cas RAGAS</a:t>
            </a:r>
          </a:p>
          <a:p xmlns:a="http://schemas.openxmlformats.org/drawingml/2006/main">
            <a:pPr>
              <a:buNone/>
              <a:defRPr sz="1200" b="0">
                <a:solidFill>
                  <a:srgbClr val="B83A27"/>
                </a:solidFill>
              </a:defRPr>
            </a:pPr>
            <a:r>
              <a:rPr sz="1200" b="0">
                <a:solidFill>
                  <a:srgbClr val="B83A27"/>
                </a:solidFill>
              </a:rPr>
              <a:t>Pas de test de charge</a:t>
            </a:r>
          </a:p>
          <a:p xmlns:a="http://schemas.openxmlformats.org/drawingml/2006/main">
            <a:pPr>
              <a:buNone/>
              <a:defRPr sz="1200" b="0">
                <a:solidFill>
                  <a:srgbClr val="B83A27"/>
                </a:solidFill>
              </a:defRPr>
            </a:pPr>
            <a:r>
              <a:rPr sz="1200" b="0">
                <a:solidFill>
                  <a:srgbClr val="B83A27"/>
                </a:solidFill>
              </a:rPr>
              <a:t>Pas de suivi continu</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B83A27"/>
                </a:solidFill>
              </a:defRPr>
            </a:pPr>
            <a:r>
              <a:rPr sz="1200" b="0">
                <a:solidFill>
                  <a:srgbClr val="B83A27"/>
                </a:solidFill>
              </a:rPr>
              <a:t>→ benchmark + observabilité</a:t>
            </a:r>
          </a:p>
        </p:txBody>
      </p:sp>
    </p:spTree>
    <p:extLst>
      <p:ext uri="{BB962C8B-B14F-4D97-AF65-F5344CB8AC3E}">
        <p14:creationId xmlns:p14="http://schemas.microsoft.com/office/powerpoint/2010/main" val="1450606823"/>
      </p:ext>
    </p:extLst>
  </p:cSld>
</p:sld>
</file>

<file path=ppt/slides/slide12.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8DD4E7-C545-4192-9167-E052A8246D7B}"/>
              </a:ext>
            </a:extLst>
          </p:cNvPr>
          <p:cNvSpPr>
            <a:spLocks xmlns:a="http://schemas.openxmlformats.org/drawingml/2006/main" noGrp="1"/>
          </p:cNvSpPr>
          <p:nvPr/>
        </p:nvSpPr>
        <p:spPr>
          <a:xfrm xmlns:a="http://schemas.openxmlformats.org/drawingml/2006/main">
            <a:off x="685800" y="2667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RECOMMANDATION</a:t>
            </a:r>
          </a:p>
        </p:txBody>
      </p:sp>
      <p:sp>
        <p:nvSpPr>
          <p:cNvPr id="2" name="">
            <a:extLst xmlns:a="http://schemas.openxmlformats.org/drawingml/2006/main">
              <a:ext uri="{FF2B5EF4-FFF2-40B4-BE49-F238E27FC236}">
                <a16:creationId xmlns:a16="http://schemas.microsoft.com/office/drawing/2014/main" id="{295941D3-B002-4C5A-8B6D-0F752EE357B8}"/>
              </a:ext>
            </a:extLst>
          </p:cNvPr>
          <p:cNvSpPr>
            <a:spLocks xmlns:a="http://schemas.openxmlformats.org/drawingml/2006/main" noGrp="1"/>
          </p:cNvSpPr>
          <p:nvPr/>
        </p:nvSpPr>
        <p:spPr>
          <a:xfrm xmlns:a="http://schemas.openxmlformats.org/drawingml/2006/main">
            <a:off x="10858500" y="266700"/>
            <a:ext cx="64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5F6B73"/>
                </a:solidFill>
              </a:defRPr>
            </a:pPr>
            <a:r>
              <a:rPr sz="900" b="1">
                <a:solidFill>
                  <a:srgbClr val="5F6B73"/>
                </a:solidFill>
              </a:rPr>
              <a:t>12</a:t>
            </a:r>
          </a:p>
        </p:txBody>
      </p:sp>
      <p:sp>
        <p:nvSpPr>
          <p:cNvPr id="3" name="">
            <a:extLst xmlns:a="http://schemas.openxmlformats.org/drawingml/2006/main">
              <a:ext uri="{FF2B5EF4-FFF2-40B4-BE49-F238E27FC236}">
                <a16:creationId xmlns:a16="http://schemas.microsoft.com/office/drawing/2014/main" id="{11725A51-A566-43A7-9E9D-8584FA627FB9}"/>
              </a:ext>
            </a:extLst>
          </p:cNvPr>
          <p:cNvSpPr>
            <a:spLocks xmlns:a="http://schemas.openxmlformats.org/drawingml/2006/main" noGrp="1"/>
          </p:cNvSpPr>
          <p:nvPr/>
        </p:nvSpPr>
        <p:spPr>
          <a:xfrm xmlns:a="http://schemas.openxmlformats.org/drawingml/2006/main">
            <a:off x="685800" y="666750"/>
            <a:ext cx="8763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250" b="1">
                <a:solidFill>
                  <a:srgbClr val="132A3A"/>
                </a:solidFill>
              </a:defRPr>
            </a:pPr>
            <a:r>
              <a:rPr sz="2250" b="1">
                <a:solidFill>
                  <a:srgbClr val="132A3A"/>
                </a:solidFill>
              </a:rPr>
              <a:t>Je recommande un pilote multi-villes mesuré</a:t>
            </a:r>
          </a:p>
        </p:txBody>
      </p:sp>
      <p:sp>
        <p:nvSpPr>
          <p:cNvPr id="4" name="">
            <a:extLst xmlns:a="http://schemas.openxmlformats.org/drawingml/2006/main">
              <a:ext uri="{FF2B5EF4-FFF2-40B4-BE49-F238E27FC236}">
                <a16:creationId xmlns:a16="http://schemas.microsoft.com/office/drawing/2014/main" id="{FF5E4CA4-48D7-4FBA-A7C8-62D7B2A7F96C}"/>
              </a:ext>
            </a:extLst>
          </p:cNvPr>
          <p:cNvSpPr>
            <a:spLocks xmlns:a="http://schemas.openxmlformats.org/drawingml/2006/main" noGrp="1"/>
          </p:cNvSpPr>
          <p:nvPr/>
        </p:nvSpPr>
        <p:spPr>
          <a:xfrm xmlns:a="http://schemas.openxmlformats.org/drawingml/2006/main">
            <a:off x="685800" y="12954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5F6B73"/>
                </a:solidFill>
              </a:defRPr>
            </a:pPr>
            <a:r>
              <a:rPr sz="1200" b="0">
                <a:solidFill>
                  <a:srgbClr val="5F6B73"/>
                </a:solidFill>
              </a:rPr>
              <a:t>Le POC a démontré la faisabilité ; la suite doit maintenant confirmer la valeur, puis industrialiser.</a:t>
            </a:r>
          </a:p>
        </p:txBody>
      </p:sp>
      <p:sp>
        <p:nvSpPr>
          <p:cNvPr id="5" name="">
            <a:extLst xmlns:a="http://schemas.openxmlformats.org/drawingml/2006/main">
              <a:ext uri="{FF2B5EF4-FFF2-40B4-BE49-F238E27FC236}">
                <a16:creationId xmlns:a16="http://schemas.microsoft.com/office/drawing/2014/main" id="{17F4AD74-9B2B-4E73-B05A-95011294D6B8}"/>
              </a:ext>
            </a:extLst>
          </p:cNvPr>
          <p:cNvSpPr>
            <a:spLocks xmlns:a="http://schemas.openxmlformats.org/drawingml/2006/main" noGrp="1"/>
          </p:cNvSpPr>
          <p:nvPr/>
        </p:nvSpPr>
        <p:spPr>
          <a:xfrm xmlns:a="http://schemas.openxmlformats.org/drawingml/2006/main">
            <a:off x="685800" y="2095500"/>
            <a:ext cx="3429000" cy="3143250"/>
          </a:xfrm>
          <a:prstGeom xmlns:a="http://schemas.openxmlformats.org/drawingml/2006/main" prst="roundRect">
            <a:avLst>
              <a:gd name="adj" fmla="val 4848"/>
            </a:avLst>
          </a:prstGeom>
          <a:solidFill xmlns:a="http://schemas.openxmlformats.org/drawingml/2006/main">
            <a:srgbClr val="FFF7F3"/>
          </a:solidFill>
          <a:ln xmlns:a="http://schemas.openxmlformats.org/drawingml/2006/main" w="9525">
            <a:solidFill>
              <a:srgbClr val="D9D2C7"/>
            </a:solidFill>
            <a:prstDash val="solid"/>
          </a:ln>
        </p:spPr>
      </p:sp>
      <p:sp>
        <p:nvSpPr>
          <p:cNvPr id="6" name="">
            <a:extLst xmlns:a="http://schemas.openxmlformats.org/drawingml/2006/main">
              <a:ext uri="{FF2B5EF4-FFF2-40B4-BE49-F238E27FC236}">
                <a16:creationId xmlns:a16="http://schemas.microsoft.com/office/drawing/2014/main" id="{F02480D8-5FDE-4C76-A59E-88130175AACC}"/>
              </a:ext>
            </a:extLst>
          </p:cNvPr>
          <p:cNvSpPr>
            <a:spLocks xmlns:a="http://schemas.openxmlformats.org/drawingml/2006/main" noGrp="1"/>
          </p:cNvSpPr>
          <p:nvPr/>
        </p:nvSpPr>
        <p:spPr>
          <a:xfrm xmlns:a="http://schemas.openxmlformats.org/drawingml/2006/main">
            <a:off x="914400" y="22860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1. Mesurer le pilote</a:t>
            </a:r>
          </a:p>
        </p:txBody>
      </p:sp>
      <p:sp>
        <p:nvSpPr>
          <p:cNvPr id="7" name="">
            <a:extLst xmlns:a="http://schemas.openxmlformats.org/drawingml/2006/main">
              <a:ext uri="{FF2B5EF4-FFF2-40B4-BE49-F238E27FC236}">
                <a16:creationId xmlns:a16="http://schemas.microsoft.com/office/drawing/2014/main" id="{F6C4AC81-2F12-4573-B92A-0A185C19B3E2}"/>
              </a:ext>
            </a:extLst>
          </p:cNvPr>
          <p:cNvSpPr>
            <a:spLocks xmlns:a="http://schemas.openxmlformats.org/drawingml/2006/main" noGrp="1"/>
          </p:cNvSpPr>
          <p:nvPr/>
        </p:nvSpPr>
        <p:spPr>
          <a:xfrm xmlns:a="http://schemas.openxmlformats.org/drawingml/2006/main">
            <a:off x="914400" y="2705100"/>
            <a:ext cx="297180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132A3A"/>
                </a:solidFill>
              </a:defRPr>
            </a:pPr>
            <a:r>
              <a:rPr sz="1200" b="0">
                <a:solidFill>
                  <a:srgbClr val="132A3A"/>
                </a:solidFill>
              </a:rPr>
              <a:t>Plusieurs villes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Jeu annoté métier élargi</a:t>
            </a:r>
          </a:p>
          <a:p xmlns:a="http://schemas.openxmlformats.org/drawingml/2006/main">
            <a:pPr>
              <a:buNone/>
              <a:defRPr sz="1200" b="0">
                <a:solidFill>
                  <a:srgbClr val="132A3A"/>
                </a:solidFill>
              </a:defRPr>
            </a:pPr>
            <a:r>
              <a:rPr sz="1200" b="0">
                <a:solidFill>
                  <a:srgbClr val="132A3A"/>
                </a:solidFill>
              </a:rPr>
              <a:t>Cas négatifs et ambigus</a:t>
            </a:r>
          </a:p>
          <a:p xmlns:a="http://schemas.openxmlformats.org/drawingml/2006/main">
            <a:pPr>
              <a:buNone/>
              <a:defRPr sz="1425" b="0">
                <a:solidFill>
                  <a:srgbClr val="132A3A"/>
                </a:solidFill>
              </a:defRPr>
            </a:pPr>
            <a:r>
              <a:rPr sz="1425" b="0">
                <a:solidFill>
                  <a:srgbClr val="132A3A"/>
                </a:solidFill>
              </a:rPr>
              <a:t/>
            </a:r>
          </a:p>
          <a:p xmlns:a="http://schemas.openxmlformats.org/drawingml/2006/main">
            <a:pPr>
              <a:buNone/>
              <a:defRPr sz="1200" b="0">
                <a:solidFill>
                  <a:srgbClr val="132A3A"/>
                </a:solidFill>
              </a:defRPr>
            </a:pPr>
            <a:r>
              <a:rPr sz="1200" b="0">
                <a:solidFill>
                  <a:srgbClr val="132A3A"/>
                </a:solidFill>
              </a:rPr>
              <a:t>KPI : utilité, sources, latence</a:t>
            </a:r>
          </a:p>
        </p:txBody>
      </p:sp>
      <p:sp>
        <p:nvSpPr>
          <p:cNvPr id="8" name="">
            <a:extLst xmlns:a="http://schemas.openxmlformats.org/drawingml/2006/main">
              <a:ext uri="{FF2B5EF4-FFF2-40B4-BE49-F238E27FC236}">
                <a16:creationId xmlns:a16="http://schemas.microsoft.com/office/drawing/2014/main" id="{316CA29F-751D-46C9-82B3-42DDDC989FF1}"/>
              </a:ext>
            </a:extLst>
          </p:cNvPr>
          <p:cNvSpPr>
            <a:spLocks xmlns:a="http://schemas.openxmlformats.org/drawingml/2006/main" noGrp="1"/>
          </p:cNvSpPr>
          <p:nvPr/>
        </p:nvSpPr>
        <p:spPr>
          <a:xfrm xmlns:a="http://schemas.openxmlformats.org/drawingml/2006/main">
            <a:off x="4381500" y="2095500"/>
            <a:ext cx="3333750" cy="3143250"/>
          </a:xfrm>
          <a:prstGeom xmlns:a="http://schemas.openxmlformats.org/drawingml/2006/main" prst="roundRect">
            <a:avLst>
              <a:gd name="adj" fmla="val 4848"/>
            </a:avLst>
          </a:prstGeom>
          <a:solidFill xmlns:a="http://schemas.openxmlformats.org/drawingml/2006/main">
            <a:srgbClr val="F3F8F7"/>
          </a:solidFill>
          <a:ln xmlns:a="http://schemas.openxmlformats.org/drawingml/2006/main" w="9525">
            <a:solidFill>
              <a:srgbClr val="D9D2C7"/>
            </a:solidFill>
            <a:prstDash val="solid"/>
          </a:ln>
        </p:spPr>
      </p:sp>
      <p:sp>
        <p:nvSpPr>
          <p:cNvPr id="9" name="">
            <a:extLst xmlns:a="http://schemas.openxmlformats.org/drawingml/2006/main">
              <a:ext uri="{FF2B5EF4-FFF2-40B4-BE49-F238E27FC236}">
                <a16:creationId xmlns:a16="http://schemas.microsoft.com/office/drawing/2014/main" id="{9030167A-976F-468B-9F73-5414653AB206}"/>
              </a:ext>
            </a:extLst>
          </p:cNvPr>
          <p:cNvSpPr>
            <a:spLocks xmlns:a="http://schemas.openxmlformats.org/drawingml/2006/main" noGrp="1"/>
          </p:cNvSpPr>
          <p:nvPr/>
        </p:nvSpPr>
        <p:spPr>
          <a:xfrm xmlns:a="http://schemas.openxmlformats.org/drawingml/2006/main">
            <a:off x="4610100" y="228600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2. Ajouter les garde-fous</a:t>
            </a:r>
          </a:p>
        </p:txBody>
      </p:sp>
      <p:sp>
        <p:nvSpPr>
          <p:cNvPr id="10" name="">
            <a:extLst xmlns:a="http://schemas.openxmlformats.org/drawingml/2006/main">
              <a:ext uri="{FF2B5EF4-FFF2-40B4-BE49-F238E27FC236}">
                <a16:creationId xmlns:a16="http://schemas.microsoft.com/office/drawing/2014/main" id="{25A1F1B2-751E-4473-A71F-1B4413CC2F60}"/>
              </a:ext>
            </a:extLst>
          </p:cNvPr>
          <p:cNvSpPr>
            <a:spLocks xmlns:a="http://schemas.openxmlformats.org/drawingml/2006/main" noGrp="1"/>
          </p:cNvSpPr>
          <p:nvPr/>
        </p:nvSpPr>
        <p:spPr>
          <a:xfrm xmlns:a="http://schemas.openxmlformats.org/drawingml/2006/main">
            <a:off x="4610100" y="2705100"/>
            <a:ext cx="2876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132A3A"/>
                </a:solidFill>
              </a:defRPr>
            </a:pPr>
            <a:r>
              <a:rPr sz="1200" b="0">
                <a:solidFill>
                  <a:srgbClr val="132A3A"/>
                </a:solidFill>
              </a:rPr>
              <a:t>Filtres ville · date · catégorie</a:t>
            </a:r>
          </a:p>
          <a:p xmlns:a="http://schemas.openxmlformats.org/drawingml/2006/main">
            <a:pPr>
              <a:buNone/>
              <a:defRPr sz="1200" b="0">
                <a:solidFill>
                  <a:srgbClr val="132A3A"/>
                </a:solidFill>
              </a:defRPr>
            </a:pPr>
            <a:r>
              <a:rPr sz="1200" b="0">
                <a:solidFill>
                  <a:srgbClr val="132A3A"/>
                </a:solidFill>
              </a:rPr>
              <a:t>Seuil de similarité</a:t>
            </a:r>
          </a:p>
          <a:p xmlns:a="http://schemas.openxmlformats.org/drawingml/2006/main">
            <a:pPr>
              <a:buNone/>
              <a:defRPr sz="1200" b="0">
                <a:solidFill>
                  <a:srgbClr val="132A3A"/>
                </a:solidFill>
              </a:defRPr>
            </a:pPr>
            <a:r>
              <a:rPr sz="1200" b="0">
                <a:solidFill>
                  <a:srgbClr val="132A3A"/>
                </a:solidFill>
              </a:rPr>
              <a:t>Réponses structurées</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132A3A"/>
                </a:solidFill>
              </a:defRPr>
            </a:pPr>
            <a:r>
              <a:rPr sz="1200" b="0">
                <a:solidFill>
                  <a:srgbClr val="132A3A"/>
                </a:solidFill>
              </a:rPr>
              <a:t>Refus explicite si contexte faible</a:t>
            </a:r>
          </a:p>
        </p:txBody>
      </p:sp>
      <p:sp>
        <p:nvSpPr>
          <p:cNvPr id="11" name="">
            <a:extLst xmlns:a="http://schemas.openxmlformats.org/drawingml/2006/main">
              <a:ext uri="{FF2B5EF4-FFF2-40B4-BE49-F238E27FC236}">
                <a16:creationId xmlns:a16="http://schemas.microsoft.com/office/drawing/2014/main" id="{B837D4B8-3662-4C99-AF1D-23A2531507D7}"/>
              </a:ext>
            </a:extLst>
          </p:cNvPr>
          <p:cNvSpPr>
            <a:spLocks xmlns:a="http://schemas.openxmlformats.org/drawingml/2006/main" noGrp="1"/>
          </p:cNvSpPr>
          <p:nvPr/>
        </p:nvSpPr>
        <p:spPr>
          <a:xfrm xmlns:a="http://schemas.openxmlformats.org/drawingml/2006/main">
            <a:off x="7981950" y="2095500"/>
            <a:ext cx="3524250" cy="3143250"/>
          </a:xfrm>
          <a:prstGeom xmlns:a="http://schemas.openxmlformats.org/drawingml/2006/main" prst="roundRect">
            <a:avLst>
              <a:gd name="adj" fmla="val 4848"/>
            </a:avLst>
          </a:prstGeom>
          <a:solidFill xmlns:a="http://schemas.openxmlformats.org/drawingml/2006/main">
            <a:srgbClr val="F7F5FB"/>
          </a:solidFill>
          <a:ln xmlns:a="http://schemas.openxmlformats.org/drawingml/2006/main" w="9525">
            <a:solidFill>
              <a:srgbClr val="D9D2C7"/>
            </a:solidFill>
            <a:prstDash val="solid"/>
          </a:ln>
        </p:spPr>
      </p:sp>
      <p:sp>
        <p:nvSpPr>
          <p:cNvPr id="12" name="">
            <a:extLst xmlns:a="http://schemas.openxmlformats.org/drawingml/2006/main">
              <a:ext uri="{FF2B5EF4-FFF2-40B4-BE49-F238E27FC236}">
                <a16:creationId xmlns:a16="http://schemas.microsoft.com/office/drawing/2014/main" id="{78BD7A61-BCA3-4780-A3F8-2967C750AD61}"/>
              </a:ext>
            </a:extLst>
          </p:cNvPr>
          <p:cNvSpPr>
            <a:spLocks xmlns:a="http://schemas.openxmlformats.org/drawingml/2006/main" noGrp="1"/>
          </p:cNvSpPr>
          <p:nvPr/>
        </p:nvSpPr>
        <p:spPr>
          <a:xfrm xmlns:a="http://schemas.openxmlformats.org/drawingml/2006/main">
            <a:off x="8210550" y="2286000"/>
            <a:ext cx="3067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32A3A"/>
                </a:solidFill>
              </a:defRPr>
            </a:pPr>
            <a:r>
              <a:rPr sz="1275" b="1">
                <a:solidFill>
                  <a:srgbClr val="132A3A"/>
                </a:solidFill>
              </a:rPr>
              <a:t>3. Industrialiser</a:t>
            </a:r>
          </a:p>
        </p:txBody>
      </p:sp>
      <p:sp>
        <p:nvSpPr>
          <p:cNvPr id="13" name="">
            <a:extLst xmlns:a="http://schemas.openxmlformats.org/drawingml/2006/main">
              <a:ext uri="{FF2B5EF4-FFF2-40B4-BE49-F238E27FC236}">
                <a16:creationId xmlns:a16="http://schemas.microsoft.com/office/drawing/2014/main" id="{9080B4B3-A155-48BF-BD7E-7C89E0874B10}"/>
              </a:ext>
            </a:extLst>
          </p:cNvPr>
          <p:cNvSpPr>
            <a:spLocks xmlns:a="http://schemas.openxmlformats.org/drawingml/2006/main" noGrp="1"/>
          </p:cNvSpPr>
          <p:nvPr/>
        </p:nvSpPr>
        <p:spPr>
          <a:xfrm xmlns:a="http://schemas.openxmlformats.org/drawingml/2006/main">
            <a:off x="8210550" y="2705100"/>
            <a:ext cx="30670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0B6B69"/>
                </a:solidFill>
              </a:defRPr>
            </a:pPr>
            <a:r>
              <a:rPr sz="1200" b="0">
                <a:solidFill>
                  <a:srgbClr val="0B6B69"/>
                </a:solidFill>
              </a:rPr>
              <a:t>Collecte planifiée</a:t>
            </a:r>
          </a:p>
          <a:p xmlns:a="http://schemas.openxmlformats.org/drawingml/2006/main">
            <a:pPr>
              <a:buNone/>
              <a:defRPr sz="1200" b="0">
                <a:solidFill>
                  <a:srgbClr val="0B6B69"/>
                </a:solidFill>
              </a:defRPr>
            </a:pPr>
            <a:r>
              <a:rPr sz="1200" b="0">
                <a:solidFill>
                  <a:srgbClr val="0B6B69"/>
                </a:solidFill>
              </a:rPr>
              <a:t>CI/CD et rapport de test</a:t>
            </a:r>
          </a:p>
          <a:p xmlns:a="http://schemas.openxmlformats.org/drawingml/2006/main">
            <a:pPr>
              <a:buNone/>
              <a:defRPr sz="1200" b="0">
                <a:solidFill>
                  <a:srgbClr val="0B6B69"/>
                </a:solidFill>
              </a:defRPr>
            </a:pPr>
            <a:r>
              <a:rPr sz="1200" b="0">
                <a:solidFill>
                  <a:srgbClr val="0B6B69"/>
                </a:solidFill>
              </a:rPr>
              <a:t>Supervision, quotas, authentification</a:t>
            </a:r>
          </a:p>
          <a:p xmlns:a="http://schemas.openxmlformats.org/drawingml/2006/main">
            <a:pPr>
              <a:buNone/>
              <a:defRPr sz="1350" b="0">
                <a:solidFill>
                  <a:srgbClr val="132A3A"/>
                </a:solidFill>
              </a:defRPr>
            </a:pPr>
            <a:r>
              <a:rPr sz="1350" b="0">
                <a:solidFill>
                  <a:srgbClr val="132A3A"/>
                </a:solidFill>
              </a:rPr>
              <a:t/>
            </a:r>
          </a:p>
          <a:p xmlns:a="http://schemas.openxmlformats.org/drawingml/2006/main">
            <a:pPr>
              <a:buNone/>
              <a:defRPr sz="1200" b="0">
                <a:solidFill>
                  <a:srgbClr val="0B6B69"/>
                </a:solidFill>
              </a:defRPr>
            </a:pPr>
            <a:r>
              <a:rPr sz="1200" b="0">
                <a:solidFill>
                  <a:srgbClr val="0B6B69"/>
                </a:solidFill>
              </a:rPr>
              <a:t>Tests de charge avant déploiement</a:t>
            </a:r>
          </a:p>
        </p:txBody>
      </p:sp>
    </p:spTree>
    <p:extLst>
      <p:ext uri="{BB962C8B-B14F-4D97-AF65-F5344CB8AC3E}">
        <p14:creationId xmlns:p14="http://schemas.microsoft.com/office/powerpoint/2010/main" val="19584736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2026-08-12T14:42:06.1250000Z</dcterms:created>
  <dcterms:modified xsi:type="dcterms:W3CDTF">2026-08-12T14:42:06.1250000Z</dcterms:modified>
</coreProperties>
</file>