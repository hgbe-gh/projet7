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43fd9184de4cab" /><Relationship Type="http://schemas.openxmlformats.org/officeDocument/2006/relationships/extended-properties" Target="/docProps/app.xml" Id="Rb90271234c874dbf" /><Relationship Type="http://schemas.openxmlformats.org/officeDocument/2006/relationships/officeDocument" Target="/ppt/presentation.xml" Id="Rd4987b9fbf4f4e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71a02056bf45c8"/>
  </p:sldMasterIdLst>
  <p:notesMasterIdLst>
    <p:notesMasterId xmlns:r="http://schemas.openxmlformats.org/officeDocument/2006/relationships" r:id="R93677ca16e984225"/>
  </p:notesMasterIdLst>
  <p:sldIdLst>
    <p:sldId xmlns:r="http://schemas.openxmlformats.org/officeDocument/2006/relationships" id="256" r:id="Rd72eb9b6eaf24f50"/>
    <p:sldId xmlns:r="http://schemas.openxmlformats.org/officeDocument/2006/relationships" id="257" r:id="Rddf63683f0054bc4"/>
    <p:sldId xmlns:r="http://schemas.openxmlformats.org/officeDocument/2006/relationships" id="258" r:id="Rb2b6f1d0663842e7"/>
    <p:sldId xmlns:r="http://schemas.openxmlformats.org/officeDocument/2006/relationships" id="259" r:id="R5d951067a262499a"/>
    <p:sldId xmlns:r="http://schemas.openxmlformats.org/officeDocument/2006/relationships" id="260" r:id="Rc31b81ac4b6b4239"/>
    <p:sldId xmlns:r="http://schemas.openxmlformats.org/officeDocument/2006/relationships" id="261" r:id="Rc8921de810d2453d"/>
    <p:sldId xmlns:r="http://schemas.openxmlformats.org/officeDocument/2006/relationships" id="262" r:id="R4e1cdb065a8942d7"/>
    <p:sldId xmlns:r="http://schemas.openxmlformats.org/officeDocument/2006/relationships" id="263" r:id="R7cbcbaa9b6eb467c"/>
    <p:sldId xmlns:r="http://schemas.openxmlformats.org/officeDocument/2006/relationships" id="264" r:id="R0dcfa5e028c04da7"/>
    <p:sldId xmlns:r="http://schemas.openxmlformats.org/officeDocument/2006/relationships" id="265" r:id="Rfe0e6b4dd8ac417c"/>
    <p:sldId xmlns:r="http://schemas.openxmlformats.org/officeDocument/2006/relationships" id="266" r:id="Re5b8a5eb882941ef"/>
    <p:sldId xmlns:r="http://schemas.openxmlformats.org/officeDocument/2006/relationships" id="267" r:id="Rc6c7163d6ccc404f"/>
    <p:sldId xmlns:r="http://schemas.openxmlformats.org/officeDocument/2006/relationships" id="268" r:id="R3be87fe429054dd0"/>
    <p:sldId xmlns:r="http://schemas.openxmlformats.org/officeDocument/2006/relationships" id="269" r:id="R0092d5832a8f41e2"/>
    <p:sldId xmlns:r="http://schemas.openxmlformats.org/officeDocument/2006/relationships" id="270" r:id="R20eedbf3eaa041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30fee7b6464958" /><Relationship Type="http://schemas.openxmlformats.org/officeDocument/2006/relationships/slideMaster" Target="/ppt/slideMasters/slideMaster1.xml" Id="R4071a02056bf45c8" /><Relationship Type="http://schemas.openxmlformats.org/officeDocument/2006/relationships/notesMaster" Target="/ppt/notesMasters/notesMaster1.xml" Id="R93677ca16e984225" /><Relationship Type="http://schemas.openxmlformats.org/officeDocument/2006/relationships/presProps" Target="/ppt/presProps.xml" Id="Rf59fda5439aa4310" /><Relationship Type="http://schemas.openxmlformats.org/officeDocument/2006/relationships/tableStyles" Target="/ppt/tableStyles.xml" Id="Rf23280c9155b42b8" /><Relationship Type="http://schemas.openxmlformats.org/officeDocument/2006/relationships/slide" Target="/ppt/slides/slide1.xml" Id="Rd72eb9b6eaf24f50" /><Relationship Type="http://schemas.openxmlformats.org/officeDocument/2006/relationships/slide" Target="/ppt/slides/slide2.xml" Id="Rddf63683f0054bc4" /><Relationship Type="http://schemas.openxmlformats.org/officeDocument/2006/relationships/slide" Target="/ppt/slides/slide3.xml" Id="Rb2b6f1d0663842e7" /><Relationship Type="http://schemas.openxmlformats.org/officeDocument/2006/relationships/slide" Target="/ppt/slides/slide4.xml" Id="R5d951067a262499a" /><Relationship Type="http://schemas.openxmlformats.org/officeDocument/2006/relationships/slide" Target="/ppt/slides/slide5.xml" Id="Rc31b81ac4b6b4239" /><Relationship Type="http://schemas.openxmlformats.org/officeDocument/2006/relationships/slide" Target="/ppt/slides/slide6.xml" Id="Rc8921de810d2453d" /><Relationship Type="http://schemas.openxmlformats.org/officeDocument/2006/relationships/slide" Target="/ppt/slides/slide7.xml" Id="R4e1cdb065a8942d7" /><Relationship Type="http://schemas.openxmlformats.org/officeDocument/2006/relationships/slide" Target="/ppt/slides/slide8.xml" Id="R7cbcbaa9b6eb467c" /><Relationship Type="http://schemas.openxmlformats.org/officeDocument/2006/relationships/slide" Target="/ppt/slides/slide9.xml" Id="R0dcfa5e028c04da7" /><Relationship Type="http://schemas.openxmlformats.org/officeDocument/2006/relationships/slide" Target="/ppt/slides/slide10.xml" Id="Rfe0e6b4dd8ac417c" /><Relationship Type="http://schemas.openxmlformats.org/officeDocument/2006/relationships/slide" Target="/ppt/slides/slide11.xml" Id="Re5b8a5eb882941ef" /><Relationship Type="http://schemas.openxmlformats.org/officeDocument/2006/relationships/slide" Target="/ppt/slides/slide12.xml" Id="Rc6c7163d6ccc404f" /><Relationship Type="http://schemas.openxmlformats.org/officeDocument/2006/relationships/slide" Target="/ppt/slides/slide13.xml" Id="R3be87fe429054dd0" /><Relationship Type="http://schemas.openxmlformats.org/officeDocument/2006/relationships/slide" Target="/ppt/slides/slide14.xml" Id="R0092d5832a8f41e2" /><Relationship Type="http://schemas.openxmlformats.org/officeDocument/2006/relationships/slide" Target="/ppt/slides/slide15.xml" Id="R20eedbf3eaa041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415984a0b54d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1a5565fae345e9" /><Relationship Type="http://schemas.openxmlformats.org/officeDocument/2006/relationships/notesMaster" Target="/ppt/notesMasters/notesMaster1.xml" Id="R4f187745a79b47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184493573e4f7c" /><Relationship Type="http://schemas.openxmlformats.org/officeDocument/2006/relationships/notesMaster" Target="/ppt/notesMasters/notesMaster1.xml" Id="Ra6f57d1e013d40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58eb2614f64730" /><Relationship Type="http://schemas.openxmlformats.org/officeDocument/2006/relationships/notesMaster" Target="/ppt/notesMasters/notesMaster1.xml" Id="R94dcf9355f9846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30beb6344c4b39" /><Relationship Type="http://schemas.openxmlformats.org/officeDocument/2006/relationships/notesMaster" Target="/ppt/notesMasters/notesMaster1.xml" Id="R569f2276bb2a4e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574f4f61ea42a4" /><Relationship Type="http://schemas.openxmlformats.org/officeDocument/2006/relationships/notesMaster" Target="/ppt/notesMasters/notesMaster1.xml" Id="R77394f9606134f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e4e25eeafd43ef" /><Relationship Type="http://schemas.openxmlformats.org/officeDocument/2006/relationships/notesMaster" Target="/ppt/notesMasters/notesMaster1.xml" Id="Ree473cc87c914d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e184e0634149bc" /><Relationship Type="http://schemas.openxmlformats.org/officeDocument/2006/relationships/notesMaster" Target="/ppt/notesMasters/notesMaster1.xml" Id="R69238bba530442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cdf46e23ae4802" /><Relationship Type="http://schemas.openxmlformats.org/officeDocument/2006/relationships/notesMaster" Target="/ppt/notesMasters/notesMaster1.xml" Id="Rc26b95938e7048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d0cadac5f34703" /><Relationship Type="http://schemas.openxmlformats.org/officeDocument/2006/relationships/notesMaster" Target="/ppt/notesMasters/notesMaster1.xml" Id="R685947a1d99448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56f931a29884b8e" /><Relationship Type="http://schemas.openxmlformats.org/officeDocument/2006/relationships/notesMaster" Target="/ppt/notesMasters/notesMaster1.xml" Id="Rbc79e4d33ee041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d140f7d57f4d2b" /><Relationship Type="http://schemas.openxmlformats.org/officeDocument/2006/relationships/notesMaster" Target="/ppt/notesMasters/notesMaster1.xml" Id="Rb3d46d42648946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64bcfe0290465e" /><Relationship Type="http://schemas.openxmlformats.org/officeDocument/2006/relationships/notesMaster" Target="/ppt/notesMasters/notesMaster1.xml" Id="Rd4052445533d45f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8c2afd96fc453a" /><Relationship Type="http://schemas.openxmlformats.org/officeDocument/2006/relationships/notesMaster" Target="/ppt/notesMasters/notesMaster1.xml" Id="R88a2fbea60854e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02e1c7bd754fcc" /><Relationship Type="http://schemas.openxmlformats.org/officeDocument/2006/relationships/notesMaster" Target="/ppt/notesMasters/notesMaster1.xml" Id="Rfcad8a927029455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8942de109f44b8" /><Relationship Type="http://schemas.openxmlformats.org/officeDocument/2006/relationships/notesMaster" Target="/ppt/notesMasters/notesMaster1.xml" Id="R9104e1aaceca4f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895c8d9a9a46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f3743a60e74eee" /><Relationship Type="http://schemas.openxmlformats.org/officeDocument/2006/relationships/slideLayout" Target="/ppt/slideLayouts/slideLayout1.xml" Id="R9fe39ea40b9d4b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e39ea40b9d4b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ece6dab834a26" /><Relationship Type="http://schemas.openxmlformats.org/officeDocument/2006/relationships/notesSlide" Target="/ppt/notesSlides/notesSlide1.xml" Id="Rff95910229a74b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131d3b1124a82" /><Relationship Type="http://schemas.openxmlformats.org/officeDocument/2006/relationships/notesSlide" Target="/ppt/notesSlides/notesSlide2.xml" Id="Ra014ae6492194b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b457fedc64c84" /><Relationship Type="http://schemas.openxmlformats.org/officeDocument/2006/relationships/notesSlide" Target="/ppt/notesSlides/notesSlide3.xml" Id="R8f063fced45043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2742a1c1944f9" /><Relationship Type="http://schemas.openxmlformats.org/officeDocument/2006/relationships/notesSlide" Target="/ppt/notesSlides/notesSlide4.xml" Id="Ra4289ecc914144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881d038be433d" /><Relationship Type="http://schemas.openxmlformats.org/officeDocument/2006/relationships/notesSlide" Target="/ppt/notesSlides/notesSlide5.xml" Id="Rcc929385a5bd4f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ba3373f0a4ae5" /><Relationship Type="http://schemas.openxmlformats.org/officeDocument/2006/relationships/notesSlide" Target="/ppt/notesSlides/notesSlide6.xml" Id="R703f3302991b47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37cd0b0674fed" /><Relationship Type="http://schemas.openxmlformats.org/officeDocument/2006/relationships/notesSlide" Target="/ppt/notesSlides/notesSlide7.xml" Id="R4bdf9a6df0434c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b690cbeb446f5" /><Relationship Type="http://schemas.openxmlformats.org/officeDocument/2006/relationships/notesSlide" Target="/ppt/notesSlides/notesSlide8.xml" Id="Re9f62e35579941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8b74e45824195" /><Relationship Type="http://schemas.openxmlformats.org/officeDocument/2006/relationships/notesSlide" Target="/ppt/notesSlides/notesSlide9.xml" Id="Rdffb041000af45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3d5be47aa4294" /><Relationship Type="http://schemas.openxmlformats.org/officeDocument/2006/relationships/notesSlide" Target="/ppt/notesSlides/notesSlide10.xml" Id="R1aa4b631d2b74f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d80959dbe4311" /><Relationship Type="http://schemas.openxmlformats.org/officeDocument/2006/relationships/notesSlide" Target="/ppt/notesSlides/notesSlide11.xml" Id="R1dfb254fc0d7479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17ab1973f408b" /><Relationship Type="http://schemas.openxmlformats.org/officeDocument/2006/relationships/notesSlide" Target="/ppt/notesSlides/notesSlide12.xml" Id="R552b5c36e64a43d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8865c8ac64394" /><Relationship Type="http://schemas.openxmlformats.org/officeDocument/2006/relationships/notesSlide" Target="/ppt/notesSlides/notesSlide13.xml" Id="R11f094dd8b93481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3529c071d4666" /><Relationship Type="http://schemas.openxmlformats.org/officeDocument/2006/relationships/notesSlide" Target="/ppt/notesSlides/notesSlide14.xml" Id="R8b3149bd348245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d48ffb7934c1f" /><Relationship Type="http://schemas.openxmlformats.org/officeDocument/2006/relationships/notesSlide" Target="/ppt/notesSlides/notesSlide15.xml" Id="Ra1e3cf8c3d6e46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A900C4-AD42-441D-BC1C-CCB3BCDB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2450"/>
            <a:ext cx="4000500" cy="57531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FE8DD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CC180-FBF0-4EE3-98B8-C4202608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A3D"/>
          </a:solidFill>
          <a:ln xmlns:a="http://schemas.openxmlformats.org/drawingml/2006/main" w="0">
            <a:solidFill>
              <a:srgbClr val="C65A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00945-5BA9-43E3-AFFC-750395B7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90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32A3A"/>
                </a:solidFill>
              </a:defRPr>
            </a:pPr>
            <a:r>
              <a:rPr sz="2550" b="1">
                <a:solidFill>
                  <a:srgbClr val="132A3A"/>
                </a:solidFill>
              </a:rPr>
              <a:t>Assistant RAG pour la recommandation d'evenements culturels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88034-CCCB-4F66-962D-DABFD1BF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F6B73"/>
                </a:solidFill>
              </a:defRPr>
            </a:pPr>
            <a:r>
              <a:rPr sz="1500" b="0">
                <a:solidFill>
                  <a:srgbClr val="5F6B73"/>
                </a:solidFill>
              </a:rPr>
              <a:t>POC OpenClassrooms pour Puls-Events</a:t>
            </a:r>
          </a:p>
          <a:p xmlns:a="http://schemas.openxmlformats.org/drawingml/2006/main">
            <a:pPr>
              <a:buNone/>
              <a:defRPr sz="1500" b="0">
                <a:solidFill>
                  <a:srgbClr val="5F6B73"/>
                </a:solidFill>
              </a:defRPr>
            </a:pPr>
            <a:r>
              <a:rPr sz="1500" b="0">
                <a:solidFill>
                  <a:srgbClr val="5F6B73"/>
                </a:solidFill>
              </a:rPr>
              <a:t>Corpus Paris borne + Mistral + FAISS + FastAPI + Docker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38340-9E74-49C3-8B70-7C03ADA4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E6F73"/>
                </a:solidFill>
              </a:defRPr>
            </a:pPr>
            <a:r>
              <a:rPr sz="1200" b="1">
                <a:solidFill>
                  <a:srgbClr val="2E6F73"/>
                </a:solidFill>
              </a:rPr>
              <a:t>Soutenance - 10 juillet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AD294F-21FE-40DE-814B-88C080E5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0096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Corpus livre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8D6A6-BF3E-4E7A-9F25-83C7491A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57350"/>
            <a:ext cx="3048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Paris uniquement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Fenetre collecte: du 2025-07-10 au 2026-07-10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7 586 evenements normalises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14 903 chunks FAISS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62DC8-0C9E-4740-BBBD-B779A578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95300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F6B73"/>
                </a:solidFill>
              </a:defRPr>
            </a:pPr>
            <a:r>
              <a:rPr sz="1350" b="0">
                <a:solidFill>
                  <a:srgbClr val="5F6B73"/>
                </a:solidFill>
              </a:rPr>
              <a:t>POC operationnel, evalue et conteneurise.</a:t>
            </a:r>
          </a:p>
        </p:txBody>
      </p:sp>
    </p:spTree>
    <p:extLst>
      <p:ext uri="{BB962C8B-B14F-4D97-AF65-F5344CB8AC3E}">
        <p14:creationId xmlns:p14="http://schemas.microsoft.com/office/powerpoint/2010/main" val="16998760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427E9A-C408-469B-A500-CF881679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CONTEXTE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CA8E5-D839-4D58-A036-AA8E0DCE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B4B7E-BFC8-4305-A584-4D56C596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Le probleme metier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9193-C629-4CA3-83E6-5A1E64A5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Puls-Events veut tester un chatbot capable de recommander des evenements culturels a partir d'un corpus reel et evolutif.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BEF6B-1B0D-4632-AC0B-32BB22E2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238500" cy="34290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A710F-63E5-4197-BC97-D261407E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Attente metier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C809EA-4868-451D-94B2-473DD089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781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Poser une question naturelle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Obtenir des suggestions utiles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Justifier la reponse par des sources verifiables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Donner une interface testable aux equipes produit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2D925-0BC5-45D2-B4A2-33A7BF36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76450"/>
            <a:ext cx="3238500" cy="34290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ED723-EBD9-4558-BFDC-7A0843C4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Difficulte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E56DA-44A9-49EB-B8F9-973430AF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2781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Donnees evenementielles heterogenes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Descriptions longues et bruites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Besoin de recherche semantique, pas seulement par mots-clés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Necessite de garder les metadonnees date / lieu / URL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71887-EEE7-4A97-8030-8CDA672F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76450"/>
            <a:ext cx="38862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2E5A1-6B24-4DE7-A391-D6960393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Reponse proposee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46E2D-7D96-4098-B67F-592D56E8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86050"/>
            <a:ext cx="34290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Preparation d'un dataset propre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Vectorisation Mistral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local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Generation de reponse via Mistral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Exposition par API FastAPI puis Docker</a:t>
            </a:r>
          </a:p>
        </p:txBody>
      </p:sp>
    </p:spTree>
    <p:extLst>
      <p:ext uri="{BB962C8B-B14F-4D97-AF65-F5344CB8AC3E}">
        <p14:creationId xmlns:p14="http://schemas.microsoft.com/office/powerpoint/2010/main" val="7566638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7AEF8A-6E27-4DE0-8681-D50D5D0C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PEDAGOGIE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EA67C-39F9-42C4-974F-D78284DA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B1D8A-D6F2-43F0-B33F-ACC17747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RAG en termes simples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6D11D-8949-4E5C-9C60-A1C877C9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systeme combine recherche documentaire et generation de texte, pour repondre avec contexte.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F9B7D-1FBC-4FD5-89D9-633E6EB1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89F420-FA07-4C2B-887F-B5D0AB41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1. Retrieval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CEAFD-3689-4A9E-A94C-61186B95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La question utilisateur est transformee en vecteur puis comparee a l'index FAISS pour retrouver les evenements les plus proches semantiquement.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E524E-9CFF-4304-A351-0A76032B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AE871-75B4-4308-BEBF-6A3BD6EE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2. Augmented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21354-25A0-4B03-AF00-8D999066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Les titres, descriptions, dates, lieux et URL des meilleurs evenements sont reformates en contexte de travail pour le LLM.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20DFA-F5DC-4B98-952B-8FB6D325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1187B-8855-480F-9176-CE868C0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3.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C097F-153F-4BDE-AD52-EB87BF78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Mistral redige une reponse claire, limitee au contexte fourni, avec retour des sources pour verifier les recommandations.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4E6B7-37EC-4FC4-A421-DC70B12C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E6F73"/>
                </a:solidFill>
              </a:defRPr>
            </a:pPr>
            <a:r>
              <a:rPr sz="1500" b="1">
                <a:solidFill>
                  <a:srgbClr val="2E6F73"/>
                </a:solidFill>
              </a:rPr>
              <a:t>Valeur business: une reponse plus pertinente qu'une recherche plein texte brute, et plus fiable qu'un LLM sans contexte.</a:t>
            </a:r>
          </a:p>
        </p:txBody>
      </p:sp>
    </p:spTree>
    <p:extLst>
      <p:ext uri="{BB962C8B-B14F-4D97-AF65-F5344CB8AC3E}">
        <p14:creationId xmlns:p14="http://schemas.microsoft.com/office/powerpoint/2010/main" val="416675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599F97-9507-437F-91BB-470AE53E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DONNEES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76215A-0EDF-485F-9B7A-08D5CED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B88FD5-5C21-43DB-8820-ED415170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Jeu de donnees OpenAgenda / Opendatasoft utilise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826E4-ED2B-46F6-9F5E-6785D1C8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projet s'appuie sur le dataset public evenements-publics-openagenda et livre un seed Paris borne.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02C70-5168-436D-838B-A57E6D50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BB19A-2FB2-4A4D-92DA-D73B3AAF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Source retenue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0734E-3CEB-44A2-934F-BA47934E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API Opendatasoft v2.1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Dataset: evenements-publics-openagenda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Collecte scriptable via `fetch_events.py`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Export brut JSON + parquet structure + manifeste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3A723-D99E-4B4F-A872-F7881E22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38350"/>
            <a:ext cx="3143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52A90-E66D-42DA-9F84-3E0DE9D6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2885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Filtre de travail actuel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E153D-6D79-4399-BECE-5D04543A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47950"/>
            <a:ext cx="2686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Ville: Paris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Fenetre: du 2025-07-10 au 2026-07-10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Agenda source: non restreint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Categories: non restreintes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A0239-E23D-4AC5-8A6C-05A5AEE0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38350"/>
            <a:ext cx="3714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EEB2A-D872-4A1A-8A08-E2041A25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288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Chiffres observes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3B98A-E948-4DC6-8B18-9D6E36F3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47950"/>
            <a:ext cx="3257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bruts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normalises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1 ville dans le seed livre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Manifeste: fetch_manifest.json</a:t>
            </a:r>
          </a:p>
        </p:txBody>
      </p:sp>
    </p:spTree>
    <p:extLst>
      <p:ext uri="{BB962C8B-B14F-4D97-AF65-F5344CB8AC3E}">
        <p14:creationId xmlns:p14="http://schemas.microsoft.com/office/powerpoint/2010/main" val="20518240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A755B4-20A8-47AA-9A29-2EED01EB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557EC-0B81-45FF-82DC-AFE38FB2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CA0BF-B043-491D-9FC3-81F40D4A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Pipeline technique de bout en bout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EC4CE-7C3D-495B-BB44-73852D34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POC est structure en etapes distinctes pour rester reproductible et testable.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07032-CBF6-40E5-A18B-0526FF19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43258-F0FA-4D7B-B9FD-968A178D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Collecte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36DEB-28A8-43F3-B1E3-A9B60B95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Opendatasoft / OpenAgenda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fetch_events.py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FA870-063E-4FD7-A2CF-89B04325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5A3424-2AD9-438A-9B30-09A60DA0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1376B-70EB-4C33-9D51-CCD9EFB4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Nettoyage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37988A-79CB-4623-8FF7-F0A7D66A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normalisation schema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text_for_embedding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CA74E-27AC-45F0-9865-FF495207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860746-92BB-4DDB-94A7-CF64BA5F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B9436-8D10-47E3-A888-DE73F51F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Indexation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2C46C-9681-465F-BFE6-DD0D96F4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chunks + Mistral embeddings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FAISS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05D06-F127-4E6A-B931-FAE58F51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3F971-3F43-425A-BB4E-B799A4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A8B0A-F681-4B0A-A0A1-1ACE427B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779674-096E-4462-B02F-75366A21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retriever + prompt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Mistral chat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305647-2D2A-4B43-9269-F09C484E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697A3-AFB2-497D-8AE7-A89E423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1F2443-CBD1-4EB6-B907-67FBC27C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33D90-0737-444F-A418-B887E956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FastAPI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/ask /rebuild /health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3F5472-555A-47F2-B9DB-14FBE8EF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4DD266-A077-4512-8854-530E58EB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82329-2E7D-47B0-BDF0-2B44A827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Docker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7CC64-972B-460C-B4EB-1A952FFF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image seedee + volume runtime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demo locale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204C27-A95D-4BE0-B73D-0CB7E9C7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F6B73"/>
                </a:solidFill>
              </a:defRPr>
            </a:pPr>
            <a:r>
              <a:rPr sz="1425" b="0">
                <a:solidFill>
                  <a:srgbClr val="5F6B73"/>
                </a:solidFill>
              </a:rPr>
              <a:t>Separation claire des responsabilites: ingestion, indexation, generation et exposition HTTP sont decouplees dans `src/openagenda_rag/`.</a:t>
            </a:r>
          </a:p>
        </p:txBody>
      </p:sp>
    </p:spTree>
    <p:extLst>
      <p:ext uri="{BB962C8B-B14F-4D97-AF65-F5344CB8AC3E}">
        <p14:creationId xmlns:p14="http://schemas.microsoft.com/office/powerpoint/2010/main" val="2021224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A37F2B-8E49-4163-AC13-5D45D2AB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INDEX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1DAE8-8574-4FFF-843B-0957D835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10E79-8E75-46E8-9E10-425C25C3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Vectorisation Mistral + base FAISS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3B513-9DAD-4587-AFE5-E7481CAF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Chaque evenement est converti en chunks textes puis indexe avec ses metadonnees dans FAISS.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FF72F-2FF5-403C-A428-C096AE01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C3F3B-1A17-4228-BE36-FCA52BBC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Parametres du 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915A0-C48F-4F4A-A9E2-DB2E5B66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Modele d'embedding: mistral-embed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Batch size: 50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Chunk size: 1 000 caracteres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Overlap: 200 caracteres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Script: python scripts/build_index.py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835A3-F454-464C-A6A4-341C353F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59469-D0FB-4EB1-8546-7EAFD995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Artefacts produits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CFB30-18D7-444D-8650-008DEA0A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data/index/faiss/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index_manifest.json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indexed_documents.parquet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rechargeable localement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3A71D-563D-4BE4-97DE-CD35C2B3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5D68E-FA85-44E3-83E9-713266BD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Chiffres observes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2E583-FD9E-456B-A8C4-3BA732A5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indexes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14 903 documents/chunks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rechargeable localement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Metadonnees: titre, ville, dates, URL</a:t>
            </a:r>
          </a:p>
        </p:txBody>
      </p:sp>
    </p:spTree>
    <p:extLst>
      <p:ext uri="{BB962C8B-B14F-4D97-AF65-F5344CB8AC3E}">
        <p14:creationId xmlns:p14="http://schemas.microsoft.com/office/powerpoint/2010/main" val="16516669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8C8249-90EB-4866-8DEC-4876E230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86CC0-F2C0-47EA-9964-66DABDD6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AFF95-BF31-43EA-AEC8-B71F5AAD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Chatbot RAG + API FastAPI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7DCD9-CB86-4AA5-B3C5-A4D3E3D1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service garde retriever et modele en memoire et se reinitialise proprement apres /rebuild.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42736-FDAC-464F-835E-B1612F69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43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C0BA7-51A3-47D2-BF79-18BB63E1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Chatbot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B641E-5DC2-46CC-9431-D0692EC1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686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Recherche top-k dans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Prompt contraint en francais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Generation Mistral `mistral-small-latest`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 + liste de 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3C094-7DA2-40A5-8743-9376F884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3143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D5871-EE06-4D86-ADD2-9DE0BFDE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86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Endpoints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AB555-D018-4307-A638-7557081D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05100"/>
            <a:ext cx="2686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GET /health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POST /ask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POST /rebuild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Swagger automatique sur /docs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E0D93-B5BA-4B5F-837F-62BBC4D9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95500"/>
            <a:ext cx="400050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B39676-BFCD-4080-9244-92F2DE1F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3543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Validation observee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D3681-BDB8-474F-A33B-4F721611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05100"/>
            <a:ext cx="35433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35 tests Python passent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python scripts/api_test.py valide /health et /ask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python scripts/evaluate_rag.py passe en direct et via API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reponses non vides avec sources exploitables</a:t>
            </a:r>
          </a:p>
        </p:txBody>
      </p:sp>
    </p:spTree>
    <p:extLst>
      <p:ext uri="{BB962C8B-B14F-4D97-AF65-F5344CB8AC3E}">
        <p14:creationId xmlns:p14="http://schemas.microsoft.com/office/powerpoint/2010/main" val="6348279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C0A84-0E4E-4BD6-BB72-B7235C02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DEPLOYMENT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D6C9E-F613-4E37-B870-A2FFFBEA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5B3CF-2DAD-441C-AB3F-99AA6508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Conteneurisation Docker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31E1F-6AC1-4DE6-85EB-024AC336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La livraison locale embarque un seed du corpus et de l'index pour une demo plus fiable.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095C5-5FB3-4DE2-9DFF-2D13E62D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2459A-05D7-41E2-B461-E6D889A9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AB4AF-9E67-4DD3-B86E-07DC69E5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Base python:3.12-slim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dependances Python installees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code source + scripts copies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seed de data/processed et data/index integre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1F1E2-81D8-49D6-8C04-D4C52828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943EA-1F9B-48FC-8237-270FA0EB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EE947-EA07-4444-B933-91AF71CD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entrypoint copie le seed vers /app/runtime-data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volume nomme Docker pour persister l'index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chemins runtime injectes via variables d'environnement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E396A-CB53-4F09-8B85-92183EB8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95500"/>
            <a:ext cx="36195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32A674-AD54-4694-8239-174768E5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86000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Securite et exploitation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DCCA1-21BC-448C-9D9E-5CCC7D49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05100"/>
            <a:ext cx="3162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cle Mistral uniquement via .env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/rebuild peut etre protege par X-Admin-Token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demarrage: docker compose up --build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volume runtime pour conserver un rebuild</a:t>
            </a:r>
          </a:p>
        </p:txBody>
      </p:sp>
    </p:spTree>
    <p:extLst>
      <p:ext uri="{BB962C8B-B14F-4D97-AF65-F5344CB8AC3E}">
        <p14:creationId xmlns:p14="http://schemas.microsoft.com/office/powerpoint/2010/main" val="10211599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F232-9D63-41E2-927A-7520EFA1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306D4-1395-4376-805F-ABC51B73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E242B-6466-45C2-8241-547930CA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Scenario 1 - Parle-moi de Concert Fishers a Paris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B361E-FB15-4009-A833-4475E30E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Question de demo precise sur un evenement reel du corpus livre.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29A7FC-57DF-49A7-83BD-1938FD55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1435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C0BD5-2093-4409-88D5-821E6A48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468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52124-14E9-4B67-BC6C-21E1E5DB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4686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Parle-moi de Concert Fishers a Paris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0A5488-A6D8-4F31-95F8-E658BE24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54102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58558-A52C-402B-9983-D09B8F99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86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Observation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383DC-1632-45EB-AD50-4075A506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49530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 stable avec date, lieu et URL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source principale: Concert Fishers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cas positif precis du jeu annote</a:t>
            </a:r>
          </a:p>
        </p:txBody>
      </p:sp>
    </p:spTree>
    <p:extLst>
      <p:ext uri="{BB962C8B-B14F-4D97-AF65-F5344CB8AC3E}">
        <p14:creationId xmlns:p14="http://schemas.microsoft.com/office/powerpoint/2010/main" val="20766166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8ABCF6-0941-4FAC-9347-844F9A7A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A8D62-34F4-432F-A24A-2C17C298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04C11-EBC2-412B-8081-24F0ACCD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Scenario 2 - Parle-moi de SALON DE LA PHOTO a Paris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1D58A-2A36-439B-B2F9-64D38178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Question precise sur un evenement photo reel et stable du corpus livre.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6EC27-FFEF-4C6A-BC4F-D0D58CF9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5D453-C9CD-421D-9B00-FDF120CE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763F7-64FA-497C-9DBE-179B6E5C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3638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Parle-moi de SALON DE LA PHOTO a Paris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E057B-DDA8-45BA-936D-87352510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64579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38F13-76AB-4D3F-B46A-EF1011A1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Observation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65379-2EE9-4FEA-921D-9D194F2B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05100"/>
            <a:ext cx="60007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 stable avec date, lieu et URL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source principale: SALON DE LA PHOTO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bon cas positif precis pour la demo</a:t>
            </a:r>
          </a:p>
        </p:txBody>
      </p:sp>
    </p:spTree>
    <p:extLst>
      <p:ext uri="{BB962C8B-B14F-4D97-AF65-F5344CB8AC3E}">
        <p14:creationId xmlns:p14="http://schemas.microsoft.com/office/powerpoint/2010/main" val="884443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637D-BD7B-4ADE-B37D-424E6EFF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319EA-F3E5-420B-ABE9-0EE0AC8F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0ADE1-E433-4A2C-ACFE-E616B6FF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Scenario 3 - Sortie en famille avec visite theatricalisee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9254D-4C88-4A75-BBA2-05E6A4CB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Question orientee usage, utile pour verifier le rappel de plusieurs sources proches.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C3D5F-DFD5-4B73-9401-63D44AEA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07F0A-F577-465C-ABD7-A60AE821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C3E8E-1BA2-402B-A4F1-FAC61BD5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3638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Je cherche une sortie en famille a Paris avec une visite theatricalisee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DA960-95D9-49AD-84EB-08244915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64579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97A68-6655-43AA-95A1-5F351E7F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Observation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C74F9C-BEFD-4568-871F-5D711CE1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05100"/>
            <a:ext cx="60007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le systeme retrouve deux visites theatralisees familiales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 contextualisee avec dates, lieux et URL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bon scenario de demo et du jeu annote</a:t>
            </a:r>
          </a:p>
        </p:txBody>
      </p:sp>
    </p:spTree>
    <p:extLst>
      <p:ext uri="{BB962C8B-B14F-4D97-AF65-F5344CB8AC3E}">
        <p14:creationId xmlns:p14="http://schemas.microsoft.com/office/powerpoint/2010/main" val="11277883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39E81E-427A-4875-85C1-45107D16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BILAN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05DD5-D65E-4B2C-BDFE-40D2F7DC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3C200-861A-4FF5-B6E1-1E02A43F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Resultats observes et points forts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058EB-817A-4A66-87D4-54022B62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POC est presentable en local et defendable avec corpus, evaluation et demo alignes.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721D1-84FB-4B98-9B36-914094DF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C852E-456B-47AD-A157-AB8A0063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Ce qui fonctionne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26119-7EB6-4F78-A343-F063BF8A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chainage complet collecte -&gt; index -&gt; chatbot -&gt; API -&gt; Docker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artefacts inspectables a chaque etape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README, demo et deck racontent le meme etat projet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9D8FE-2634-46FF-80CE-E5D57C56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58D83-4161-4DF3-A9E5-3AEF39CD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CE944-13CC-4FB7-9DAF-AB97BA9D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35 tests automatises passent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4/4 cas corrects en evaluation directe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4/4 cas corrects en evaluation via API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scripts/demo_scenarios.sh joue 3 cas solides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1983B-151F-4593-829D-A144F09F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EDEA9-78CB-4BFB-9327-110E96C9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Valeur pour Puls-Events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ABCDC-8E1E-4766-818B-8E6BC36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prototype concret pour arbitrer la suite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API testable par les equipes produit et marketing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fondation reutilisable pour une version produit</a:t>
            </a:r>
          </a:p>
        </p:txBody>
      </p:sp>
    </p:spTree>
    <p:extLst>
      <p:ext uri="{BB962C8B-B14F-4D97-AF65-F5344CB8AC3E}">
        <p14:creationId xmlns:p14="http://schemas.microsoft.com/office/powerpoint/2010/main" val="17325015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DF0AE1-053A-4116-84F6-4CA094D0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LIMITES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E1DDB-9548-454C-8187-428960BB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6A4C9-CE93-4D87-A076-26415FA4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Limites actuelles du POC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791EA-FF47-4DCB-9A92-8224040E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Les choix sont volontaires pour avancer vite, mais ils fixent un perimetre de soutenance clair.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49460-A316-4CA2-9767-C9F7F883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BB9F4-2DEB-4BFC-821C-68BC4B6F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Donnees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3063B9-3944-4888-BC7A-4EBEBC80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seed de demo actuellement centre sur Paris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bruit et qualite variables selon les descriptions source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certaines categories restent peu normalisees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277DC-1590-43C7-ADCC-A296B249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B712E-2A81-4C64-8B71-4C1FD7F3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Technique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0911B0-01B1-439C-9B2E-1159F477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generation dependante de Mistral en ligne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`/rebuild` complet sur corpus large est long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pas d'historique conversationnel dans ce POC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B0A53-FB12-4137-AAB6-1924F27A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B21BB-47C7-4F02-8CA2-36C7CD0A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Produit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CE779-4690-49B4-B065-40CCAA5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pas encore d'authentification forte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pas de front utilisateur final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jeu annote volontairement petit</a:t>
            </a:r>
          </a:p>
        </p:txBody>
      </p:sp>
    </p:spTree>
    <p:extLst>
      <p:ext uri="{BB962C8B-B14F-4D97-AF65-F5344CB8AC3E}">
        <p14:creationId xmlns:p14="http://schemas.microsoft.com/office/powerpoint/2010/main" val="11611089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3452DD-D5D0-467E-BC3B-9EBC224D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93F0F-8078-4AEB-BD8D-B36E4622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AF4D7-66D0-43EF-B35A-093CDC9F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Evaluation automatisee livree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540C0-61C7-4B9C-8992-521C9C0C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depot contient un petit jeu annote versionne et un script reproductible.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4E5AE-E389-44DE-908E-52911A12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CBCAA-BA6A-4A80-9DB3-04976DDA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Mesures simples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CD871-0563-4DA8-BE8D-3A9EE700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exact match souple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similarite lexicale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hit de titres attendus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classification correct / partial / incorrect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C818C-424F-4C06-A7DF-85E04754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E2F6C-8C2C-4B63-B535-CD19E0B3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Ragas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CAC00-8C55-4626-9D3F-9A7D69EE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mode par defaut sans dependance lourde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option --ragas si la bibliotheque est disponible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Ragas reste une extension, pas la source de verite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BCEF5-328B-4864-B519-C647617D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3714F-59C2-499F-A6A5-BD075ED4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Resultat observe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10F61-A49B-4BCE-8C50-2C5E6E58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Le 10 juillet 2026 : 4 cas sur 4 corrects en direct et via API sur le corpus Paris livre.</a:t>
            </a:r>
          </a:p>
        </p:txBody>
      </p:sp>
    </p:spTree>
    <p:extLst>
      <p:ext uri="{BB962C8B-B14F-4D97-AF65-F5344CB8AC3E}">
        <p14:creationId xmlns:p14="http://schemas.microsoft.com/office/powerpoint/2010/main" val="14506068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DD4E7-C545-4192-9167-E052A824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PERSPECTIVES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941D3-B002-4C5A-8B6D-0F752EE3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25A51-A566-43A7-9E9D-8584FA62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Perspectives d'amelioration et 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E4CA4-48D7-4FBA-A7C8-62D7B2A7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POC est exploitable maintenant, et extensible sans rearchitecture majeure.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4AD74-9B2B-4E73-B05A-95011294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480D8-5FDE-4C76-A59E-88130175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Ameliorations prioritaires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4AC81-2F12-4573-B92A-0A185C19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seeds multi-villes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filtrage plus fin par date, categorie et public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evaluation plus large et continue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rebuild asynchrone ou incremental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CA29F-751D-46C9-82B3-42DDDC98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0167A-976F-468B-9F73-5414653A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Message cle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1F1B2-751E-4473-A71F-1B4413CC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La faisabilite technique est validee: corpus borne, index local, API Dockerisee et evaluation reproductible.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7D4B8-3662-4C99-AF1D-23A25315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D7A61-BCA3-4780-A3F8-2967C750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Q&amp;A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0B4B3-A155-48BF-BD7E-7C89E087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Points defendables en soutenance: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pourquoi FAISS ?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pourquoi Mistral ?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pourquoi Paris et ce corpus borne ?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quelles limites restent a lever ?</a:t>
            </a:r>
          </a:p>
        </p:txBody>
      </p:sp>
    </p:spTree>
    <p:extLst>
      <p:ext uri="{BB962C8B-B14F-4D97-AF65-F5344CB8AC3E}">
        <p14:creationId xmlns:p14="http://schemas.microsoft.com/office/powerpoint/2010/main" val="19584736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2026-07-10T13:41:27.9570000Z</dcterms:created>
  <dcterms:modified xsi:type="dcterms:W3CDTF">2026-07-10T13:41:27.9570000Z</dcterms:modified>
</coreProperties>
</file>