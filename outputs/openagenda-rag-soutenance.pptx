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f11b92cbdbf4f23" /><Relationship Type="http://schemas.openxmlformats.org/officeDocument/2006/relationships/extended-properties" Target="/docProps/app.xml" Id="Rba54c7bc432445eb" /><Relationship Type="http://schemas.openxmlformats.org/officeDocument/2006/relationships/officeDocument" Target="/ppt/presentation.xml" Id="Re4a09fbf7b884bc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0fe4c54b6da4a4d"/>
  </p:sldMasterIdLst>
  <p:notesMasterIdLst>
    <p:notesMasterId xmlns:r="http://schemas.openxmlformats.org/officeDocument/2006/relationships" r:id="R441723173b3a4774"/>
  </p:notesMasterIdLst>
  <p:sldIdLst>
    <p:sldId xmlns:r="http://schemas.openxmlformats.org/officeDocument/2006/relationships" id="256" r:id="R7b61768a04064bd6"/>
    <p:sldId xmlns:r="http://schemas.openxmlformats.org/officeDocument/2006/relationships" id="257" r:id="R2d5e12647a6f43e3"/>
    <p:sldId xmlns:r="http://schemas.openxmlformats.org/officeDocument/2006/relationships" id="258" r:id="Rc9ea71ed348b485c"/>
    <p:sldId xmlns:r="http://schemas.openxmlformats.org/officeDocument/2006/relationships" id="259" r:id="R1cf2627c52b2436b"/>
    <p:sldId xmlns:r="http://schemas.openxmlformats.org/officeDocument/2006/relationships" id="260" r:id="R9057ce71c206443e"/>
    <p:sldId xmlns:r="http://schemas.openxmlformats.org/officeDocument/2006/relationships" id="261" r:id="R94ec275244c3481f"/>
    <p:sldId xmlns:r="http://schemas.openxmlformats.org/officeDocument/2006/relationships" id="262" r:id="R625484fff7dd449a"/>
    <p:sldId xmlns:r="http://schemas.openxmlformats.org/officeDocument/2006/relationships" id="263" r:id="Rccc4e85971284bea"/>
    <p:sldId xmlns:r="http://schemas.openxmlformats.org/officeDocument/2006/relationships" id="264" r:id="R3fbba4ec5a2c4973"/>
    <p:sldId xmlns:r="http://schemas.openxmlformats.org/officeDocument/2006/relationships" id="265" r:id="R8ecb5eb6886a42cb"/>
    <p:sldId xmlns:r="http://schemas.openxmlformats.org/officeDocument/2006/relationships" id="266" r:id="R9373d95132e14670"/>
    <p:sldId xmlns:r="http://schemas.openxmlformats.org/officeDocument/2006/relationships" id="267" r:id="R7667ee215f01490c"/>
    <p:sldId xmlns:r="http://schemas.openxmlformats.org/officeDocument/2006/relationships" id="268" r:id="Ra8ecd13237d547e5"/>
    <p:sldId xmlns:r="http://schemas.openxmlformats.org/officeDocument/2006/relationships" id="269" r:id="R9fbdf85763974473"/>
    <p:sldId xmlns:r="http://schemas.openxmlformats.org/officeDocument/2006/relationships" id="270" r:id="Re5bb3d3bcd894c1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8bbb40ecfd147db" /><Relationship Type="http://schemas.openxmlformats.org/officeDocument/2006/relationships/slideMaster" Target="/ppt/slideMasters/slideMaster1.xml" Id="R90fe4c54b6da4a4d" /><Relationship Type="http://schemas.openxmlformats.org/officeDocument/2006/relationships/notesMaster" Target="/ppt/notesMasters/notesMaster1.xml" Id="R441723173b3a4774" /><Relationship Type="http://schemas.openxmlformats.org/officeDocument/2006/relationships/presProps" Target="/ppt/presProps.xml" Id="Rfdd7200218b5436e" /><Relationship Type="http://schemas.openxmlformats.org/officeDocument/2006/relationships/tableStyles" Target="/ppt/tableStyles.xml" Id="R025e3343671a4b9c" /><Relationship Type="http://schemas.openxmlformats.org/officeDocument/2006/relationships/slide" Target="/ppt/slides/slide1.xml" Id="R7b61768a04064bd6" /><Relationship Type="http://schemas.openxmlformats.org/officeDocument/2006/relationships/slide" Target="/ppt/slides/slide2.xml" Id="R2d5e12647a6f43e3" /><Relationship Type="http://schemas.openxmlformats.org/officeDocument/2006/relationships/slide" Target="/ppt/slides/slide3.xml" Id="Rc9ea71ed348b485c" /><Relationship Type="http://schemas.openxmlformats.org/officeDocument/2006/relationships/slide" Target="/ppt/slides/slide4.xml" Id="R1cf2627c52b2436b" /><Relationship Type="http://schemas.openxmlformats.org/officeDocument/2006/relationships/slide" Target="/ppt/slides/slide5.xml" Id="R9057ce71c206443e" /><Relationship Type="http://schemas.openxmlformats.org/officeDocument/2006/relationships/slide" Target="/ppt/slides/slide6.xml" Id="R94ec275244c3481f" /><Relationship Type="http://schemas.openxmlformats.org/officeDocument/2006/relationships/slide" Target="/ppt/slides/slide7.xml" Id="R625484fff7dd449a" /><Relationship Type="http://schemas.openxmlformats.org/officeDocument/2006/relationships/slide" Target="/ppt/slides/slide8.xml" Id="Rccc4e85971284bea" /><Relationship Type="http://schemas.openxmlformats.org/officeDocument/2006/relationships/slide" Target="/ppt/slides/slide9.xml" Id="R3fbba4ec5a2c4973" /><Relationship Type="http://schemas.openxmlformats.org/officeDocument/2006/relationships/slide" Target="/ppt/slides/slide10.xml" Id="R8ecb5eb6886a42cb" /><Relationship Type="http://schemas.openxmlformats.org/officeDocument/2006/relationships/slide" Target="/ppt/slides/slide11.xml" Id="R9373d95132e14670" /><Relationship Type="http://schemas.openxmlformats.org/officeDocument/2006/relationships/slide" Target="/ppt/slides/slide12.xml" Id="R7667ee215f01490c" /><Relationship Type="http://schemas.openxmlformats.org/officeDocument/2006/relationships/slide" Target="/ppt/slides/slide13.xml" Id="Ra8ecd13237d547e5" /><Relationship Type="http://schemas.openxmlformats.org/officeDocument/2006/relationships/slide" Target="/ppt/slides/slide14.xml" Id="R9fbdf85763974473" /><Relationship Type="http://schemas.openxmlformats.org/officeDocument/2006/relationships/slide" Target="/ppt/slides/slide15.xml" Id="Re5bb3d3bcd894c1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c2e8ff731be499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d4dc23215bc4ebd" /><Relationship Type="http://schemas.openxmlformats.org/officeDocument/2006/relationships/notesMaster" Target="/ppt/notesMasters/notesMaster1.xml" Id="Redcd60c284b846b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c88b4d94e8d4223" /><Relationship Type="http://schemas.openxmlformats.org/officeDocument/2006/relationships/notesMaster" Target="/ppt/notesMasters/notesMaster1.xml" Id="R89cf1ce061a0443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985c246549d4e4a" /><Relationship Type="http://schemas.openxmlformats.org/officeDocument/2006/relationships/notesMaster" Target="/ppt/notesMasters/notesMaster1.xml" Id="R3b2710ff72e349e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969f40428074bf7" /><Relationship Type="http://schemas.openxmlformats.org/officeDocument/2006/relationships/notesMaster" Target="/ppt/notesMasters/notesMaster1.xml" Id="Rdf5ad92ca04246d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a2ebc5bace940db" /><Relationship Type="http://schemas.openxmlformats.org/officeDocument/2006/relationships/notesMaster" Target="/ppt/notesMasters/notesMaster1.xml" Id="R409184bcdcb342b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4ec77123218496f" /><Relationship Type="http://schemas.openxmlformats.org/officeDocument/2006/relationships/notesMaster" Target="/ppt/notesMasters/notesMaster1.xml" Id="Rea46eae905fa48e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c1850c5cf7d4ce9" /><Relationship Type="http://schemas.openxmlformats.org/officeDocument/2006/relationships/notesMaster" Target="/ppt/notesMasters/notesMaster1.xml" Id="Rfb925a3b3218433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3329db382224858" /><Relationship Type="http://schemas.openxmlformats.org/officeDocument/2006/relationships/notesMaster" Target="/ppt/notesMasters/notesMaster1.xml" Id="R558ff3b9eb9848d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8f68db285324436" /><Relationship Type="http://schemas.openxmlformats.org/officeDocument/2006/relationships/notesMaster" Target="/ppt/notesMasters/notesMaster1.xml" Id="R2db131960c8c40a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c0e3ae40f1f4fea" /><Relationship Type="http://schemas.openxmlformats.org/officeDocument/2006/relationships/notesMaster" Target="/ppt/notesMasters/notesMaster1.xml" Id="R6d9e3dc99bb74ca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bdada0dd4de49da" /><Relationship Type="http://schemas.openxmlformats.org/officeDocument/2006/relationships/notesMaster" Target="/ppt/notesMasters/notesMaster1.xml" Id="Rfe6f718d56e64f9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5d24be78f7a48c2" /><Relationship Type="http://schemas.openxmlformats.org/officeDocument/2006/relationships/notesMaster" Target="/ppt/notesMasters/notesMaster1.xml" Id="R470f70b6a7fc423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18e9c3a87074e4d" /><Relationship Type="http://schemas.openxmlformats.org/officeDocument/2006/relationships/notesMaster" Target="/ppt/notesMasters/notesMaster1.xml" Id="Rf7de658784da4c0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eb9d0ed406043f1" /><Relationship Type="http://schemas.openxmlformats.org/officeDocument/2006/relationships/notesMaster" Target="/ppt/notesMasters/notesMaster1.xml" Id="R3d124e2324bb488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53b30b4c2f744bb" /><Relationship Type="http://schemas.openxmlformats.org/officeDocument/2006/relationships/notesMaster" Target="/ppt/notesMasters/notesMaster1.xml" Id="R843f6e2d07c34d7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e00217d75e4a9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412db8d6abe492f" /><Relationship Type="http://schemas.openxmlformats.org/officeDocument/2006/relationships/slideLayout" Target="/ppt/slideLayouts/slideLayout1.xml" Id="R6bc311fd4a5044b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bc311fd4a5044b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f3f36ac9d8478c" /><Relationship Type="http://schemas.openxmlformats.org/officeDocument/2006/relationships/notesSlide" Target="/ppt/notesSlides/notesSlide1.xml" Id="Rb3c899eccca94e6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1f39008603456d" /><Relationship Type="http://schemas.openxmlformats.org/officeDocument/2006/relationships/notesSlide" Target="/ppt/notesSlides/notesSlide2.xml" Id="R735a3d583b4d4a1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65aceb48eb493a" /><Relationship Type="http://schemas.openxmlformats.org/officeDocument/2006/relationships/notesSlide" Target="/ppt/notesSlides/notesSlide3.xml" Id="Rede4354b06064c6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d746a9d4214294" /><Relationship Type="http://schemas.openxmlformats.org/officeDocument/2006/relationships/notesSlide" Target="/ppt/notesSlides/notesSlide4.xml" Id="R913be4990a074c0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8af90ec42e41aa" /><Relationship Type="http://schemas.openxmlformats.org/officeDocument/2006/relationships/notesSlide" Target="/ppt/notesSlides/notesSlide5.xml" Id="Raf211ba98fc14df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35781e9c0a4427" /><Relationship Type="http://schemas.openxmlformats.org/officeDocument/2006/relationships/notesSlide" Target="/ppt/notesSlides/notesSlide6.xml" Id="R757d434ba91e4c7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d1361667fc4ecd" /><Relationship Type="http://schemas.openxmlformats.org/officeDocument/2006/relationships/notesSlide" Target="/ppt/notesSlides/notesSlide7.xml" Id="Rcce8f06e673a452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0700f944d24c82" /><Relationship Type="http://schemas.openxmlformats.org/officeDocument/2006/relationships/notesSlide" Target="/ppt/notesSlides/notesSlide8.xml" Id="Ra082a9627569407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a7d42e1ebc46a4" /><Relationship Type="http://schemas.openxmlformats.org/officeDocument/2006/relationships/notesSlide" Target="/ppt/notesSlides/notesSlide9.xml" Id="R0a0ec40b3e214af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6e6311283a45fd" /><Relationship Type="http://schemas.openxmlformats.org/officeDocument/2006/relationships/notesSlide" Target="/ppt/notesSlides/notesSlide10.xml" Id="Rc3075c82ee6e44d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0ac15f47e5421e" /><Relationship Type="http://schemas.openxmlformats.org/officeDocument/2006/relationships/notesSlide" Target="/ppt/notesSlides/notesSlide11.xml" Id="R99d5b6544e88409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7d5f06b67c4a53" /><Relationship Type="http://schemas.openxmlformats.org/officeDocument/2006/relationships/notesSlide" Target="/ppt/notesSlides/notesSlide12.xml" Id="R0aa3593579e04e0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5e169d682b4d4a" /><Relationship Type="http://schemas.openxmlformats.org/officeDocument/2006/relationships/notesSlide" Target="/ppt/notesSlides/notesSlide13.xml" Id="R7aa35f22c51640e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97c170b5e44a69" /><Relationship Type="http://schemas.openxmlformats.org/officeDocument/2006/relationships/notesSlide" Target="/ppt/notesSlides/notesSlide14.xml" Id="R7944d9b4f162489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3abd7987e4415e" /><Relationship Type="http://schemas.openxmlformats.org/officeDocument/2006/relationships/notesSlide" Target="/ppt/notesSlides/notesSlide15.xml" Id="R667ee5dd6c044cc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CA900C4-AD42-441D-BC1C-CCB3BCDB4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52450"/>
            <a:ext cx="4000500" cy="575310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EFE8DD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ACC180-FBF0-4EE3-98B8-C42026080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A3D"/>
          </a:solidFill>
          <a:ln xmlns:a="http://schemas.openxmlformats.org/drawingml/2006/main" w="0">
            <a:solidFill>
              <a:srgbClr val="C65A3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300945-5BA9-43E3-AFFC-750395B7A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5905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32A3A"/>
                </a:solidFill>
              </a:defRPr>
            </a:pPr>
            <a:r>
              <a:rPr sz="2550" b="1">
                <a:solidFill>
                  <a:srgbClr val="132A3A"/>
                </a:solidFill>
              </a:rPr>
              <a:t>Assistant RAG pour la recommandation d'evenements culturels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D88034-CCCB-4F66-962D-DABFD1BFA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5F6B73"/>
                </a:solidFill>
              </a:defRPr>
            </a:pPr>
            <a:r>
              <a:rPr sz="1500" b="0">
                <a:solidFill>
                  <a:srgbClr val="5F6B73"/>
                </a:solidFill>
              </a:rPr>
              <a:t>POC OpenClassrooms pour Puls-Events</a:t>
            </a:r>
          </a:p>
          <a:p xmlns:a="http://schemas.openxmlformats.org/drawingml/2006/main">
            <a:pPr>
              <a:buNone/>
              <a:defRPr sz="1500" b="0">
                <a:solidFill>
                  <a:srgbClr val="5F6B73"/>
                </a:solidFill>
              </a:defRPr>
            </a:pPr>
            <a:r>
              <a:rPr sz="1500" b="0">
                <a:solidFill>
                  <a:srgbClr val="5F6B73"/>
                </a:solidFill>
              </a:rPr>
              <a:t>Corpus Paris borne + Mistral + FAISS + FastAPI + Docker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A38340-9E74-49C3-8B70-7C03ADA4D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2E6F73"/>
                </a:solidFill>
              </a:defRPr>
            </a:pPr>
            <a:r>
              <a:rPr sz="1200" b="1">
                <a:solidFill>
                  <a:srgbClr val="2E6F73"/>
                </a:solidFill>
              </a:rPr>
              <a:t>Soutenance — juillet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AD294F-21FE-40DE-814B-88C080E5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009650"/>
            <a:ext cx="304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Corpus livre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B8D6A6-BF3E-4E7A-9F25-83C7491A2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657350"/>
            <a:ext cx="304800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132A3A"/>
                </a:solidFill>
              </a:defRPr>
            </a:pPr>
            <a:r>
              <a:rPr sz="1650" b="0">
                <a:solidFill>
                  <a:srgbClr val="132A3A"/>
                </a:solidFill>
              </a:rPr>
              <a:t>Paris uniquement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132A3A"/>
                </a:solidFill>
              </a:defRPr>
            </a:pPr>
            <a:r>
              <a:rPr sz="1650" b="0">
                <a:solidFill>
                  <a:srgbClr val="132A3A"/>
                </a:solidFill>
              </a:rPr>
              <a:t>Fenetre collecte: du 2025-07-10 au 2026-07-10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132A3A"/>
                </a:solidFill>
              </a:defRPr>
            </a:pPr>
            <a:r>
              <a:rPr sz="1650" b="0">
                <a:solidFill>
                  <a:srgbClr val="132A3A"/>
                </a:solidFill>
              </a:rPr>
              <a:t>7 586 evenements normalises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132A3A"/>
                </a:solidFill>
              </a:defRPr>
            </a:pPr>
            <a:r>
              <a:rPr sz="1650" b="0">
                <a:solidFill>
                  <a:srgbClr val="132A3A"/>
                </a:solidFill>
              </a:rPr>
              <a:t>14 903 chunks FAISS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862DC8-0C9E-4740-BBBD-B779A578A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953000"/>
            <a:ext cx="304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F6B73"/>
                </a:solidFill>
              </a:defRPr>
            </a:pPr>
            <a:r>
              <a:rPr sz="1350" b="0">
                <a:solidFill>
                  <a:srgbClr val="5F6B73"/>
                </a:solidFill>
              </a:rPr>
              <a:t>POC operationnel, evalue et conteneurise.</a:t>
            </a:r>
          </a:p>
        </p:txBody>
      </p:sp>
    </p:spTree>
    <p:extLst>
      <p:ext uri="{BB962C8B-B14F-4D97-AF65-F5344CB8AC3E}">
        <p14:creationId xmlns:p14="http://schemas.microsoft.com/office/powerpoint/2010/main" val="169987604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5427E9A-C408-469B-A500-CF881679D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CONTEXTE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4CA8E5-D839-4D58-A036-AA8E0DCED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AB4B7E-BFC8-4305-A584-4D56C5962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76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32A3A"/>
                </a:solidFill>
              </a:defRPr>
            </a:pPr>
            <a:r>
              <a:rPr sz="2100" b="1">
                <a:solidFill>
                  <a:srgbClr val="132A3A"/>
                </a:solidFill>
              </a:rPr>
              <a:t>Le probleme metier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6C9193-C629-4CA3-83E6-5A1E64A5F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F6B73"/>
                </a:solidFill>
              </a:defRPr>
            </a:pPr>
            <a:r>
              <a:rPr sz="1275" b="0">
                <a:solidFill>
                  <a:srgbClr val="5F6B73"/>
                </a:solidFill>
              </a:rPr>
              <a:t>Puls-Events veut tester un chatbot capable de recommander des evenements culturels a partir d'un corpus reel et evolutif.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EBEF6B-1B0D-4632-AC0B-32BB22E25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3238500" cy="342900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EA710F-63E5-4197-BC97-D261407EE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Attente metier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C809EA-4868-451D-94B2-473DD0890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2781300" cy="25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Poser une question naturelle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Obtenir des suggestions utiles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Justifier la reponse par des sources verifiables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Donner une interface testable aux equipes produit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02D925-0BC5-45D2-B4A2-33A7BF367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076450"/>
            <a:ext cx="3238500" cy="342900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3F8F7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BED723-EBD9-4558-BFDC-7A0843C4F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6695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Difficulte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0E56DA-44A9-49EB-B8F9-973430AFE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86050"/>
            <a:ext cx="2781300" cy="25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Donnees evenementielles heterogenes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Descriptions longues et bruites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Besoin de recherche semantique, pas seulement par mots-clés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Necessite de garder les metadonnees date / lieu / URL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671887-EEE7-4A97-8030-8CDA672F7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076450"/>
            <a:ext cx="3886200" cy="34290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7F5FB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62E5A1-6B24-4DE7-A391-D69603932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2669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Reponse proposee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146E2D-7D96-4098-B67F-592D56E8F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86050"/>
            <a:ext cx="3429000" cy="25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Preparation d'un dataset propre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Vectorisation Mistral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Index local FAISS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Generation de reponse via Mistral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Exposition par API FastAPI puis Docker</a:t>
            </a:r>
          </a:p>
        </p:txBody>
      </p:sp>
    </p:spTree>
    <p:extLst>
      <p:ext uri="{BB962C8B-B14F-4D97-AF65-F5344CB8AC3E}">
        <p14:creationId xmlns:p14="http://schemas.microsoft.com/office/powerpoint/2010/main" val="75666380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B7AEF8A-6E27-4DE0-8681-D50D5D0CF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PEDAGOGIE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0EA67C-39F9-42C4-974F-D78284DAB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DB1D8A-D6F2-43F0-B33F-ACC17747F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76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32A3A"/>
                </a:solidFill>
              </a:defRPr>
            </a:pPr>
            <a:r>
              <a:rPr sz="2100" b="1">
                <a:solidFill>
                  <a:srgbClr val="132A3A"/>
                </a:solidFill>
              </a:rPr>
              <a:t>RAG en termes simples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76D11D-8949-4E5C-9C60-A1C877C94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F6B73"/>
                </a:solidFill>
              </a:defRPr>
            </a:pPr>
            <a:r>
              <a:rPr sz="1275" b="0">
                <a:solidFill>
                  <a:srgbClr val="5F6B73"/>
                </a:solidFill>
              </a:rPr>
              <a:t>Le systeme combine recherche documentaire et generation de texte, pour repondre avec contexte.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4F9B7D-1FBC-4FD5-89D9-633E6EB12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3048000" cy="247650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89F420-FA07-4C2B-887F-B5D0AB413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2590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1. Retrieval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BCEAFD-3689-4A9E-A94C-61186B959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00350"/>
            <a:ext cx="25908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La question utilisateur est transformee en vecteur puis comparee a l'index FAISS pour retrouver les evenements les plus proches semantiquement.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7E524E-9CFF-4304-A351-0A76032BC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190750"/>
            <a:ext cx="3048000" cy="247650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3F8F7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DAE871-75B4-4308-BEBF-6A3BD6EE1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381250"/>
            <a:ext cx="2590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2. Augmented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A21354-25A0-4B03-AF00-8D999066C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800350"/>
            <a:ext cx="25908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Les titres, descriptions, dates, lieux et URL des meilleurs evenements sont reformates en contexte de travail pour le LLM.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720DFA-F5DC-4B98-952B-8FB6D3255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190750"/>
            <a:ext cx="3048000" cy="247650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7F5FB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C1187B-8855-480F-9176-CE868C0C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381250"/>
            <a:ext cx="2590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3. Generation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EC097F-153F-4BDE-AD52-EB87BF783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800350"/>
            <a:ext cx="25908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Mistral redige une reponse claire, limitee au contexte fourni, avec retour des sources pour verifier les recommandations.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04E6B7-37EC-4FC4-A421-DC70B12C4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2E6F73"/>
                </a:solidFill>
              </a:defRPr>
            </a:pPr>
            <a:r>
              <a:rPr sz="1500" b="1">
                <a:solidFill>
                  <a:srgbClr val="2E6F73"/>
                </a:solidFill>
              </a:rPr>
              <a:t>Valeur business: une reponse plus pertinente qu'une recherche plein texte brute, et plus fiable qu'un LLM sans contexte.</a:t>
            </a:r>
          </a:p>
        </p:txBody>
      </p:sp>
    </p:spTree>
    <p:extLst>
      <p:ext uri="{BB962C8B-B14F-4D97-AF65-F5344CB8AC3E}">
        <p14:creationId xmlns:p14="http://schemas.microsoft.com/office/powerpoint/2010/main" val="41667574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5599F97-9507-437F-91BB-470AE53ED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DONNEES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76215A-0EDF-485F-9B7A-08D5CEDC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B88FD5-5C21-43DB-8820-ED4151700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76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32A3A"/>
                </a:solidFill>
              </a:defRPr>
            </a:pPr>
            <a:r>
              <a:rPr sz="2100" b="1">
                <a:solidFill>
                  <a:srgbClr val="132A3A"/>
                </a:solidFill>
              </a:rPr>
              <a:t>Jeu de donnees OpenAgenda / Opendatasoft utilise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E826E4-ED2B-46F6-9F5E-6785D1C8D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F6B73"/>
                </a:solidFill>
              </a:defRPr>
            </a:pPr>
            <a:r>
              <a:rPr sz="1275" b="0">
                <a:solidFill>
                  <a:srgbClr val="5F6B73"/>
                </a:solidFill>
              </a:rPr>
              <a:t>Le projet s'appuie sur le dataset public evenements-publics-openagenda et livre un seed Paris borne.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802C70-5168-436D-838B-A57E6D509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342900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3BB19A-2FB2-4A4D-92DA-D73B3AAF1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297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Source retenue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C0734E-3CEB-44A2-934F-BA47934E3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297180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API Opendatasoft v2.1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Dataset: evenements-publics-openagenda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Collecte scriptable via `fetch_events.py`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Export brut JSON + parquet structure + manifeste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63A723-D99E-4B4F-A872-F7881E220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38350"/>
            <a:ext cx="31432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3F8F7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952A90-E66D-42DA-9F84-3E0DE9D69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28850"/>
            <a:ext cx="2686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Filtre de travail actuel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AE153D-6D79-4399-BECE-5D04543A6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647950"/>
            <a:ext cx="26860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Ville: Paris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Fenetre: du 2025-07-10 au 2026-07-10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Agenda source: non restreint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Categories: non restreintes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2A0239-E23D-4AC5-8A6C-05A5AEE02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038350"/>
            <a:ext cx="37147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7F5FB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7EEB2A-D872-4A1A-8A08-E2041A251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228850"/>
            <a:ext cx="3257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Chiffres observes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03B98A-E948-4DC6-8B18-9D6E36F3E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647950"/>
            <a:ext cx="32575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7 586 evenements bruts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7 586 evenements normalises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1 ville dans le seed livre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Manifeste: fetch_manifest.json</a:t>
            </a:r>
          </a:p>
        </p:txBody>
      </p:sp>
    </p:spTree>
    <p:extLst>
      <p:ext uri="{BB962C8B-B14F-4D97-AF65-F5344CB8AC3E}">
        <p14:creationId xmlns:p14="http://schemas.microsoft.com/office/powerpoint/2010/main" val="205182403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8A755B4-20A8-47AA-9A29-2EED01EBF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PIPELINE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D557EC-0B81-45FF-82DC-AFE38FB25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4CA0BF-B043-491D-9FC3-81F40D4A1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76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32A3A"/>
                </a:solidFill>
              </a:defRPr>
            </a:pPr>
            <a:r>
              <a:rPr sz="2100" b="1">
                <a:solidFill>
                  <a:srgbClr val="132A3A"/>
                </a:solidFill>
              </a:rPr>
              <a:t>Pipeline technique de bout en bout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DEC4CE-7C3D-495B-BB44-73852D343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F6B73"/>
                </a:solidFill>
              </a:defRPr>
            </a:pPr>
            <a:r>
              <a:rPr sz="1275" b="0">
                <a:solidFill>
                  <a:srgbClr val="5F6B73"/>
                </a:solidFill>
              </a:rPr>
              <a:t>Le POC est structure en etapes distinctes pour rester reproductible et testable.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A07032-CBF6-40E5-A18B-0526FF197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1562100" cy="20002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B43258-F0FA-4D7B-B9FD-968A178DF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1104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Collecte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636DEB-28A8-43F3-B1E3-A9B60B95D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850"/>
            <a:ext cx="11049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Opendatasoft / OpenAgenda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fetch_events.py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1FA870-063E-4FD7-A2CF-89B043251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16230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C65A3D"/>
                </a:solidFill>
              </a:defRPr>
            </a:pPr>
            <a:r>
              <a:rPr sz="1650" b="1">
                <a:solidFill>
                  <a:srgbClr val="C65A3D"/>
                </a:solidFill>
              </a:rPr>
              <a:t>&gt;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5A3424-2AD9-438A-9B30-09A60DA0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381250"/>
            <a:ext cx="1562100" cy="20002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81376B-70EB-4C33-9D51-CCD9EFB41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571750"/>
            <a:ext cx="1104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Nettoyage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37988A-79CB-4623-8FF7-F0A7D66A9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990850"/>
            <a:ext cx="11049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normalisation schema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text_for_embedding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1CA74E-27AC-45F0-9865-FF495207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16230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C65A3D"/>
                </a:solidFill>
              </a:defRPr>
            </a:pPr>
            <a:r>
              <a:rPr sz="1650" b="1">
                <a:solidFill>
                  <a:srgbClr val="C65A3D"/>
                </a:solidFill>
              </a:rPr>
              <a:t>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860746-92BB-4DDB-94A7-CF64BA5F1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381250"/>
            <a:ext cx="1562100" cy="20002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3B9436-8D10-47E3-A888-DE73F51F6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571750"/>
            <a:ext cx="1104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Indexation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92C46C-9681-465F-BFE6-DD0D96F42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990850"/>
            <a:ext cx="11049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chunks + Mistral embeddings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FAISS local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905D06-F127-4E6A-B931-FAE58F517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16230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C65A3D"/>
                </a:solidFill>
              </a:defRPr>
            </a:pPr>
            <a:r>
              <a:rPr sz="1650" b="1">
                <a:solidFill>
                  <a:srgbClr val="C65A3D"/>
                </a:solidFill>
              </a:rPr>
              <a:t>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73F971-3F43-425A-BB4E-B799A4CCE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381250"/>
            <a:ext cx="1562100" cy="20002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DA8B0A-F681-4B0A-A0A1-1ACE427B7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571750"/>
            <a:ext cx="1104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RAG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779674-096E-4462-B02F-75366A21D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990850"/>
            <a:ext cx="11049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retriever + prompt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Mistral chat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305647-2D2A-4B43-9269-F09C484E6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16230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C65A3D"/>
                </a:solidFill>
              </a:defRPr>
            </a:pPr>
            <a:r>
              <a:rPr sz="1650" b="1">
                <a:solidFill>
                  <a:srgbClr val="C65A3D"/>
                </a:solidFill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3697A3-AFB2-497D-8AE7-A89E4232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81250"/>
            <a:ext cx="1562100" cy="20002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1F2443-CBD1-4EB6-B907-67FBC27CF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571750"/>
            <a:ext cx="1104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API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933D90-0737-444F-A418-B887E9561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990850"/>
            <a:ext cx="11049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FastAPI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/ask /rebuild /health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43F5472-555A-47F2-B9DB-14FBE8EF1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6230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C65A3D"/>
                </a:solidFill>
              </a:defRPr>
            </a:pPr>
            <a:r>
              <a:rPr sz="1650" b="1">
                <a:solidFill>
                  <a:srgbClr val="C65A3D"/>
                </a:solidFill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4DD266-A077-4512-8854-530E58EBA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381250"/>
            <a:ext cx="1562100" cy="20002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C82329-2E7D-47B0-BDF0-2B44A827F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571750"/>
            <a:ext cx="1104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Docker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27CC64-972B-460C-B4EB-1A952FFFC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990850"/>
            <a:ext cx="11049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image seedee + volume runtime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demo locale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F204C27-A95D-4BE0-B73D-0CB7E9C76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F6B73"/>
                </a:solidFill>
              </a:defRPr>
            </a:pPr>
            <a:r>
              <a:rPr sz="1425" b="0">
                <a:solidFill>
                  <a:srgbClr val="5F6B73"/>
                </a:solidFill>
              </a:rPr>
              <a:t>Separation claire des responsabilites: ingestion, indexation, generation et exposition HTTP sont decouplees dans `src/openagenda_rag/`.</a:t>
            </a:r>
          </a:p>
        </p:txBody>
      </p:sp>
    </p:spTree>
    <p:extLst>
      <p:ext uri="{BB962C8B-B14F-4D97-AF65-F5344CB8AC3E}">
        <p14:creationId xmlns:p14="http://schemas.microsoft.com/office/powerpoint/2010/main" val="20212246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A37F2B-8E49-4163-AC13-5D45D2AB8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INDEX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11DAE8-8574-4FFF-843B-0957D8352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D10E79-8E75-46E8-9E10-425C25C33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76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32A3A"/>
                </a:solidFill>
              </a:defRPr>
            </a:pPr>
            <a:r>
              <a:rPr sz="2100" b="1">
                <a:solidFill>
                  <a:srgbClr val="132A3A"/>
                </a:solidFill>
              </a:rPr>
              <a:t>Vectorisation Mistral + base FAISS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F3B513-9DAD-4587-AFE5-E7481CAFD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F6B73"/>
                </a:solidFill>
              </a:defRPr>
            </a:pPr>
            <a:r>
              <a:rPr sz="1275" b="0">
                <a:solidFill>
                  <a:srgbClr val="5F6B73"/>
                </a:solidFill>
              </a:rPr>
              <a:t>Chaque evenement est converti en chunks textes puis indexe avec ses metadonnees dans FAISS.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3FF72F-2FF5-403C-A428-C096AE018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3429000" cy="3048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FC3F3B-1A17-4228-BE36-FCA52BBC9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297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Parametres du build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B915A0-C48F-4F4A-A9E2-DB2E5B66D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297180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Modele d'embedding: mistral-embed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Batch size: 50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Chunk size: 1 000 caracteres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Overlap: 200 caracteres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Script: python scripts/build_index.py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7835A3-F454-464C-A6A4-341C353F6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95500"/>
            <a:ext cx="3333750" cy="3048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3F8F7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E59469-D0FB-4EB1-8546-7EAFD995F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86000"/>
            <a:ext cx="2876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Artefacts produits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1CFB30-18D7-444D-8650-008DEA0AC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705100"/>
            <a:ext cx="28765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data/index/faiss/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index_manifest.json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indexed_documents.parquet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index rechargeable localement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C3A71D-563D-4BE4-97DE-CD35C2B39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095500"/>
            <a:ext cx="3524250" cy="3048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7F5FB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95D68E-FA85-44E3-83E9-713266BD2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86000"/>
            <a:ext cx="3067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Chiffres observes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B2E583-FD9E-456B-A8C4-3BA732A56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05100"/>
            <a:ext cx="30670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7 586 evenements indexes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14 903 documents/chunks FAISS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Index rechargeable localement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Metadonnees: titre, ville, dates, URL</a:t>
            </a:r>
          </a:p>
        </p:txBody>
      </p:sp>
    </p:spTree>
    <p:extLst>
      <p:ext uri="{BB962C8B-B14F-4D97-AF65-F5344CB8AC3E}">
        <p14:creationId xmlns:p14="http://schemas.microsoft.com/office/powerpoint/2010/main" val="165166698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B8C8249-90EB-4866-8DEC-4876E2302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APPLICATION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686CC0-F2C0-47EA-9964-66DABDD62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2AFF95-BF31-43EA-AEC8-B71F5AAD3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76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32A3A"/>
                </a:solidFill>
              </a:defRPr>
            </a:pPr>
            <a:r>
              <a:rPr sz="2100" b="1">
                <a:solidFill>
                  <a:srgbClr val="132A3A"/>
                </a:solidFill>
              </a:rPr>
              <a:t>Chatbot RAG + API FastAPI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D7DCD9-CB86-4AA5-B3C5-A4D3E3D17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F6B73"/>
                </a:solidFill>
              </a:defRPr>
            </a:pPr>
            <a:r>
              <a:rPr sz="1275" b="0">
                <a:solidFill>
                  <a:srgbClr val="5F6B73"/>
                </a:solidFill>
              </a:rPr>
              <a:t>Le service garde retriever et modele en memoire et se reinitialise proprement apres /rebuild.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D42736-FDAC-464F-835E-B1612F69A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3143250" cy="3048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4C0BA7-51A3-47D2-BF79-18BB63E17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2686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Chatbot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AB641E-5DC2-46CC-9431-D0692EC1C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26860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Recherche top-k dans FAISS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Prompt contraint en francais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Generation Mistral `mistral-small-latest`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Reponse + liste de sources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F3C094-7DA2-40A5-8743-9376F8845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095500"/>
            <a:ext cx="3143250" cy="3048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3F8F7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DD5871-EE06-4D86-ADD2-9DE0BFDEE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286000"/>
            <a:ext cx="2686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Endpoints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7AB555-D018-4307-A638-7557081DF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705100"/>
            <a:ext cx="26860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GET /health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POST /ask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POST /rebuild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Swagger automatique sur /docs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CE0D93-B5BA-4B5F-837F-62BBC4D9E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095500"/>
            <a:ext cx="4000500" cy="3048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7F5FB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B39676-BFCD-4080-9244-92F2DE1F1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286000"/>
            <a:ext cx="3543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Validation observee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ED3681-BDB8-474F-A33B-4F7216118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705100"/>
            <a:ext cx="354330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59 tests Python passent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api_test.py valide /health et /ask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évaluation directe et API disponible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réponses sourcées et exploitables</a:t>
            </a:r>
          </a:p>
        </p:txBody>
      </p:sp>
    </p:spTree>
    <p:extLst>
      <p:ext uri="{BB962C8B-B14F-4D97-AF65-F5344CB8AC3E}">
        <p14:creationId xmlns:p14="http://schemas.microsoft.com/office/powerpoint/2010/main" val="63482792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BBC0A84-0E4E-4BD6-BB72-B7235C02C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DEPLOYMENT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7D6C9E-F613-4E37-B870-A2FFFBEA5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85B3CF-2DAD-441C-AB3F-99AA65080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76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32A3A"/>
                </a:solidFill>
              </a:defRPr>
            </a:pPr>
            <a:r>
              <a:rPr sz="2100" b="1">
                <a:solidFill>
                  <a:srgbClr val="132A3A"/>
                </a:solidFill>
              </a:rPr>
              <a:t>Conteneurisation Docker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131E1F-6AC1-4DE6-85EB-024AC3364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F6B73"/>
                </a:solidFill>
              </a:defRPr>
            </a:pPr>
            <a:r>
              <a:rPr sz="1275" b="0">
                <a:solidFill>
                  <a:srgbClr val="5F6B73"/>
                </a:solidFill>
              </a:rPr>
              <a:t>La livraison locale embarque un seed du corpus et de l'index pour une demo plus fiable.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2095C5-5FB3-4DE2-9DFF-2D13E62D2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33337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F2459A-05D7-41E2-B461-E6D889A9C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2876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Image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8AB4AF-9E67-4DD3-B86E-07DC69E5D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28765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base python:3.12-slim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dépendances Python figées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code source + scripts copiés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seed-data versionné et intégré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B1F1E2-81D8-49D6-8C04-D4C528280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95500"/>
            <a:ext cx="33337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3F8F7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B943EA-1F9B-48FC-8237-270FA0EB6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286000"/>
            <a:ext cx="2876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Runtime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0EE947-EA07-4444-B933-91AF71CDC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705100"/>
            <a:ext cx="28765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entrypoint copie le seed vers /app/runtime-data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volume nomme Docker pour persister l'index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chemins runtime injectes via variables d'environnement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CE396A-CB53-4F09-8B85-92183EB89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095500"/>
            <a:ext cx="361950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7F5FB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32A674-AD54-4694-8239-174768E50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286000"/>
            <a:ext cx="3162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Securite et exploitation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2DCCA1-21BC-448C-9D9E-5CCC7D49F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705100"/>
            <a:ext cx="316230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cle Mistral uniquement via .env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/rebuild peut etre protege par X-Admin-Token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demarrage: docker compose up --build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volume runtime pour conserver un rebuild</a:t>
            </a:r>
          </a:p>
        </p:txBody>
      </p:sp>
    </p:spTree>
    <p:extLst>
      <p:ext uri="{BB962C8B-B14F-4D97-AF65-F5344CB8AC3E}">
        <p14:creationId xmlns:p14="http://schemas.microsoft.com/office/powerpoint/2010/main" val="102115992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9FAF232-9D63-41E2-927A-7520EFA1D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4306D4-1395-4376-805F-ABC51B730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3E242B-6466-45C2-8241-547930CA7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76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32A3A"/>
                </a:solidFill>
              </a:defRPr>
            </a:pPr>
            <a:r>
              <a:rPr sz="2100" b="1">
                <a:solidFill>
                  <a:srgbClr val="132A3A"/>
                </a:solidFill>
              </a:rPr>
              <a:t>Démo nominale — Concert Fishers à Paris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CB361E-FB15-4009-A833-4475E30EC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F6B73"/>
                </a:solidFill>
              </a:defRPr>
            </a:pPr>
            <a:r>
              <a:rPr sz="1275" b="0">
                <a:solidFill>
                  <a:srgbClr val="5F6B73"/>
                </a:solidFill>
              </a:rPr>
              <a:t>Une question précise produit une réponse sourcée en quelques secondes.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29A7FC-57DF-49A7-83BD-1938FD557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5143500" cy="34290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EC0BD5-2093-4409-88D5-821E6A489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4686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Question posée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A52124-14E9-4B67-BC6C-21E1E5DBD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4686300" cy="25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Parle-moi de Concert Fishers a Paris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0A5488-A6D8-4F31-95F8-E658BE24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95500"/>
            <a:ext cx="5410200" cy="34290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3F8F7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058558-A52C-402B-9983-D09B8F99F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860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Résultat observé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A383DC-1632-45EB-AD50-4075A5062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05100"/>
            <a:ext cx="4953000" cy="25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date, lieu et URL correctement repris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4 sources retournées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réponse non vide et traçable</a:t>
            </a:r>
          </a:p>
        </p:txBody>
      </p:sp>
    </p:spTree>
    <p:extLst>
      <p:ext uri="{BB962C8B-B14F-4D97-AF65-F5344CB8AC3E}">
        <p14:creationId xmlns:p14="http://schemas.microsoft.com/office/powerpoint/2010/main" val="207661664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98ABCF6-0941-4FAC-9347-844F9A7AD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FA8D62-34F4-432F-A24A-2C17C2988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C04C11-EBC2-412B-8081-24F0ACCDA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76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32A3A"/>
                </a:solidFill>
              </a:defRPr>
            </a:pPr>
            <a:r>
              <a:rPr sz="2100" b="1">
                <a:solidFill>
                  <a:srgbClr val="132A3A"/>
                </a:solidFill>
              </a:rPr>
              <a:t>Démo cas limite — une demande hors périmètre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81D58A-2A36-439B-B2F9-64D38178C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F6B73"/>
                </a:solidFill>
              </a:defRPr>
            </a:pPr>
            <a:r>
              <a:rPr sz="1275" b="0">
                <a:solidFill>
                  <a:srgbClr val="5F6B73"/>
                </a:solidFill>
              </a:rPr>
              <a:t>Le corpus Paris ne doit pas inventer d'exposition photo à Lyon.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96EC27-FFEF-4C6A-BC4F-D0D58CF96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40957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C5D453-C9CD-421D-9B00-FDF120CE7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3638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Question posée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4763F7-64FA-497C-9DBE-179B6E5C0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36385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Quelles expositions photo a Lyon 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BE057B-DDA8-45BA-936D-87352510B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095500"/>
            <a:ext cx="64579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3F8F7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E38F13-76AB-4D3F-B46A-EF1011A1C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286000"/>
            <a:ext cx="600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Résultat observé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F65379-2EE9-4FEA-921D-9D194F2B7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705100"/>
            <a:ext cx="60007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réponse explicite : « Je ne sais pas »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aucun événement lyonnais inventé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démo complète mesurée en 2,406 s</a:t>
            </a:r>
          </a:p>
        </p:txBody>
      </p:sp>
    </p:spTree>
    <p:extLst>
      <p:ext uri="{BB962C8B-B14F-4D97-AF65-F5344CB8AC3E}">
        <p14:creationId xmlns:p14="http://schemas.microsoft.com/office/powerpoint/2010/main" val="88444362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6C1637D-BD7B-4ADE-B37D-424E6EFF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EVALUATION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F319EA-F3E5-420B-ABE9-0EE0AC8FB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00ADE1-E433-4A2C-ACFE-E616B6FF1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76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32A3A"/>
                </a:solidFill>
              </a:defRPr>
            </a:pPr>
            <a:r>
              <a:rPr sz="2100" b="1">
                <a:solidFill>
                  <a:srgbClr val="132A3A"/>
                </a:solidFill>
              </a:rPr>
              <a:t>RAGAS mesure la qualité sur 3 cas annotés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E9254D-4C88-4A75-BBA2-05E6A4CBA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F6B73"/>
                </a:solidFill>
              </a:defRPr>
            </a:pPr>
            <a:r>
              <a:rPr sz="1275" b="0">
                <a:solidFill>
                  <a:srgbClr val="5F6B73"/>
                </a:solidFill>
              </a:rPr>
              <a:t>Question, contextes transmis, réponse Mistral et référence humaine.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1C3D5F-DFD5-4B73-9401-63D44AEAA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40957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607F0A-F577-465C-ABD7-A60AE8215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3638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Jeu évalué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CC3E8E-1BA2-402B-A4F1-FAC61BD5D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36385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3 questions factuelles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Concert Fishers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Salon de la Photo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Sortie en famille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3DA960-95D9-49AD-84EB-082449150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095500"/>
            <a:ext cx="64579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3F8F7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97A68-6655-43AA-95A1-5F351E7F4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286000"/>
            <a:ext cx="600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4 métriques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C74F9C-BEFD-4568-871F-5D711CE18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705100"/>
            <a:ext cx="60007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fidélité au contexte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pertinence de la réponse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précision du contexte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correction vs référence</a:t>
            </a:r>
          </a:p>
        </p:txBody>
      </p:sp>
    </p:spTree>
    <p:extLst>
      <p:ext uri="{BB962C8B-B14F-4D97-AF65-F5344CB8AC3E}">
        <p14:creationId xmlns:p14="http://schemas.microsoft.com/office/powerpoint/2010/main" val="112778831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839E81E-427A-4875-85C1-45107D16A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RAGAS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E05DD5-D65E-4B2C-BDFE-40D2F7DCD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B3C200-861A-4FF5-B6E1-1E02A43F3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76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32A3A"/>
                </a:solidFill>
              </a:defRPr>
            </a:pPr>
            <a:r>
              <a:rPr sz="2100" b="1">
                <a:solidFill>
                  <a:srgbClr val="132A3A"/>
                </a:solidFill>
              </a:rPr>
              <a:t>Deux cas précis dépassent 0,82 au global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0058EB-817A-4A66-87D4-54022B620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F6B73"/>
                </a:solidFill>
              </a:defRPr>
            </a:pPr>
            <a:r>
              <a:rPr sz="1275" b="0">
                <a:solidFill>
                  <a:srgbClr val="5F6B73"/>
                </a:solidFill>
              </a:rPr>
              <a:t>Les contextes principaux sont classés en première position.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1721D1-84FB-4B98-9B36-914094DFF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342900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BC852E-456B-47AD-A157-AB8A00634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297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Concert Fishers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526119-7EB6-4F78-A343-F063BF8A3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297180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global 0,823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fidélité 0,750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pertinence 0,805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contexte 1,000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99D8FE-2634-46FF-80CE-E5D57C56C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95500"/>
            <a:ext cx="33337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3F8F7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258D83-4161-4DF3-A9E5-3AEF39CD2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86000"/>
            <a:ext cx="2876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Salon de la Photo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1CE944-13CC-4FB7-9DAF-AB97BA9D2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705100"/>
            <a:ext cx="28765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global 0,887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fidélité 1,000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pertinence 0,817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contexte 1,000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31983B-151F-4593-829D-A144F09F6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095500"/>
            <a:ext cx="35242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7F5FB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5EDEA9-78CB-4BFB-9327-110E96C9C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86000"/>
            <a:ext cx="3067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Lecture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AABCDC-8E1E-4766-818B-8E6BC36F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05100"/>
            <a:ext cx="30670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informations pratiques reprises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sources vérifiables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correction à affiner face aux références</a:t>
            </a:r>
          </a:p>
        </p:txBody>
      </p:sp>
    </p:spTree>
    <p:extLst>
      <p:ext uri="{BB962C8B-B14F-4D97-AF65-F5344CB8AC3E}">
        <p14:creationId xmlns:p14="http://schemas.microsoft.com/office/powerpoint/2010/main" val="173250153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CDF0AE1-053A-4116-84F6-4CA094D00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RAGAS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9E1DDB-9548-454C-8187-428960BB8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B6A4C9-CE93-4D87-A076-26415FA47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76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32A3A"/>
                </a:solidFill>
              </a:defRPr>
            </a:pPr>
            <a:r>
              <a:rPr sz="2100" b="1">
                <a:solidFill>
                  <a:srgbClr val="132A3A"/>
                </a:solidFill>
              </a:rPr>
              <a:t>Le retrieval est solide, la correction reste prioritaire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0791EA-FF47-4DCB-9A92-8224040EF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F6B73"/>
                </a:solidFill>
              </a:defRPr>
            </a:pPr>
            <a:r>
              <a:rPr sz="1275" b="0">
                <a:solidFill>
                  <a:srgbClr val="5F6B73"/>
                </a:solidFill>
              </a:rPr>
              <a:t>Le cas famille retrouve plusieurs visites et révèle l'écart principal.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B49460-A316-4CA2-9767-C9F7F8835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342900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0BB9F4-2DEB-4BFC-821C-68BC4B6F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297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Sortie en famille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3063B9-3944-4888-BC7A-4EBEBC80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297180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global 0,862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fidélité 0,950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pertinence 0,916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contexte 1,000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F277DC-1590-43C7-ADCC-A296B2493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95500"/>
            <a:ext cx="33337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3F8F7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BB712E-2A81-4C64-8B71-4C1FD7F32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86000"/>
            <a:ext cx="2876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Moyennes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0911B0-01B1-439C-9B2E-1159F4772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705100"/>
            <a:ext cx="28765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fidélité 0,900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pertinence 0,846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précision 1,000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correction 0,683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BB0A53-FB12-4137-AAB6-1924F27A2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095500"/>
            <a:ext cx="35242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7F5FB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7B21BB-47C7-4F02-8CA2-36C7CD0A9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86000"/>
            <a:ext cx="3067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Priorité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8CE779-4690-49B4-B065-40CCAA55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05100"/>
            <a:ext cx="30670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Mieux cadrer les détails attendus par la référence, sans dégrader la recherche.</a:t>
            </a:r>
          </a:p>
        </p:txBody>
      </p:sp>
    </p:spTree>
    <p:extLst>
      <p:ext uri="{BB962C8B-B14F-4D97-AF65-F5344CB8AC3E}">
        <p14:creationId xmlns:p14="http://schemas.microsoft.com/office/powerpoint/2010/main" val="116110893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03452DD-D5D0-467E-BC3B-9EBC224D1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LIMITES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193F0F-8078-4AEB-BD8D-B36E46226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7AF4D7-66D0-43EF-B35A-093CDC9FC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76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32A3A"/>
                </a:solidFill>
              </a:defRPr>
            </a:pPr>
            <a:r>
              <a:rPr sz="2100" b="1">
                <a:solidFill>
                  <a:srgbClr val="132A3A"/>
                </a:solidFill>
              </a:rPr>
              <a:t>Le POC valide la faisabilité, pas la production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F540C0-61C7-4B9C-8992-521C9C0C7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F6B73"/>
                </a:solidFill>
              </a:defRPr>
            </a:pPr>
            <a:r>
              <a:rPr sz="1275" b="0">
                <a:solidFill>
                  <a:srgbClr val="5F6B73"/>
                </a:solidFill>
              </a:rPr>
              <a:t>Les limites sont explicites et orientent la prochaine itération.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34E5AE-E389-44DE-908E-52911A121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342900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0CBCAA-BA6A-4A80-9DB3-04976DDAF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297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Données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DCD871-0563-4DA8-BE8D-3A9EE7004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297180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Paris uniquement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fenêtre figée d'un an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descriptions source variables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EC818C-424F-4C06-A7DF-85E04754C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95500"/>
            <a:ext cx="33337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3F8F7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0E2F6C-8C2C-4B63-B535-CD19E0B37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86000"/>
            <a:ext cx="2876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Technique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4CAC00-8C55-4626-9D3F-9A7D69EE1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705100"/>
            <a:ext cx="28765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dépendance Mistral en ligne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rebuild complet coûteux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seuil de rejet à renforcer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7BCEF5-328B-4864-B519-C647617D7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095500"/>
            <a:ext cx="35242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7F5FB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33714F-59C2-499F-A6A5-BD075ED43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86000"/>
            <a:ext cx="3067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Évaluation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110F61-A49B-4BCE-8C50-2C5E6E583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05100"/>
            <a:ext cx="30670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3 cas RAGAS seulement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scores non déterministes au mot près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tests de charge absents</a:t>
            </a:r>
          </a:p>
        </p:txBody>
      </p:sp>
    </p:spTree>
    <p:extLst>
      <p:ext uri="{BB962C8B-B14F-4D97-AF65-F5344CB8AC3E}">
        <p14:creationId xmlns:p14="http://schemas.microsoft.com/office/powerpoint/2010/main" val="145060682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8DD4E7-C545-4192-9167-E052A8246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PERSPECTIVES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5941D3-B002-4C5A-8B6D-0F752EE35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725A51-A566-43A7-9E9D-8584FA62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76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32A3A"/>
                </a:solidFill>
              </a:defRPr>
            </a:pPr>
            <a:r>
              <a:rPr sz="2100" b="1">
                <a:solidFill>
                  <a:srgbClr val="132A3A"/>
                </a:solidFill>
              </a:rPr>
              <a:t>La prochaine étape est un pilote multi-villes mesuré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5E4CA4-48D7-4FBA-A7C8-62D7B2A7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F6B73"/>
                </a:solidFill>
              </a:defRPr>
            </a:pPr>
            <a:r>
              <a:rPr sz="1275" b="0">
                <a:solidFill>
                  <a:srgbClr val="5F6B73"/>
                </a:solidFill>
              </a:rPr>
              <a:t>L'architecture peut évoluer sans réécriture majeure.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F4AD74-9B2B-4E73-B05A-95011294D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342900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2480D8-5FDE-4C76-A59E-88130175A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297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Améliorations prioritaires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C4AC81-2F12-4573-B92A-0A185C19B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297180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élargir le jeu annoté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ajouter un seuil de similarité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automatiser collecte et CI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superviser coût et latence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6CA29F-751D-46C9-82B3-42DDDC989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95500"/>
            <a:ext cx="33337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3F8F7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30167A-976F-468B-9F73-5414653AB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86000"/>
            <a:ext cx="2876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Message clé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A1F1B2-751E-4473-A71F-1B4413CC2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705100"/>
            <a:ext cx="28765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7 586 événements, 14 903 chunks, API Docker et RAGAS réel : la faisabilité est démontrée.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37D4B8-3662-4C99-AF1D-23A253150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095500"/>
            <a:ext cx="35242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7F5FB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BD7A61-BCA3-4780-A3F8-2967C750A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86000"/>
            <a:ext cx="3067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Q&amp;A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80B4B3-A155-48BF-BD7E-7C89E0874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05100"/>
            <a:ext cx="30670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Décision proposée : tester le POC avec les équipes produit sur un corpus multi-villes.</a:t>
            </a:r>
          </a:p>
        </p:txBody>
      </p:sp>
    </p:spTree>
    <p:extLst>
      <p:ext uri="{BB962C8B-B14F-4D97-AF65-F5344CB8AC3E}">
        <p14:creationId xmlns:p14="http://schemas.microsoft.com/office/powerpoint/2010/main" val="195847367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2026-07-23T15:10:10.8870000Z</dcterms:created>
  <dcterms:modified xsi:type="dcterms:W3CDTF">2026-07-23T15:10:10.8870000Z</dcterms:modified>
</coreProperties>
</file>